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e05948ed-eef7-e9fa-4ac3-4a22d781231b}">
          <p14:sldIdLst>
            <p14:sldId id="256"/>
            <p14:sldId id="257"/>
            <p14:sldId id="258"/>
            <p14:sldId id="259"/>
            <p14:sldId id="260"/>
          </p14:sldIdLst>
        </p14:section>
        <p14:section name="Khám phá &amp; Làm sạch" id="{36e1798e-11cd-5904-57a3-13d53e5b4cd7}">
          <p14:sldIdLst>
            <p14:sldId id="261"/>
            <p14:sldId id="262"/>
            <p14:sldId id="263"/>
            <p14:sldId id="264"/>
            <p14:sldId id="265"/>
          </p14:sldIdLst>
        </p14:section>
        <p14:section name="Biểu đồ &amp; Tri thức" id="{04b8d816-68d9-fb50-a3d8-844090056b16}">
          <p14:sldIdLst>
            <p14:sldId id="266"/>
            <p14:sldId id="267"/>
            <p14:sldId id="268"/>
            <p14:sldId id="269"/>
          </p14:sldIdLst>
        </p14:section>
        <p14:section name="Khi AI sai" id="{15785c87-471e-9f4d-9bce-5e2cd137cb3e}">
          <p14:sldIdLst>
            <p14:sldId id="270"/>
            <p14:sldId id="271"/>
            <p14:sldId id="272"/>
            <p14:sldId id="273"/>
            <p14:sldId id="274"/>
          </p14:sldIdLst>
        </p14:section>
        <p14:section name="Trình bày &amp; Đạo đức" id="{b7a50a00-25a0-555a-e652-427d26dc33c0}">
          <p14:sldIdLst>
            <p14:sldId id="275"/>
            <p14:sldId id="276"/>
            <p14:sldId id="277"/>
          </p14:sldIdLst>
        </p14:section>
        <p14:section name="Kết thúc" id="{6dfe781c-bb9e-6998-3646-e4c0067c8d35}">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cả lớp. Khóa học này dạy cách dùng trợ lý AI để làm một bài phân tích dữ liệu hoàn chỉnh. Điểm đặc biệt: mọi ví dụ đều lấy từ hai ca có thật, kể cả những lỗi mà AI đã mắc. Vì các em cần biết AI sai ở đâu, chứ không chỉ biết AI làm được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sáu năng lực cả lớp sẽ có sau khóa học. Thầy nhấn mạnh năng lực thứ năm — phát hiện khi AI sai. Đây là phần nhiều khóa học bỏ qua, nhưng lại là phần quyết định bài của các em có đáng tin hay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Hãy hình dung AI như một người cộng sự đọc rất nhiều, nhớ rất nhiều mẫu, luôn trả lời trôi chảy và tự tin — nhưng không có cách nào tự kiểm tra xem mình nói có đúng không. Rất hữu ích nếu biết dùng, rất nguy hiểm nếu tin tuyệt đối. Cột bên phải là phần các em phải tự làm.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quan trọng nhất của buổi đầu. Thầy chia công việc thành hai vai rất rõ. Quy tắc thực hành ở dưới cùng: nếu một con số trong bài của em chỉ có nguồn gốc là AI nói thế, thì con số đó chưa đủ tin cậy để nộp.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bước này là xương sống của khóa học, mỗi bước ứng với một chương trong giáo trình. Lưu ý bước 4 — rút tri thức — là bước các em hay làm hời hợt nhất, chỉ đọc lại số liệu thay vì rút ra điều gì đó dùng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bước đầu gộp vào một phần vì chúng gắn chặt với nhau. Trong thực tế đây là phần chiếm nhiều thời gian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kiến thức nền quan trọng nhất của buổi hai. Loại biến quyết định cả biểu đồ lẫn phép kiểm định. Thầy lưu ý cái bẫy ở dưới: nhiều em thấy cột toàn chữ số là lấy trung bình ngay, trong khi đó là mã định danh.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mẫu câu lệnh các em chép về dùng ngay. Thầy nhấn mạnh câu cuối cùng — yêu cầu AI viết kèm mã Python. Đó là điểm khác biệt giữa một người dùng AI nghiêm túc và một người chỉ hỏi cho có.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Bảy nhóm lỗi này bao phủ gần như toàn bộ vấn đề các em sẽ gặp. Thầy khuyên in bảng này ra, mỗi lần nhận bộ dữ liệu mới thì rà lần lượt từ 1 đến 7. Lỗi số 7 là lỗi khó phát hiện nhất, slide sau có ca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ca thật. Bộ dữ liệu nhìn rất sạch nên rất dễ bỏ qua. Nhưng chỉ cần một câu hỏi — liệt kê giá trị hiếm của cột City — là lộ ra ba loại rác. Chuỗi Less Delhi và Less than 5 Kalyan là dấu hiệu điển hình của lỗi lệch cột khi nhập liệu. Bài học: một bộ dữ liệu không khuyết không trùng chưa chắc là sạch.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bước tiếp theo: vẽ biểu đồ và rút tri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tra này giải quyết câu hỏi các em hay vướng nhất: nên vẽ biểu đồ gì. Nguyên tắc là đi từ câu hỏi, không đi từ sở thích. Dòng cuối cùng rất hay bị quên: đôi khi câu trả lời tốt nhất không phải biểu đồ mà là in con số thật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nguyên tắc này đủ để biểu đồ của các em trông chuyên nghiệp. Nguyên tắc 2 là nguyên tắc hay bị vi phạm nhất, kể cả trên báo chí. Nguyên tắc 5 thì rất tinh tế — thầy gặp đúng tình huống này khi vẽ biểu đồ giấc ngủ, phải đổi cách tô màu.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thang ba mức. Rất nhiều bài chỉ dừng ở mức 1, đọc lại con số trong bảng. Mức 3 mới là thứ giảng viên muốn thấy. Ví dụ ở mức 3 là một phát hiện thật: điểm học tập gần như không liên quan đến trầm cảm, hệ số chỉ 0,022 — đi ngược hẳn trực giác học giỏi thì ổn.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này là lý do khóa học tồn tại. Ba lỗi sau đây thầy đã mắc thật trong quá trình chuẩn bị các ca phân tích.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lỗi thật. AI báo 58,6%, con số đó lan ra năm chỗ trong bài. Khi chạy lại bằng Python thì giá trị đúng là 58,5%. Nguyên nhân: AI làm tròn hai lần. Sai số chỉ 0,1 điểm, nhưng nếu giảng viên tự bấm máy kiểm tra thì toàn bộ bài mất uy tín. Cách phòng ở dưới cùng — các em nhớ viết đoạn mã kiểm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Bẫy thứ hai tinh vi hơn. Mô hình đạt độ chính xác gần tuyệt đối — nghe thì mừng, nhưng trong bài toán dự báo tự kỷ thì đó là điều bất thường. Lập bảng chéo ra mới thấy nhãn chính là đầu ra của công thức chấm điểm. Đây gọi là rò rỉ nhãn, tiếng Anh là label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Bẫy thứ ba. Bảy cột bệnh đi kèm nhìn như mỏ vàng — có thể viết cả một chương về bệnh đi kèm ở trẻ tự kỷ. Nhưng tương quan giữa chúng lên tới 0,998, trùng khớp 99,9%. Về lâm sàng là bất khả thi. Đây là một biến được sao chép bảy lần.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Bảy câu hỏi này là công cụ hằng ngày. Thầy khuyên in ra dán cạnh máy tính. Trước khi đưa bất cứ kết quả nào của AI vào báo cáo, chạy qua bảy câu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cuối: trình bày, và phần trách nhiệm khi làm việc với dữ liệu con người.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Nhiều em bỏ qua phần hạn chế vì sợ làm bài yếu đi. Thực tế ngược lại. Nêu đúng hạn chế cho thấy em hiểu dữ liệu sâu hơn người chỉ đưa kết luận. Và nó chặn trước câu hỏi khó của giảng viên.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cột: trái là đạo đức với dữ liệu tâm lý, phải là liêm chính khi dùng AI. Dùng AI trong môn này được khuyến khích, nhưng phải trung thực về cách dùng. Phép thử ở dưới cùng rất đơn giản mà hiệu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Nếu cả lớp chỉ nhớ ba điều từ khóa học này thì hãy nhớ ba điều trên slide. Giáo trình đi kèm có 30 bài tập, các em làm dần theo từng chương. Cảm ơn cả lớp.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6213A"/>
        </a:solidFill>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841248" y="1737360"/>
            <a:ext cx="10424160" cy="384048"/>
          </a:xfrm>
          <a:prstGeom prst="rect">
            <a:avLst/>
          </a:prstGeom>
          <a:noFill/>
          <a:ln/>
        </p:spPr>
        <p:txBody>
          <a:bodyPr wrap="square" rtlCol="0"/>
          <a:lstStyle>
            <a:lvl1pPr algn="l" indent="0" marL="0">
              <a:buNone/>
              <a:defRPr lang="en-US" sz="1500" b="1" spc="300" kern="0" dirty="0">
                <a:solidFill>
                  <a:srgbClr val="8FB8D4"/>
                </a:solidFill>
              </a:defRPr>
            </a:lvl1pPr>
          </a:lstStyle>
          <a:p>
            <a:pPr algn="l" indent="0" marL="0">
              <a:buNone/>
            </a:pPr>
            <a:r>
              <a:rPr lang="en-US" sz="1500" b="1" spc="300" kern="0" dirty="0">
                <a:solidFill>
                  <a:srgbClr val="8FB8D4"/>
                </a:solidFill>
              </a:rPr>
              <a:t> </a:t>
            </a:r>
            <a:endParaRPr lang="en-US" sz="1500" dirty="0"/>
          </a:p>
        </p:txBody>
      </p:sp>
      <p:sp>
        <p:nvSpPr>
          <p:cNvPr id="3" name="Text 0"/>
          <p:cNvSpPr txBox="1"/>
          <p:nvPr>
            <p:ph idx="101" type="title" hasCustomPrompt="1"/>
          </p:nvPr>
        </p:nvSpPr>
        <p:spPr>
          <a:xfrm>
            <a:off x="841248" y="2194560"/>
            <a:ext cx="10424160" cy="173736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r>
              <a:rPr lang="en-US" sz="4000" b="1" dirty="0">
                <a:solidFill>
                  <a:srgbClr val="FFFFFF"/>
                </a:solidFill>
              </a:rPr>
              <a:t> </a:t>
            </a:r>
            <a:endParaRPr lang="en-US" sz="4000" dirty="0"/>
          </a:p>
        </p:txBody>
      </p:sp>
      <p:sp>
        <p:nvSpPr>
          <p:cNvPr id="4" name="Text 0"/>
          <p:cNvSpPr txBox="1"/>
          <p:nvPr>
            <p:ph idx="102" type="body" hasCustomPrompt="1"/>
          </p:nvPr>
        </p:nvSpPr>
        <p:spPr>
          <a:xfrm>
            <a:off x="841248" y="4069080"/>
            <a:ext cx="10424160" cy="2011680"/>
          </a:xfrm>
          <a:prstGeom prst="rect">
            <a:avLst/>
          </a:prstGeom>
          <a:noFill/>
          <a:ln/>
        </p:spPr>
        <p:txBody>
          <a:bodyPr wrap="square" rtlCol="0"/>
          <a:lstStyle>
            <a:lvl1pPr algn="l" indent="0" marL="0">
              <a:buNone/>
              <a:defRPr lang="en-US" sz="1500" dirty="0">
                <a:solidFill>
                  <a:srgbClr val="C9DAE8"/>
                </a:solidFill>
              </a:defRPr>
            </a:lvl1pPr>
          </a:lstStyle>
          <a:p>
            <a:pPr algn="l" indent="0" marL="0">
              <a:buNone/>
            </a:pPr>
            <a:r>
              <a:rPr lang="en-US" sz="1500" dirty="0">
                <a:solidFill>
                  <a:srgbClr val="C9DAE8"/>
                </a:solidFill>
              </a:rPr>
              <a:t> </a:t>
            </a: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065A82"/>
        </a:solidFill>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841248" y="2560320"/>
            <a:ext cx="10424160" cy="411480"/>
          </a:xfrm>
          <a:prstGeom prst="rect">
            <a:avLst/>
          </a:prstGeom>
          <a:noFill/>
          <a:ln/>
        </p:spPr>
        <p:txBody>
          <a:bodyPr wrap="square" rtlCol="0"/>
          <a:lstStyle>
            <a:lvl1pPr algn="l" indent="0" marL="0">
              <a:buNone/>
              <a:defRPr lang="en-US" sz="1600" b="1" spc="300" kern="0" dirty="0">
                <a:solidFill>
                  <a:srgbClr val="9FD2E8"/>
                </a:solidFill>
              </a:defRPr>
            </a:lvl1pPr>
          </a:lstStyle>
          <a:p>
            <a:pPr algn="l" indent="0" marL="0">
              <a:buNone/>
            </a:pPr>
            <a:r>
              <a:rPr lang="en-US" sz="1600" b="1" spc="300" kern="0" dirty="0">
                <a:solidFill>
                  <a:srgbClr val="9FD2E8"/>
                </a:solidFill>
              </a:rPr>
              <a:t> </a:t>
            </a:r>
            <a:endParaRPr lang="en-US" sz="1600" dirty="0"/>
          </a:p>
        </p:txBody>
      </p:sp>
      <p:sp>
        <p:nvSpPr>
          <p:cNvPr id="3" name="Text 0"/>
          <p:cNvSpPr txBox="1"/>
          <p:nvPr>
            <p:ph idx="101" type="title" hasCustomPrompt="1"/>
          </p:nvPr>
        </p:nvSpPr>
        <p:spPr>
          <a:xfrm>
            <a:off x="841248" y="3017520"/>
            <a:ext cx="10424160" cy="100584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r>
              <a:rPr lang="en-US" sz="3600" b="1" dirty="0">
                <a:solidFill>
                  <a:srgbClr val="FFFFFF"/>
                </a:solidFill>
              </a:rPr>
              <a:t> </a:t>
            </a:r>
            <a:endParaRPr lang="en-US" sz="3600" dirty="0"/>
          </a:p>
        </p:txBody>
      </p:sp>
      <p:sp>
        <p:nvSpPr>
          <p:cNvPr id="4" name="Text 0"/>
          <p:cNvSpPr txBox="1"/>
          <p:nvPr>
            <p:ph idx="102" type="body" hasCustomPrompt="1"/>
          </p:nvPr>
        </p:nvSpPr>
        <p:spPr>
          <a:xfrm>
            <a:off x="841248" y="4069080"/>
            <a:ext cx="10424160" cy="822960"/>
          </a:xfrm>
          <a:prstGeom prst="rect">
            <a:avLst/>
          </a:prstGeom>
          <a:noFill/>
          <a:ln/>
        </p:spPr>
        <p:txBody>
          <a:bodyPr wrap="square" rtlCol="0"/>
          <a:lstStyle>
            <a:lvl1pPr algn="l" indent="0" marL="0">
              <a:buNone/>
              <a:defRPr lang="en-US" sz="1500" dirty="0">
                <a:solidFill>
                  <a:srgbClr val="C9E4F2"/>
                </a:solidFill>
              </a:defRPr>
            </a:lvl1pPr>
          </a:lstStyle>
          <a:p>
            <a:pPr algn="l" indent="0" marL="0">
              <a:buNone/>
            </a:pPr>
            <a:r>
              <a:rPr lang="en-US" sz="1500" dirty="0">
                <a:solidFill>
                  <a:srgbClr val="C9E4F2"/>
                </a:solidFill>
              </a:rPr>
              <a:t> </a:t>
            </a:r>
            <a:endParaRPr lang="en-US" sz="15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lstStyle>
            <a:lvl1pPr algn="l" indent="0" marL="0">
              <a:buNone/>
              <a:defRPr lang="en-US" sz="2800" b="1" dirty="0">
                <a:solidFill>
                  <a:srgbClr val="16213A"/>
                </a:solidFill>
              </a:defRPr>
            </a:lvl1pPr>
          </a:lstStyle>
          <a:p>
            <a:pPr algn="l" indent="0" marL="0">
              <a:buNone/>
            </a:pPr>
            <a:r>
              <a:rPr lang="en-US" sz="2800" b="1" dirty="0">
                <a:solidFill>
                  <a:srgbClr val="16213A"/>
                </a:solidFill>
              </a:rPr>
              <a:t> </a:t>
            </a:r>
            <a:endParaRPr lang="en-US" sz="28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lstStyle>
            <a:lvl1pPr algn="l" indent="0" marL="0">
              <a:buNone/>
              <a:defRPr lang="en-US" sz="1400" b="1" dirty="0">
                <a:solidFill>
                  <a:srgbClr val="1C7293"/>
                </a:solidFill>
              </a:defRPr>
            </a:lvl1pPr>
          </a:lstStyle>
          <a:p>
            <a:pPr algn="l" indent="0" marL="0">
              <a:buNone/>
            </a:pPr>
            <a:r>
              <a:rPr lang="en-US" sz="1400" b="1" dirty="0">
                <a:solidFill>
                  <a:srgbClr val="1C7293"/>
                </a:solidFill>
              </a:rPr>
              <a:t> </a:t>
            </a:r>
            <a:endParaRPr lang="en-US" sz="1400" dirty="0"/>
          </a:p>
        </p:txBody>
      </p:sp>
      <p:sp>
        <p:nvSpPr>
          <p:cNvPr id="4" name="Text 0"/>
          <p:cNvSpPr txBox="1"/>
          <p:nvPr/>
        </p:nvSpPr>
        <p:spPr>
          <a:xfrm>
            <a:off x="566928" y="6327648"/>
            <a:ext cx="8595360" cy="292608"/>
          </a:xfrm>
          <a:prstGeom prst="rect">
            <a:avLst/>
          </a:prstGeom>
          <a:noFill/>
          <a:ln/>
        </p:spPr>
        <p:txBody>
          <a:bodyPr wrap="square" rtlCol="0" anchor="ctr"/>
          <a:lstStyle/>
          <a:p>
            <a:pPr indent="0" marL="0">
              <a:buNone/>
            </a:pPr>
            <a:r>
              <a:rPr lang="en-US" sz="1000" dirty="0">
                <a:solidFill>
                  <a:srgbClr val="6D7A8C"/>
                </a:solidFill>
              </a:rPr>
              <a:t>Ứng dụng AI trong phân tích dữ liệu · Tài liệu giảng dạy</a:t>
            </a:r>
            <a:endParaRPr lang="en-US" sz="100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ph idx="100" type="body" hasCustomPrompt="1"/>
          </p:nvPr>
        </p:nvSpPr>
        <p:spPr>
          <a:xfrm>
            <a:off x="841248" y="1737360"/>
            <a:ext cx="10424160" cy="384048"/>
          </a:xfrm>
          <a:prstGeom prst="rect">
            <a:avLst/>
          </a:prstGeom>
          <a:noFill/>
          <a:ln/>
        </p:spPr>
        <p:txBody>
          <a:bodyPr wrap="square" rtlCol="0"/>
          <a:lstStyle/>
          <a:p>
            <a:pPr algn="l" indent="0" marL="0">
              <a:buNone/>
            </a:pPr>
            <a:r>
              <a:rPr lang="en-US" sz="1500" b="1" spc="300" kern="0" dirty="0">
                <a:solidFill>
                  <a:srgbClr val="8FB8D4"/>
                </a:solidFill>
              </a:rPr>
              <a:t>MÔN TRÍ TUỆ NHÂN TẠO ỨNG DỤNG</a:t>
            </a:r>
            <a:endParaRPr lang="en-US" sz="1500" dirty="0"/>
          </a:p>
        </p:txBody>
      </p:sp>
      <p:sp>
        <p:nvSpPr>
          <p:cNvPr id="3" name="Text 0"/>
          <p:cNvSpPr txBox="1"/>
          <p:nvPr>
            <p:ph idx="101" type="title" hasCustomPrompt="1"/>
          </p:nvPr>
        </p:nvSpPr>
        <p:spPr>
          <a:xfrm>
            <a:off x="841248" y="2194560"/>
            <a:ext cx="10424160" cy="1737360"/>
          </a:xfrm>
          <a:prstGeom prst="rect">
            <a:avLst/>
          </a:prstGeom>
          <a:noFill/>
          <a:ln/>
        </p:spPr>
        <p:txBody>
          <a:bodyPr wrap="square" rtlCol="0" anchor="t"/>
          <a:lstStyle/>
          <a:p>
            <a:pPr algn="l" indent="0" marL="0">
              <a:buNone/>
            </a:pPr>
            <a:r>
              <a:rPr lang="en-US" sz="4000" b="1" dirty="0">
                <a:solidFill>
                  <a:srgbClr val="FFFFFF"/>
                </a:solidFill>
              </a:rPr>
              <a:t>Ứng dụng AI trong phân tích dữ liệu</a:t>
            </a:r>
            <a:endParaRPr lang="en-US" sz="4000" dirty="0"/>
          </a:p>
        </p:txBody>
      </p:sp>
      <p:sp>
        <p:nvSpPr>
          <p:cNvPr id="4" name="Text 0"/>
          <p:cNvSpPr txBox="1"/>
          <p:nvPr>
            <p:ph idx="102" type="body" hasCustomPrompt="1"/>
          </p:nvPr>
        </p:nvSpPr>
        <p:spPr>
          <a:xfrm>
            <a:off x="841248" y="4069080"/>
            <a:ext cx="10424160" cy="2011680"/>
          </a:xfrm>
          <a:prstGeom prst="rect">
            <a:avLst/>
          </a:prstGeom>
          <a:noFill/>
          <a:ln/>
        </p:spPr>
        <p:txBody>
          <a:bodyPr wrap="square" rtlCol="0" anchor="t"/>
          <a:lstStyle/>
          <a:p>
            <a:pPr algn="l" indent="0" marL="0">
              <a:buNone/>
            </a:pPr>
            <a:r>
              <a:rPr lang="en-US" sz="1600" b="1" dirty="0">
                <a:solidFill>
                  <a:srgbClr val="FFFFFF"/>
                </a:solidFill>
              </a:rPr>
              <a:t>Bài giảng dành cho người mới bắt đầu — không yêu cầu kiến thức nền</a:t>
            </a:r>
            <a:endParaRPr lang="en-US" sz="1500" dirty="0"/>
          </a:p>
          <a:p>
            <a:pPr algn="l" indent="0" marL="0">
              <a:buNone/>
            </a:pPr>
            <a:r>
              <a:rPr lang="en-US" sz="1400" dirty="0">
                <a:solidFill>
                  <a:srgbClr val="C9DAE8"/>
                </a:solidFill>
              </a:rPr>
              <a:t>6 buổi × 90 phút  ·  Mọi ví dụ lấy từ hai ca phân tích có thật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800" b="1" dirty="0">
                <a:solidFill>
                  <a:srgbClr val="16213A"/>
                </a:solidFill>
              </a:rPr>
              <a:t>Sau khóa học, bạn sẽ làm được gì</a:t>
            </a:r>
            <a:endParaRPr lang="en-US" sz="28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algn="l" indent="0" marL="0">
              <a:buNone/>
            </a:pPr>
            <a:r>
              <a:rPr lang="en-US" sz="1400" b="1" dirty="0">
                <a:solidFill>
                  <a:srgbClr val="1C7293"/>
                </a:solidFill>
              </a:rPr>
              <a:t>Năm năng lực tương ứng năm bước của quy trình</a:t>
            </a:r>
            <a:endParaRPr lang="en-US" sz="1400" dirty="0"/>
          </a:p>
        </p:txBody>
      </p:sp>
      <p:sp>
        <p:nvSpPr>
          <p:cNvPr id="4" name="c1"/>
          <p:cNvSpPr/>
          <p:nvPr/>
        </p:nvSpPr>
        <p:spPr>
          <a:xfrm>
            <a:off x="566928" y="1627632"/>
            <a:ext cx="3505200" cy="2103120"/>
          </a:xfrm>
          <a:prstGeom prst="roundRect">
            <a:avLst>
              <a:gd name="adj" fmla="val 4348"/>
            </a:avLst>
          </a:prstGeom>
          <a:solidFill>
            <a:srgbClr val="EEF3F7"/>
          </a:solidFill>
          <a:ln/>
        </p:spPr>
      </p:sp>
      <p:sp>
        <p:nvSpPr>
          <p:cNvPr id="5" name="d1"/>
          <p:cNvSpPr/>
          <p:nvPr/>
        </p:nvSpPr>
        <p:spPr>
          <a:xfrm>
            <a:off x="786384" y="1828800"/>
            <a:ext cx="420624" cy="420624"/>
          </a:xfrm>
          <a:prstGeom prst="ellipse">
            <a:avLst/>
          </a:prstGeom>
          <a:solidFill>
            <a:srgbClr val="065A82"/>
          </a:solidFill>
          <a:ln/>
        </p:spPr>
      </p:sp>
      <p:sp>
        <p:nvSpPr>
          <p:cNvPr id="6" name="Text 4"/>
          <p:cNvSpPr txBox="1"/>
          <p:nvPr/>
        </p:nvSpPr>
        <p:spPr>
          <a:xfrm>
            <a:off x="786384" y="18288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5"/>
          <p:cNvSpPr txBox="1"/>
          <p:nvPr/>
        </p:nvSpPr>
        <p:spPr>
          <a:xfrm>
            <a:off x="1316736" y="1810512"/>
            <a:ext cx="2535936" cy="457200"/>
          </a:xfrm>
          <a:prstGeom prst="rect">
            <a:avLst/>
          </a:prstGeom>
          <a:noFill/>
          <a:ln/>
        </p:spPr>
        <p:txBody>
          <a:bodyPr wrap="square" lIns="0" tIns="0" rIns="0" bIns="0" rtlCol="0" anchor="ctr"/>
          <a:lstStyle/>
          <a:p>
            <a:pPr indent="0" marL="0">
              <a:lnSpc>
                <a:spcPts val="1500"/>
              </a:lnSpc>
              <a:buNone/>
            </a:pPr>
            <a:r>
              <a:rPr lang="en-US" sz="1350" b="1" dirty="0">
                <a:solidFill>
                  <a:srgbClr val="16213A"/>
                </a:solidFill>
              </a:rPr>
              <a:t>Khám phá một bộ dữ liệu lạ</a:t>
            </a:r>
            <a:endParaRPr lang="en-US" sz="1350" dirty="0"/>
          </a:p>
        </p:txBody>
      </p:sp>
      <p:sp>
        <p:nvSpPr>
          <p:cNvPr id="8" name="Text 6"/>
          <p:cNvSpPr txBox="1"/>
          <p:nvPr/>
        </p:nvSpPr>
        <p:spPr>
          <a:xfrm>
            <a:off x="786384" y="2359152"/>
            <a:ext cx="3066288" cy="120700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Biết hỏi AI đúng câu để hiểu dữ liệu có gì, biến nào quan trọng.</a:t>
            </a:r>
            <a:endParaRPr lang="en-US" sz="1050" dirty="0"/>
          </a:p>
        </p:txBody>
      </p:sp>
      <p:sp>
        <p:nvSpPr>
          <p:cNvPr id="9" name="c2"/>
          <p:cNvSpPr/>
          <p:nvPr/>
        </p:nvSpPr>
        <p:spPr>
          <a:xfrm>
            <a:off x="4346448" y="1627632"/>
            <a:ext cx="3505200" cy="2103120"/>
          </a:xfrm>
          <a:prstGeom prst="roundRect">
            <a:avLst>
              <a:gd name="adj" fmla="val 4348"/>
            </a:avLst>
          </a:prstGeom>
          <a:solidFill>
            <a:srgbClr val="EEF3F7"/>
          </a:solidFill>
          <a:ln/>
        </p:spPr>
      </p:sp>
      <p:sp>
        <p:nvSpPr>
          <p:cNvPr id="10" name="d2"/>
          <p:cNvSpPr/>
          <p:nvPr/>
        </p:nvSpPr>
        <p:spPr>
          <a:xfrm>
            <a:off x="4565904" y="1828800"/>
            <a:ext cx="420624" cy="420624"/>
          </a:xfrm>
          <a:prstGeom prst="ellipse">
            <a:avLst/>
          </a:prstGeom>
          <a:solidFill>
            <a:srgbClr val="1C7293"/>
          </a:solidFill>
          <a:ln/>
        </p:spPr>
      </p:sp>
      <p:sp>
        <p:nvSpPr>
          <p:cNvPr id="11" name="Text 9"/>
          <p:cNvSpPr txBox="1"/>
          <p:nvPr/>
        </p:nvSpPr>
        <p:spPr>
          <a:xfrm>
            <a:off x="4565904" y="18288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Text 10"/>
          <p:cNvSpPr txBox="1"/>
          <p:nvPr/>
        </p:nvSpPr>
        <p:spPr>
          <a:xfrm>
            <a:off x="5096256" y="1810512"/>
            <a:ext cx="2535936" cy="457200"/>
          </a:xfrm>
          <a:prstGeom prst="rect">
            <a:avLst/>
          </a:prstGeom>
          <a:noFill/>
          <a:ln/>
        </p:spPr>
        <p:txBody>
          <a:bodyPr wrap="square" lIns="0" tIns="0" rIns="0" bIns="0" rtlCol="0" anchor="ctr"/>
          <a:lstStyle/>
          <a:p>
            <a:pPr indent="0" marL="0">
              <a:lnSpc>
                <a:spcPts val="1500"/>
              </a:lnSpc>
              <a:buNone/>
            </a:pPr>
            <a:r>
              <a:rPr lang="en-US" sz="1350" b="1" dirty="0">
                <a:solidFill>
                  <a:srgbClr val="16213A"/>
                </a:solidFill>
              </a:rPr>
              <a:t>Phát hiện và sửa lỗi dữ liệu</a:t>
            </a:r>
            <a:endParaRPr lang="en-US" sz="1350" dirty="0"/>
          </a:p>
        </p:txBody>
      </p:sp>
      <p:sp>
        <p:nvSpPr>
          <p:cNvPr id="13" name="Text 11"/>
          <p:cNvSpPr txBox="1"/>
          <p:nvPr/>
        </p:nvSpPr>
        <p:spPr>
          <a:xfrm>
            <a:off x="4565904" y="2359152"/>
            <a:ext cx="3066288" cy="120700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Nhận ra bảy nhóm lỗi phổ biến và quyết định xóa, sửa hay giữ.</a:t>
            </a:r>
            <a:endParaRPr lang="en-US" sz="1050" dirty="0"/>
          </a:p>
        </p:txBody>
      </p:sp>
      <p:sp>
        <p:nvSpPr>
          <p:cNvPr id="14" name="c3"/>
          <p:cNvSpPr/>
          <p:nvPr/>
        </p:nvSpPr>
        <p:spPr>
          <a:xfrm>
            <a:off x="8125968" y="1627632"/>
            <a:ext cx="3505200" cy="2103120"/>
          </a:xfrm>
          <a:prstGeom prst="roundRect">
            <a:avLst>
              <a:gd name="adj" fmla="val 4348"/>
            </a:avLst>
          </a:prstGeom>
          <a:solidFill>
            <a:srgbClr val="EEF3F7"/>
          </a:solidFill>
          <a:ln/>
        </p:spPr>
      </p:sp>
      <p:sp>
        <p:nvSpPr>
          <p:cNvPr id="15" name="d3"/>
          <p:cNvSpPr/>
          <p:nvPr/>
        </p:nvSpPr>
        <p:spPr>
          <a:xfrm>
            <a:off x="8345424" y="1828800"/>
            <a:ext cx="420624" cy="420624"/>
          </a:xfrm>
          <a:prstGeom prst="ellipse">
            <a:avLst/>
          </a:prstGeom>
          <a:solidFill>
            <a:srgbClr val="2A78D6"/>
          </a:solidFill>
          <a:ln/>
        </p:spPr>
      </p:sp>
      <p:sp>
        <p:nvSpPr>
          <p:cNvPr id="16" name="Text 14"/>
          <p:cNvSpPr txBox="1"/>
          <p:nvPr/>
        </p:nvSpPr>
        <p:spPr>
          <a:xfrm>
            <a:off x="8345424" y="18288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Text 15"/>
          <p:cNvSpPr txBox="1"/>
          <p:nvPr/>
        </p:nvSpPr>
        <p:spPr>
          <a:xfrm>
            <a:off x="8875776" y="1810512"/>
            <a:ext cx="2535936" cy="457200"/>
          </a:xfrm>
          <a:prstGeom prst="rect">
            <a:avLst/>
          </a:prstGeom>
          <a:noFill/>
          <a:ln/>
        </p:spPr>
        <p:txBody>
          <a:bodyPr wrap="square" lIns="0" tIns="0" rIns="0" bIns="0" rtlCol="0" anchor="ctr"/>
          <a:lstStyle/>
          <a:p>
            <a:pPr indent="0" marL="0">
              <a:lnSpc>
                <a:spcPts val="1500"/>
              </a:lnSpc>
              <a:buNone/>
            </a:pPr>
            <a:r>
              <a:rPr lang="en-US" sz="1350" b="1" dirty="0">
                <a:solidFill>
                  <a:srgbClr val="16213A"/>
                </a:solidFill>
              </a:rPr>
              <a:t>Vẽ biểu đồ đúng và đẹp</a:t>
            </a:r>
            <a:endParaRPr lang="en-US" sz="1350" dirty="0"/>
          </a:p>
        </p:txBody>
      </p:sp>
      <p:sp>
        <p:nvSpPr>
          <p:cNvPr id="18" name="Text 16"/>
          <p:cNvSpPr txBox="1"/>
          <p:nvPr/>
        </p:nvSpPr>
        <p:spPr>
          <a:xfrm>
            <a:off x="8345424" y="2359152"/>
            <a:ext cx="3066288" cy="120700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Chọn loại biểu đồ theo câu hỏi, nhờ AI sinh mã rồi tự chỉnh.</a:t>
            </a:r>
            <a:endParaRPr lang="en-US" sz="1050" dirty="0"/>
          </a:p>
        </p:txBody>
      </p:sp>
      <p:sp>
        <p:nvSpPr>
          <p:cNvPr id="19" name="c4"/>
          <p:cNvSpPr/>
          <p:nvPr/>
        </p:nvSpPr>
        <p:spPr>
          <a:xfrm>
            <a:off x="566928" y="4041648"/>
            <a:ext cx="3505200" cy="2103120"/>
          </a:xfrm>
          <a:prstGeom prst="roundRect">
            <a:avLst>
              <a:gd name="adj" fmla="val 4348"/>
            </a:avLst>
          </a:prstGeom>
          <a:solidFill>
            <a:srgbClr val="EEF3F7"/>
          </a:solidFill>
          <a:ln/>
        </p:spPr>
      </p:sp>
      <p:sp>
        <p:nvSpPr>
          <p:cNvPr id="20" name="d4"/>
          <p:cNvSpPr/>
          <p:nvPr/>
        </p:nvSpPr>
        <p:spPr>
          <a:xfrm>
            <a:off x="786384" y="4242816"/>
            <a:ext cx="420624" cy="420624"/>
          </a:xfrm>
          <a:prstGeom prst="ellipse">
            <a:avLst/>
          </a:prstGeom>
          <a:solidFill>
            <a:srgbClr val="EDA100"/>
          </a:solidFill>
          <a:ln/>
        </p:spPr>
      </p:sp>
      <p:sp>
        <p:nvSpPr>
          <p:cNvPr id="21" name="Text 19"/>
          <p:cNvSpPr txBox="1"/>
          <p:nvPr/>
        </p:nvSpPr>
        <p:spPr>
          <a:xfrm>
            <a:off x="786384" y="424281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2" name="Text 20"/>
          <p:cNvSpPr txBox="1"/>
          <p:nvPr/>
        </p:nvSpPr>
        <p:spPr>
          <a:xfrm>
            <a:off x="1316736" y="4224528"/>
            <a:ext cx="2535936" cy="457200"/>
          </a:xfrm>
          <a:prstGeom prst="rect">
            <a:avLst/>
          </a:prstGeom>
          <a:noFill/>
          <a:ln/>
        </p:spPr>
        <p:txBody>
          <a:bodyPr wrap="square" lIns="0" tIns="0" rIns="0" bIns="0" rtlCol="0" anchor="ctr"/>
          <a:lstStyle/>
          <a:p>
            <a:pPr indent="0" marL="0">
              <a:lnSpc>
                <a:spcPts val="1500"/>
              </a:lnSpc>
              <a:buNone/>
            </a:pPr>
            <a:r>
              <a:rPr lang="en-US" sz="1350" b="1" dirty="0">
                <a:solidFill>
                  <a:srgbClr val="16213A"/>
                </a:solidFill>
              </a:rPr>
              <a:t>Rút ra tri thức có giá trị</a:t>
            </a:r>
            <a:endParaRPr lang="en-US" sz="1350" dirty="0"/>
          </a:p>
        </p:txBody>
      </p:sp>
      <p:sp>
        <p:nvSpPr>
          <p:cNvPr id="23" name="Text 21"/>
          <p:cNvSpPr txBox="1"/>
          <p:nvPr/>
        </p:nvSpPr>
        <p:spPr>
          <a:xfrm>
            <a:off x="786384" y="4773168"/>
            <a:ext cx="3066288" cy="120700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Phân biệt mô tả số liệu với tri thức thật sự dùng được.</a:t>
            </a:r>
            <a:endParaRPr lang="en-US" sz="1050" dirty="0"/>
          </a:p>
        </p:txBody>
      </p:sp>
      <p:sp>
        <p:nvSpPr>
          <p:cNvPr id="24" name="c5"/>
          <p:cNvSpPr/>
          <p:nvPr/>
        </p:nvSpPr>
        <p:spPr>
          <a:xfrm>
            <a:off x="4346448" y="4041648"/>
            <a:ext cx="3505200" cy="2103120"/>
          </a:xfrm>
          <a:prstGeom prst="roundRect">
            <a:avLst>
              <a:gd name="adj" fmla="val 4348"/>
            </a:avLst>
          </a:prstGeom>
          <a:solidFill>
            <a:srgbClr val="EEF3F7"/>
          </a:solidFill>
          <a:ln/>
        </p:spPr>
      </p:sp>
      <p:sp>
        <p:nvSpPr>
          <p:cNvPr id="25" name="d5"/>
          <p:cNvSpPr/>
          <p:nvPr/>
        </p:nvSpPr>
        <p:spPr>
          <a:xfrm>
            <a:off x="4565904" y="4242816"/>
            <a:ext cx="420624" cy="420624"/>
          </a:xfrm>
          <a:prstGeom prst="ellipse">
            <a:avLst/>
          </a:prstGeom>
          <a:solidFill>
            <a:srgbClr val="D03B3B"/>
          </a:solidFill>
          <a:ln/>
        </p:spPr>
      </p:sp>
      <p:sp>
        <p:nvSpPr>
          <p:cNvPr id="26" name="Text 24"/>
          <p:cNvSpPr txBox="1"/>
          <p:nvPr/>
        </p:nvSpPr>
        <p:spPr>
          <a:xfrm>
            <a:off x="4565904" y="424281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7" name="Text 25"/>
          <p:cNvSpPr txBox="1"/>
          <p:nvPr/>
        </p:nvSpPr>
        <p:spPr>
          <a:xfrm>
            <a:off x="5096256" y="4224528"/>
            <a:ext cx="2535936" cy="457200"/>
          </a:xfrm>
          <a:prstGeom prst="rect">
            <a:avLst/>
          </a:prstGeom>
          <a:noFill/>
          <a:ln/>
        </p:spPr>
        <p:txBody>
          <a:bodyPr wrap="square" lIns="0" tIns="0" rIns="0" bIns="0" rtlCol="0" anchor="ctr"/>
          <a:lstStyle/>
          <a:p>
            <a:pPr indent="0" marL="0">
              <a:lnSpc>
                <a:spcPts val="1500"/>
              </a:lnSpc>
              <a:buNone/>
            </a:pPr>
            <a:r>
              <a:rPr lang="en-US" sz="1350" b="1" dirty="0">
                <a:solidFill>
                  <a:srgbClr val="16213A"/>
                </a:solidFill>
              </a:rPr>
              <a:t>Phát hiện khi AI sai</a:t>
            </a:r>
            <a:endParaRPr lang="en-US" sz="1350" dirty="0"/>
          </a:p>
        </p:txBody>
      </p:sp>
      <p:sp>
        <p:nvSpPr>
          <p:cNvPr id="28" name="Text 26"/>
          <p:cNvSpPr txBox="1"/>
          <p:nvPr/>
        </p:nvSpPr>
        <p:spPr>
          <a:xfrm>
            <a:off x="4565904" y="4773168"/>
            <a:ext cx="3066288" cy="120700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Ba cái bẫy có thật và danh sách kiểm tra trước khi tin AI.</a:t>
            </a:r>
            <a:endParaRPr lang="en-US" sz="1050" dirty="0"/>
          </a:p>
        </p:txBody>
      </p:sp>
      <p:sp>
        <p:nvSpPr>
          <p:cNvPr id="29" name="c6"/>
          <p:cNvSpPr/>
          <p:nvPr/>
        </p:nvSpPr>
        <p:spPr>
          <a:xfrm>
            <a:off x="8125968" y="4041648"/>
            <a:ext cx="3505200" cy="2103120"/>
          </a:xfrm>
          <a:prstGeom prst="roundRect">
            <a:avLst>
              <a:gd name="adj" fmla="val 4348"/>
            </a:avLst>
          </a:prstGeom>
          <a:solidFill>
            <a:srgbClr val="EEF3F7"/>
          </a:solidFill>
          <a:ln/>
        </p:spPr>
      </p:sp>
      <p:sp>
        <p:nvSpPr>
          <p:cNvPr id="30" name="d6"/>
          <p:cNvSpPr/>
          <p:nvPr/>
        </p:nvSpPr>
        <p:spPr>
          <a:xfrm>
            <a:off x="8345424" y="4242816"/>
            <a:ext cx="420624" cy="420624"/>
          </a:xfrm>
          <a:prstGeom prst="ellipse">
            <a:avLst/>
          </a:prstGeom>
          <a:solidFill>
            <a:srgbClr val="1BAF7A"/>
          </a:solidFill>
          <a:ln/>
        </p:spPr>
      </p:sp>
      <p:sp>
        <p:nvSpPr>
          <p:cNvPr id="31" name="Text 29"/>
          <p:cNvSpPr txBox="1"/>
          <p:nvPr/>
        </p:nvSpPr>
        <p:spPr>
          <a:xfrm>
            <a:off x="8345424" y="424281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2" name="Text 30"/>
          <p:cNvSpPr txBox="1"/>
          <p:nvPr/>
        </p:nvSpPr>
        <p:spPr>
          <a:xfrm>
            <a:off x="8875776" y="4224528"/>
            <a:ext cx="2535936" cy="457200"/>
          </a:xfrm>
          <a:prstGeom prst="rect">
            <a:avLst/>
          </a:prstGeom>
          <a:noFill/>
          <a:ln/>
        </p:spPr>
        <p:txBody>
          <a:bodyPr wrap="square" lIns="0" tIns="0" rIns="0" bIns="0" rtlCol="0" anchor="ctr"/>
          <a:lstStyle/>
          <a:p>
            <a:pPr indent="0" marL="0">
              <a:lnSpc>
                <a:spcPts val="1500"/>
              </a:lnSpc>
              <a:buNone/>
            </a:pPr>
            <a:r>
              <a:rPr lang="en-US" sz="1350" b="1" dirty="0">
                <a:solidFill>
                  <a:srgbClr val="16213A"/>
                </a:solidFill>
              </a:rPr>
              <a:t>Trình bày và chịu trách nhiệm</a:t>
            </a:r>
            <a:endParaRPr lang="en-US" sz="1350" dirty="0"/>
          </a:p>
        </p:txBody>
      </p:sp>
      <p:sp>
        <p:nvSpPr>
          <p:cNvPr id="33" name="Text 31"/>
          <p:cNvSpPr txBox="1"/>
          <p:nvPr/>
        </p:nvSpPr>
        <p:spPr>
          <a:xfrm>
            <a:off x="8345424" y="4773168"/>
            <a:ext cx="3066288" cy="120700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Kể câu chuyện dữ liệu, nêu hạn chế, dùng AI một cách trung thực.</a:t>
            </a:r>
            <a:endParaRPr lang="en-US" sz="105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800" b="1" dirty="0">
                <a:solidFill>
                  <a:srgbClr val="16213A"/>
                </a:solidFill>
              </a:rPr>
              <a:t>Trợ lý AI thực chất là gì</a:t>
            </a:r>
            <a:endParaRPr lang="en-US" sz="28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algn="l" indent="0" marL="0">
              <a:buNone/>
            </a:pPr>
            <a:r>
              <a:rPr lang="en-US" sz="1400" b="1" dirty="0">
                <a:solidFill>
                  <a:srgbClr val="1C7293"/>
                </a:solidFill>
              </a:rPr>
              <a:t>Hiểu đúng bản chất thì mới dùng đúng cách</a:t>
            </a:r>
            <a:endParaRPr lang="en-US" sz="1400" dirty="0"/>
          </a:p>
        </p:txBody>
      </p:sp>
      <p:sp>
        <p:nvSpPr>
          <p:cNvPr id="4" name="c7"/>
          <p:cNvSpPr/>
          <p:nvPr/>
        </p:nvSpPr>
        <p:spPr>
          <a:xfrm>
            <a:off x="566928" y="1609344"/>
            <a:ext cx="11064240" cy="1325880"/>
          </a:xfrm>
          <a:prstGeom prst="roundRect">
            <a:avLst>
              <a:gd name="adj" fmla="val 6897"/>
            </a:avLst>
          </a:prstGeom>
          <a:solidFill>
            <a:srgbClr val="16213A"/>
          </a:solidFill>
          <a:ln/>
        </p:spPr>
      </p:sp>
      <p:sp>
        <p:nvSpPr>
          <p:cNvPr id="5" name="Text 3"/>
          <p:cNvSpPr txBox="1"/>
          <p:nvPr/>
        </p:nvSpPr>
        <p:spPr>
          <a:xfrm>
            <a:off x="932688" y="1810512"/>
            <a:ext cx="10332720" cy="457200"/>
          </a:xfrm>
          <a:prstGeom prst="rect">
            <a:avLst/>
          </a:prstGeom>
          <a:noFill/>
          <a:ln/>
        </p:spPr>
        <p:txBody>
          <a:bodyPr wrap="square" lIns="0" tIns="0" rIns="0" bIns="0" rtlCol="0" anchor="ctr"/>
          <a:lstStyle/>
          <a:p>
            <a:pPr indent="0" marL="0">
              <a:buNone/>
            </a:pPr>
            <a:r>
              <a:rPr lang="en-US" sz="1700" dirty="0">
                <a:solidFill>
                  <a:srgbClr val="C9DAE8"/>
                </a:solidFill>
              </a:rPr>
              <a:t>AI tạo sinh làm một việc duy nhất: </a:t>
            </a:r>
            <a:pPr indent="0" marL="0">
              <a:buNone/>
            </a:pPr>
            <a:r>
              <a:rPr lang="en-US" sz="1700" b="1" dirty="0">
                <a:solidFill>
                  <a:srgbClr val="FFFFFF"/>
                </a:solidFill>
              </a:rPr>
              <a:t>đoán đoạn văn bản tiếp theo hợp lý nhất</a:t>
            </a:r>
            <a:pPr indent="0" marL="0">
              <a:buNone/>
            </a:pPr>
            <a:r>
              <a:rPr lang="en-US" sz="1700" dirty="0">
                <a:solidFill>
                  <a:srgbClr val="C9DAE8"/>
                </a:solidFill>
              </a:rPr>
              <a:t> với những gì bạn vừa nhập vào.</a:t>
            </a:r>
            <a:endParaRPr lang="en-US" sz="1700" dirty="0"/>
          </a:p>
        </p:txBody>
      </p:sp>
      <p:sp>
        <p:nvSpPr>
          <p:cNvPr id="6" name="Text 4"/>
          <p:cNvSpPr txBox="1"/>
          <p:nvPr/>
        </p:nvSpPr>
        <p:spPr>
          <a:xfrm>
            <a:off x="932688" y="2304288"/>
            <a:ext cx="10332720" cy="457200"/>
          </a:xfrm>
          <a:prstGeom prst="rect">
            <a:avLst/>
          </a:prstGeom>
          <a:noFill/>
          <a:ln/>
        </p:spPr>
        <p:txBody>
          <a:bodyPr wrap="square" lIns="0" tIns="0" rIns="0" bIns="0" rtlCol="0" anchor="ctr"/>
          <a:lstStyle/>
          <a:p>
            <a:pPr indent="0" marL="0">
              <a:buNone/>
            </a:pPr>
            <a:r>
              <a:rPr lang="en-US" sz="1350" i="1" dirty="0">
                <a:solidFill>
                  <a:srgbClr val="A8C2D8"/>
                </a:solidFill>
              </a:rPr>
              <a:t>Nó không “hiểu” dữ liệu của bạn theo cách con người hiểu — nó nhận ra mẫu hình và tạo ra câu trả lời nghe hợp lý.</a:t>
            </a:r>
            <a:endParaRPr lang="en-US" sz="1350" dirty="0"/>
          </a:p>
        </p:txBody>
      </p:sp>
      <p:sp>
        <p:nvSpPr>
          <p:cNvPr id="7" name="c8"/>
          <p:cNvSpPr/>
          <p:nvPr/>
        </p:nvSpPr>
        <p:spPr>
          <a:xfrm>
            <a:off x="566928" y="3127248"/>
            <a:ext cx="5358384" cy="3017520"/>
          </a:xfrm>
          <a:prstGeom prst="roundRect">
            <a:avLst>
              <a:gd name="adj" fmla="val 3030"/>
            </a:avLst>
          </a:prstGeom>
          <a:solidFill>
            <a:srgbClr val="EEF3F7"/>
          </a:solidFill>
          <a:ln/>
        </p:spPr>
      </p:sp>
      <p:sp>
        <p:nvSpPr>
          <p:cNvPr id="8" name="Text 6"/>
          <p:cNvSpPr txBox="1"/>
          <p:nvPr/>
        </p:nvSpPr>
        <p:spPr>
          <a:xfrm>
            <a:off x="841248" y="3310128"/>
            <a:ext cx="4754880" cy="292608"/>
          </a:xfrm>
          <a:prstGeom prst="rect">
            <a:avLst/>
          </a:prstGeom>
          <a:noFill/>
          <a:ln/>
        </p:spPr>
        <p:txBody>
          <a:bodyPr wrap="square" lIns="0" tIns="0" rIns="0" bIns="0" rtlCol="0" anchor="ctr"/>
          <a:lstStyle/>
          <a:p>
            <a:pPr indent="0" marL="0">
              <a:buNone/>
            </a:pPr>
            <a:r>
              <a:rPr lang="en-US" sz="1200" b="1" spc="200" kern="0" dirty="0">
                <a:solidFill>
                  <a:srgbClr val="1BAF7A"/>
                </a:solidFill>
              </a:rPr>
              <a:t>AI LÀM TỐT</a:t>
            </a:r>
            <a:endParaRPr lang="en-US" sz="1200" dirty="0"/>
          </a:p>
        </p:txBody>
      </p:sp>
      <p:sp>
        <p:nvSpPr>
          <p:cNvPr id="9" name="Text 7"/>
          <p:cNvSpPr txBox="1"/>
          <p:nvPr/>
        </p:nvSpPr>
        <p:spPr>
          <a:xfrm>
            <a:off x="841248" y="3675888"/>
            <a:ext cx="4846320" cy="2286000"/>
          </a:xfrm>
          <a:prstGeom prst="rect">
            <a:avLst/>
          </a:prstGeom>
          <a:noFill/>
          <a:ln/>
        </p:spPr>
        <p:txBody>
          <a:bodyPr wrap="square" lIns="0" tIns="0" rIns="0" bIns="0" rtlCol="0" anchor="ctr"/>
          <a:lstStyle/>
          <a:p>
            <a:pPr marL="342900" indent="-342900">
              <a:lnSpc>
                <a:spcPts val="1600"/>
              </a:lnSpc>
              <a:spcAft>
                <a:spcPts val="900"/>
              </a:spcAft>
              <a:buSzPct val="100000"/>
              <a:buChar char="▪"/>
            </a:pPr>
            <a:r>
              <a:rPr lang="en-US" sz="1300" dirty="0">
                <a:solidFill>
                  <a:srgbClr val="16213A"/>
                </a:solidFill>
              </a:rPr>
              <a:t>Mô tả cấu trúc dữ liệu</a:t>
            </a:r>
            <a:endParaRPr lang="en-US" sz="1300" dirty="0"/>
          </a:p>
          <a:p>
            <a:pPr marL="342900" indent="-342900">
              <a:lnSpc>
                <a:spcPts val="1600"/>
              </a:lnSpc>
              <a:spcAft>
                <a:spcPts val="900"/>
              </a:spcAft>
              <a:buSzPct val="100000"/>
              <a:buChar char="▪"/>
            </a:pPr>
            <a:r>
              <a:rPr lang="en-US" sz="1300" dirty="0">
                <a:solidFill>
                  <a:srgbClr val="16213A"/>
                </a:solidFill>
              </a:rPr>
              <a:t>Gợi ý hướng phân tích</a:t>
            </a:r>
            <a:endParaRPr lang="en-US" sz="1300" dirty="0"/>
          </a:p>
          <a:p>
            <a:pPr marL="342900" indent="-342900">
              <a:lnSpc>
                <a:spcPts val="1600"/>
              </a:lnSpc>
              <a:spcAft>
                <a:spcPts val="900"/>
              </a:spcAft>
              <a:buSzPct val="100000"/>
              <a:buChar char="▪"/>
            </a:pPr>
            <a:r>
              <a:rPr lang="en-US" sz="1300" dirty="0">
                <a:solidFill>
                  <a:srgbClr val="16213A"/>
                </a:solidFill>
              </a:rPr>
              <a:t>Viết mã Python, R</a:t>
            </a:r>
            <a:endParaRPr lang="en-US" sz="1300" dirty="0"/>
          </a:p>
          <a:p>
            <a:pPr marL="342900" indent="-342900">
              <a:lnSpc>
                <a:spcPts val="1600"/>
              </a:lnSpc>
              <a:spcAft>
                <a:spcPts val="900"/>
              </a:spcAft>
              <a:buSzPct val="100000"/>
              <a:buChar char="▪"/>
            </a:pPr>
            <a:r>
              <a:rPr lang="en-US" sz="1300" dirty="0">
                <a:solidFill>
                  <a:srgbClr val="16213A"/>
                </a:solidFill>
              </a:rPr>
              <a:t>Giải thích khái niệm</a:t>
            </a:r>
            <a:endParaRPr lang="en-US" sz="1300" dirty="0"/>
          </a:p>
          <a:p>
            <a:pPr marL="342900" indent="-342900">
              <a:lnSpc>
                <a:spcPts val="1600"/>
              </a:lnSpc>
              <a:spcAft>
                <a:spcPts val="900"/>
              </a:spcAft>
              <a:buSzPct val="100000"/>
              <a:buChar char="▪"/>
            </a:pPr>
            <a:r>
              <a:rPr lang="en-US" sz="1300" dirty="0">
                <a:solidFill>
                  <a:srgbClr val="16213A"/>
                </a:solidFill>
              </a:rPr>
              <a:t>Soạn bản nháp báo cáo</a:t>
            </a:r>
            <a:endParaRPr lang="en-US" sz="1300" dirty="0"/>
          </a:p>
        </p:txBody>
      </p:sp>
      <p:sp>
        <p:nvSpPr>
          <p:cNvPr id="10" name="c9"/>
          <p:cNvSpPr/>
          <p:nvPr/>
        </p:nvSpPr>
        <p:spPr>
          <a:xfrm>
            <a:off x="6254496" y="3127248"/>
            <a:ext cx="5358384" cy="3017520"/>
          </a:xfrm>
          <a:prstGeom prst="roundRect">
            <a:avLst>
              <a:gd name="adj" fmla="val 3030"/>
            </a:avLst>
          </a:prstGeom>
          <a:solidFill>
            <a:srgbClr val="EEF3F7"/>
          </a:solidFill>
          <a:ln/>
        </p:spPr>
      </p:sp>
      <p:sp>
        <p:nvSpPr>
          <p:cNvPr id="11" name="Text 9"/>
          <p:cNvSpPr txBox="1"/>
          <p:nvPr/>
        </p:nvSpPr>
        <p:spPr>
          <a:xfrm>
            <a:off x="6528816" y="3310128"/>
            <a:ext cx="4754880" cy="292608"/>
          </a:xfrm>
          <a:prstGeom prst="rect">
            <a:avLst/>
          </a:prstGeom>
          <a:noFill/>
          <a:ln/>
        </p:spPr>
        <p:txBody>
          <a:bodyPr wrap="square" lIns="0" tIns="0" rIns="0" bIns="0" rtlCol="0" anchor="ctr"/>
          <a:lstStyle/>
          <a:p>
            <a:pPr indent="0" marL="0">
              <a:buNone/>
            </a:pPr>
            <a:r>
              <a:rPr lang="en-US" sz="1200" b="1" spc="200" kern="0" dirty="0">
                <a:solidFill>
                  <a:srgbClr val="D03B3B"/>
                </a:solidFill>
              </a:rPr>
              <a:t>KHÔNG ĐÁNG TIN</a:t>
            </a:r>
            <a:endParaRPr lang="en-US" sz="1200" dirty="0"/>
          </a:p>
        </p:txBody>
      </p:sp>
      <p:sp>
        <p:nvSpPr>
          <p:cNvPr id="12" name="Text 10"/>
          <p:cNvSpPr txBox="1"/>
          <p:nvPr/>
        </p:nvSpPr>
        <p:spPr>
          <a:xfrm>
            <a:off x="6528816" y="3675888"/>
            <a:ext cx="4846320" cy="2286000"/>
          </a:xfrm>
          <a:prstGeom prst="rect">
            <a:avLst/>
          </a:prstGeom>
          <a:noFill/>
          <a:ln/>
        </p:spPr>
        <p:txBody>
          <a:bodyPr wrap="square" lIns="0" tIns="0" rIns="0" bIns="0" rtlCol="0" anchor="ctr"/>
          <a:lstStyle/>
          <a:p>
            <a:pPr marL="342900" indent="-342900">
              <a:lnSpc>
                <a:spcPts val="1600"/>
              </a:lnSpc>
              <a:spcAft>
                <a:spcPts val="900"/>
              </a:spcAft>
              <a:buSzPct val="100000"/>
              <a:buChar char="▪"/>
            </a:pPr>
            <a:r>
              <a:rPr lang="en-US" sz="1300" dirty="0">
                <a:solidFill>
                  <a:srgbClr val="16213A"/>
                </a:solidFill>
              </a:rPr>
              <a:t>Tính toán số liệu chính xác</a:t>
            </a:r>
            <a:endParaRPr lang="en-US" sz="1300" dirty="0"/>
          </a:p>
          <a:p>
            <a:pPr marL="342900" indent="-342900">
              <a:lnSpc>
                <a:spcPts val="1600"/>
              </a:lnSpc>
              <a:spcAft>
                <a:spcPts val="900"/>
              </a:spcAft>
              <a:buSzPct val="100000"/>
              <a:buChar char="▪"/>
            </a:pPr>
            <a:r>
              <a:rPr lang="en-US" sz="1300" dirty="0">
                <a:solidFill>
                  <a:srgbClr val="16213A"/>
                </a:solidFill>
              </a:rPr>
              <a:t>Đọc hết tệp dữ liệu lớn</a:t>
            </a:r>
            <a:endParaRPr lang="en-US" sz="1300" dirty="0"/>
          </a:p>
          <a:p>
            <a:pPr marL="342900" indent="-342900">
              <a:lnSpc>
                <a:spcPts val="1600"/>
              </a:lnSpc>
              <a:spcAft>
                <a:spcPts val="900"/>
              </a:spcAft>
              <a:buSzPct val="100000"/>
              <a:buChar char="▪"/>
            </a:pPr>
            <a:r>
              <a:rPr lang="en-US" sz="1300" dirty="0">
                <a:solidFill>
                  <a:srgbClr val="16213A"/>
                </a:solidFill>
              </a:rPr>
              <a:t>Phán đoán nhân quả</a:t>
            </a:r>
            <a:endParaRPr lang="en-US" sz="1300" dirty="0"/>
          </a:p>
          <a:p>
            <a:pPr marL="342900" indent="-342900">
              <a:lnSpc>
                <a:spcPts val="1600"/>
              </a:lnSpc>
              <a:spcAft>
                <a:spcPts val="900"/>
              </a:spcAft>
              <a:buSzPct val="100000"/>
              <a:buChar char="▪"/>
            </a:pPr>
            <a:r>
              <a:rPr lang="en-US" sz="1300" dirty="0">
                <a:solidFill>
                  <a:srgbClr val="16213A"/>
                </a:solidFill>
              </a:rPr>
              <a:t>Chịu trách nhiệm về kết quả</a:t>
            </a:r>
            <a:endParaRPr lang="en-US" sz="1300" dirty="0"/>
          </a:p>
          <a:p>
            <a:pPr marL="342900" indent="-342900">
              <a:lnSpc>
                <a:spcPts val="1600"/>
              </a:lnSpc>
              <a:spcAft>
                <a:spcPts val="900"/>
              </a:spcAft>
              <a:buSzPct val="100000"/>
              <a:buChar char="▪"/>
            </a:pPr>
            <a:r>
              <a:rPr lang="en-US" sz="1300" dirty="0">
                <a:solidFill>
                  <a:srgbClr val="16213A"/>
                </a:solidFill>
              </a:rPr>
              <a:t>Tự biết mình đang sai</a:t>
            </a:r>
            <a:endParaRPr lang="en-US" sz="130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800" b="1" dirty="0">
                <a:solidFill>
                  <a:srgbClr val="16213A"/>
                </a:solidFill>
              </a:rPr>
              <a:t>Nguyên tắc vàng của cả khóa học</a:t>
            </a:r>
            <a:endParaRPr lang="en-US" sz="28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algn="l" indent="0" marL="0">
              <a:buNone/>
            </a:pPr>
            <a:r>
              <a:rPr lang="en-US" sz="1400" b="1" dirty="0">
                <a:solidFill>
                  <a:srgbClr val="1C7293"/>
                </a:solidFill>
              </a:rPr>
              <a:t>Nếu chỉ nhớ một điều từ khóa học này, hãy nhớ điều sau</a:t>
            </a:r>
            <a:endParaRPr lang="en-US" sz="1400" dirty="0"/>
          </a:p>
        </p:txBody>
      </p:sp>
      <p:sp>
        <p:nvSpPr>
          <p:cNvPr id="4" name="c10"/>
          <p:cNvSpPr/>
          <p:nvPr/>
        </p:nvSpPr>
        <p:spPr>
          <a:xfrm>
            <a:off x="566928" y="1737360"/>
            <a:ext cx="11064240" cy="1371600"/>
          </a:xfrm>
          <a:prstGeom prst="roundRect">
            <a:avLst>
              <a:gd name="adj" fmla="val 6667"/>
            </a:avLst>
          </a:prstGeom>
          <a:solidFill>
            <a:srgbClr val="065A82"/>
          </a:solidFill>
          <a:ln/>
        </p:spPr>
      </p:sp>
      <p:sp>
        <p:nvSpPr>
          <p:cNvPr id="5" name="Text 3"/>
          <p:cNvSpPr txBox="1"/>
          <p:nvPr/>
        </p:nvSpPr>
        <p:spPr>
          <a:xfrm>
            <a:off x="566928" y="1920240"/>
            <a:ext cx="1106424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AI gợi ý — Người kiểm chứng</a:t>
            </a:r>
            <a:endParaRPr lang="en-US" sz="4000" dirty="0"/>
          </a:p>
        </p:txBody>
      </p:sp>
      <p:sp>
        <p:nvSpPr>
          <p:cNvPr id="6" name="c11"/>
          <p:cNvSpPr/>
          <p:nvPr/>
        </p:nvSpPr>
        <p:spPr>
          <a:xfrm>
            <a:off x="566928" y="3346704"/>
            <a:ext cx="5358384" cy="2651760"/>
          </a:xfrm>
          <a:prstGeom prst="roundRect">
            <a:avLst>
              <a:gd name="adj" fmla="val 3448"/>
            </a:avLst>
          </a:prstGeom>
          <a:solidFill>
            <a:srgbClr val="EEF3F7"/>
          </a:solidFill>
          <a:ln/>
        </p:spPr>
      </p:sp>
      <p:sp>
        <p:nvSpPr>
          <p:cNvPr id="7" name="Text 5"/>
          <p:cNvSpPr txBox="1"/>
          <p:nvPr/>
        </p:nvSpPr>
        <p:spPr>
          <a:xfrm>
            <a:off x="841248" y="3529584"/>
            <a:ext cx="4754880" cy="292608"/>
          </a:xfrm>
          <a:prstGeom prst="rect">
            <a:avLst/>
          </a:prstGeom>
          <a:noFill/>
          <a:ln/>
        </p:spPr>
        <p:txBody>
          <a:bodyPr wrap="square" lIns="0" tIns="0" rIns="0" bIns="0" rtlCol="0" anchor="ctr"/>
          <a:lstStyle/>
          <a:p>
            <a:pPr indent="0" marL="0">
              <a:buNone/>
            </a:pPr>
            <a:r>
              <a:rPr lang="en-US" sz="1200" b="1" spc="200" kern="0" dirty="0">
                <a:solidFill>
                  <a:srgbClr val="1C7293"/>
                </a:solidFill>
              </a:rPr>
              <a:t>VAI CỦA AI</a:t>
            </a:r>
            <a:endParaRPr lang="en-US" sz="1200" dirty="0"/>
          </a:p>
        </p:txBody>
      </p:sp>
      <p:sp>
        <p:nvSpPr>
          <p:cNvPr id="8" name="Text 6"/>
          <p:cNvSpPr txBox="1"/>
          <p:nvPr/>
        </p:nvSpPr>
        <p:spPr>
          <a:xfrm>
            <a:off x="841248" y="3895344"/>
            <a:ext cx="4846320" cy="1920240"/>
          </a:xfrm>
          <a:prstGeom prst="rect">
            <a:avLst/>
          </a:prstGeom>
          <a:noFill/>
          <a:ln/>
        </p:spPr>
        <p:txBody>
          <a:bodyPr wrap="square" lIns="0" tIns="0" rIns="0" bIns="0" rtlCol="0" anchor="ctr"/>
          <a:lstStyle/>
          <a:p>
            <a:pPr marL="342900" indent="-342900">
              <a:lnSpc>
                <a:spcPts val="1700"/>
              </a:lnSpc>
              <a:spcAft>
                <a:spcPts val="1000"/>
              </a:spcAft>
              <a:buSzPct val="100000"/>
              <a:buChar char="▪"/>
            </a:pPr>
            <a:r>
              <a:rPr lang="en-US" sz="1400" dirty="0">
                <a:solidFill>
                  <a:srgbClr val="16213A"/>
                </a:solidFill>
              </a:rPr>
              <a:t>Khám phá nhanh</a:t>
            </a:r>
            <a:endParaRPr lang="en-US" sz="1400" dirty="0"/>
          </a:p>
          <a:p>
            <a:pPr marL="342900" indent="-342900">
              <a:lnSpc>
                <a:spcPts val="1700"/>
              </a:lnSpc>
              <a:spcAft>
                <a:spcPts val="1000"/>
              </a:spcAft>
              <a:buSzPct val="100000"/>
              <a:buChar char="▪"/>
            </a:pPr>
            <a:r>
              <a:rPr lang="en-US" sz="1400" dirty="0">
                <a:solidFill>
                  <a:srgbClr val="16213A"/>
                </a:solidFill>
              </a:rPr>
              <a:t>Gợi ý hướng đi</a:t>
            </a:r>
            <a:endParaRPr lang="en-US" sz="1400" dirty="0"/>
          </a:p>
          <a:p>
            <a:pPr marL="342900" indent="-342900">
              <a:lnSpc>
                <a:spcPts val="1700"/>
              </a:lnSpc>
              <a:spcAft>
                <a:spcPts val="1000"/>
              </a:spcAft>
              <a:buSzPct val="100000"/>
              <a:buChar char="▪"/>
            </a:pPr>
            <a:r>
              <a:rPr lang="en-US" sz="1400" dirty="0">
                <a:solidFill>
                  <a:srgbClr val="16213A"/>
                </a:solidFill>
              </a:rPr>
              <a:t>Viết mã</a:t>
            </a:r>
            <a:endParaRPr lang="en-US" sz="1400" dirty="0"/>
          </a:p>
          <a:p>
            <a:pPr marL="342900" indent="-342900">
              <a:lnSpc>
                <a:spcPts val="1700"/>
              </a:lnSpc>
              <a:spcAft>
                <a:spcPts val="1000"/>
              </a:spcAft>
              <a:buSzPct val="100000"/>
              <a:buChar char="▪"/>
            </a:pPr>
            <a:r>
              <a:rPr lang="en-US" sz="1400" dirty="0">
                <a:solidFill>
                  <a:srgbClr val="16213A"/>
                </a:solidFill>
              </a:rPr>
              <a:t>Giải thích khái niệm</a:t>
            </a:r>
            <a:endParaRPr lang="en-US" sz="1400" dirty="0"/>
          </a:p>
        </p:txBody>
      </p:sp>
      <p:sp>
        <p:nvSpPr>
          <p:cNvPr id="9" name="c12"/>
          <p:cNvSpPr/>
          <p:nvPr/>
        </p:nvSpPr>
        <p:spPr>
          <a:xfrm>
            <a:off x="6254496" y="3346704"/>
            <a:ext cx="5358384" cy="2651760"/>
          </a:xfrm>
          <a:prstGeom prst="roundRect">
            <a:avLst>
              <a:gd name="adj" fmla="val 3448"/>
            </a:avLst>
          </a:prstGeom>
          <a:solidFill>
            <a:srgbClr val="EEF3F7"/>
          </a:solidFill>
          <a:ln/>
        </p:spPr>
      </p:sp>
      <p:sp>
        <p:nvSpPr>
          <p:cNvPr id="10" name="Text 8"/>
          <p:cNvSpPr txBox="1"/>
          <p:nvPr/>
        </p:nvSpPr>
        <p:spPr>
          <a:xfrm>
            <a:off x="6528816" y="3529584"/>
            <a:ext cx="4754880" cy="292608"/>
          </a:xfrm>
          <a:prstGeom prst="rect">
            <a:avLst/>
          </a:prstGeom>
          <a:noFill/>
          <a:ln/>
        </p:spPr>
        <p:txBody>
          <a:bodyPr wrap="square" lIns="0" tIns="0" rIns="0" bIns="0" rtlCol="0" anchor="ctr"/>
          <a:lstStyle/>
          <a:p>
            <a:pPr indent="0" marL="0">
              <a:buNone/>
            </a:pPr>
            <a:r>
              <a:rPr lang="en-US" sz="1200" b="1" spc="200" kern="0" dirty="0">
                <a:solidFill>
                  <a:srgbClr val="D03B3B"/>
                </a:solidFill>
              </a:rPr>
              <a:t>VAI CỦA BẠN</a:t>
            </a:r>
            <a:endParaRPr lang="en-US" sz="1200" dirty="0"/>
          </a:p>
        </p:txBody>
      </p:sp>
      <p:sp>
        <p:nvSpPr>
          <p:cNvPr id="11" name="Text 9"/>
          <p:cNvSpPr txBox="1"/>
          <p:nvPr/>
        </p:nvSpPr>
        <p:spPr>
          <a:xfrm>
            <a:off x="6528816" y="3895344"/>
            <a:ext cx="4846320" cy="1920240"/>
          </a:xfrm>
          <a:prstGeom prst="rect">
            <a:avLst/>
          </a:prstGeom>
          <a:noFill/>
          <a:ln/>
        </p:spPr>
        <p:txBody>
          <a:bodyPr wrap="square" lIns="0" tIns="0" rIns="0" bIns="0" rtlCol="0" anchor="ctr"/>
          <a:lstStyle/>
          <a:p>
            <a:pPr marL="342900" indent="-342900">
              <a:lnSpc>
                <a:spcPts val="1700"/>
              </a:lnSpc>
              <a:spcAft>
                <a:spcPts val="1000"/>
              </a:spcAft>
              <a:buSzPct val="100000"/>
              <a:buChar char="▪"/>
            </a:pPr>
            <a:r>
              <a:rPr lang="en-US" sz="1400" dirty="0">
                <a:solidFill>
                  <a:srgbClr val="16213A"/>
                </a:solidFill>
              </a:rPr>
              <a:t>Chạy lại mã để kiểm chứng số</a:t>
            </a:r>
            <a:endParaRPr lang="en-US" sz="1400" dirty="0"/>
          </a:p>
          <a:p>
            <a:pPr marL="342900" indent="-342900">
              <a:lnSpc>
                <a:spcPts val="1700"/>
              </a:lnSpc>
              <a:spcAft>
                <a:spcPts val="1000"/>
              </a:spcAft>
              <a:buSzPct val="100000"/>
              <a:buChar char="▪"/>
            </a:pPr>
            <a:r>
              <a:rPr lang="en-US" sz="1400" dirty="0">
                <a:solidFill>
                  <a:srgbClr val="16213A"/>
                </a:solidFill>
              </a:rPr>
              <a:t>Quyết định hướng nào hợp lý</a:t>
            </a:r>
            <a:endParaRPr lang="en-US" sz="1400" dirty="0"/>
          </a:p>
          <a:p>
            <a:pPr marL="342900" indent="-342900">
              <a:lnSpc>
                <a:spcPts val="1700"/>
              </a:lnSpc>
              <a:spcAft>
                <a:spcPts val="1000"/>
              </a:spcAft>
              <a:buSzPct val="100000"/>
              <a:buChar char="▪"/>
            </a:pPr>
            <a:r>
              <a:rPr lang="en-US" sz="1400" dirty="0">
                <a:solidFill>
                  <a:srgbClr val="16213A"/>
                </a:solidFill>
              </a:rPr>
              <a:t>Đọc hiểu mã trước khi dùng</a:t>
            </a:r>
            <a:endParaRPr lang="en-US" sz="1400" dirty="0"/>
          </a:p>
          <a:p>
            <a:pPr marL="342900" indent="-342900">
              <a:lnSpc>
                <a:spcPts val="1700"/>
              </a:lnSpc>
              <a:spcAft>
                <a:spcPts val="1000"/>
              </a:spcAft>
              <a:buSzPct val="100000"/>
              <a:buChar char="▪"/>
            </a:pPr>
            <a:r>
              <a:rPr lang="en-US" sz="1400" dirty="0">
                <a:solidFill>
                  <a:srgbClr val="16213A"/>
                </a:solidFill>
              </a:rPr>
              <a:t>Chịu trách nhiệm cuối cùng</a:t>
            </a:r>
            <a:endParaRPr lang="en-US" sz="1400" dirty="0"/>
          </a:p>
        </p:txBody>
      </p:sp>
      <p:sp>
        <p:nvSpPr>
          <p:cNvPr id="12" name="Text 10"/>
          <p:cNvSpPr txBox="1"/>
          <p:nvPr/>
        </p:nvSpPr>
        <p:spPr>
          <a:xfrm>
            <a:off x="566928" y="6089904"/>
            <a:ext cx="11064240" cy="329184"/>
          </a:xfrm>
          <a:prstGeom prst="rect">
            <a:avLst/>
          </a:prstGeom>
          <a:noFill/>
          <a:ln/>
        </p:spPr>
        <p:txBody>
          <a:bodyPr wrap="square" lIns="0" tIns="0" rIns="0" bIns="0" rtlCol="0" anchor="ctr"/>
          <a:lstStyle/>
          <a:p>
            <a:pPr algn="ctr" indent="0" marL="0">
              <a:buNone/>
            </a:pPr>
            <a:r>
              <a:rPr lang="en-US" sz="1300" b="1" dirty="0">
                <a:solidFill>
                  <a:srgbClr val="065A82"/>
                </a:solidFill>
              </a:rPr>
              <a:t>Quy tắc thực hành: mọi con số trong báo cáo phải do bạn chạy mã tạo ra, không phải do AI đọc hộ rồi bạn chép.</a:t>
            </a:r>
            <a:endParaRPr lang="en-US" sz="130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800" b="1" dirty="0">
                <a:solidFill>
                  <a:srgbClr val="16213A"/>
                </a:solidFill>
              </a:rPr>
              <a:t>Quy trình năm bước</a:t>
            </a:r>
            <a:endParaRPr lang="en-US" sz="28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algn="l" indent="0" marL="0">
              <a:buNone/>
            </a:pPr>
            <a:r>
              <a:rPr lang="en-US" sz="1400" b="1" dirty="0">
                <a:solidFill>
                  <a:srgbClr val="1C7293"/>
                </a:solidFill>
              </a:rPr>
              <a:t>Xương sống của khóa học — mỗi bước là một buổi</a:t>
            </a:r>
            <a:endParaRPr lang="en-US" sz="1400" dirty="0"/>
          </a:p>
        </p:txBody>
      </p:sp>
      <p:sp>
        <p:nvSpPr>
          <p:cNvPr id="4" name="c13"/>
          <p:cNvSpPr/>
          <p:nvPr/>
        </p:nvSpPr>
        <p:spPr>
          <a:xfrm>
            <a:off x="566928" y="1664208"/>
            <a:ext cx="11064240" cy="804672"/>
          </a:xfrm>
          <a:prstGeom prst="roundRect">
            <a:avLst>
              <a:gd name="adj" fmla="val 11364"/>
            </a:avLst>
          </a:prstGeom>
          <a:solidFill>
            <a:srgbClr val="EEF3F7"/>
          </a:solidFill>
          <a:ln/>
        </p:spPr>
      </p:sp>
      <p:sp>
        <p:nvSpPr>
          <p:cNvPr id="5" name="d7"/>
          <p:cNvSpPr/>
          <p:nvPr/>
        </p:nvSpPr>
        <p:spPr>
          <a:xfrm>
            <a:off x="822960" y="1847088"/>
            <a:ext cx="438912" cy="438912"/>
          </a:xfrm>
          <a:prstGeom prst="ellipse">
            <a:avLst/>
          </a:prstGeom>
          <a:solidFill>
            <a:srgbClr val="065A82"/>
          </a:solidFill>
          <a:ln/>
        </p:spPr>
      </p:sp>
      <p:sp>
        <p:nvSpPr>
          <p:cNvPr id="6" name="Text 4"/>
          <p:cNvSpPr txBox="1"/>
          <p:nvPr/>
        </p:nvSpPr>
        <p:spPr>
          <a:xfrm>
            <a:off x="822960" y="184708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5"/>
          <p:cNvSpPr txBox="1"/>
          <p:nvPr/>
        </p:nvSpPr>
        <p:spPr>
          <a:xfrm>
            <a:off x="1444752" y="1719072"/>
            <a:ext cx="2651760" cy="329184"/>
          </a:xfrm>
          <a:prstGeom prst="rect">
            <a:avLst/>
          </a:prstGeom>
          <a:noFill/>
          <a:ln/>
        </p:spPr>
        <p:txBody>
          <a:bodyPr wrap="square" lIns="0" tIns="0" rIns="0" bIns="0" rtlCol="0" anchor="ctr"/>
          <a:lstStyle/>
          <a:p>
            <a:pPr indent="0" marL="0">
              <a:buNone/>
            </a:pPr>
            <a:r>
              <a:rPr lang="en-US" sz="1500" b="1" dirty="0">
                <a:solidFill>
                  <a:srgbClr val="16213A"/>
                </a:solidFill>
              </a:rPr>
              <a:t>Khám phá</a:t>
            </a:r>
            <a:endParaRPr lang="en-US" sz="1500" dirty="0"/>
          </a:p>
        </p:txBody>
      </p:sp>
      <p:sp>
        <p:nvSpPr>
          <p:cNvPr id="8" name="Text 6"/>
          <p:cNvSpPr txBox="1"/>
          <p:nvPr/>
        </p:nvSpPr>
        <p:spPr>
          <a:xfrm>
            <a:off x="4178808" y="1719072"/>
            <a:ext cx="7223760" cy="694944"/>
          </a:xfrm>
          <a:prstGeom prst="rect">
            <a:avLst/>
          </a:prstGeom>
          <a:noFill/>
          <a:ln/>
        </p:spPr>
        <p:txBody>
          <a:bodyPr wrap="square" lIns="0" tIns="0" rIns="0" bIns="0" rtlCol="0" anchor="ctr"/>
          <a:lstStyle/>
          <a:p>
            <a:pPr indent="0" marL="0">
              <a:lnSpc>
                <a:spcPts val="1400"/>
              </a:lnSpc>
              <a:buNone/>
            </a:pPr>
            <a:r>
              <a:rPr lang="en-US" sz="1250" dirty="0">
                <a:solidFill>
                  <a:srgbClr val="6D7A8C"/>
                </a:solidFill>
              </a:rPr>
              <a:t>Hiểu bộ dữ liệu có gì: bao nhiêu dòng, bao nhiêu cột, mỗi cột nghĩa là gì</a:t>
            </a:r>
            <a:endParaRPr lang="en-US" sz="1250" dirty="0"/>
          </a:p>
        </p:txBody>
      </p:sp>
      <p:sp>
        <p:nvSpPr>
          <p:cNvPr id="9" name="c14"/>
          <p:cNvSpPr/>
          <p:nvPr/>
        </p:nvSpPr>
        <p:spPr>
          <a:xfrm>
            <a:off x="566928" y="2578608"/>
            <a:ext cx="11064240" cy="804672"/>
          </a:xfrm>
          <a:prstGeom prst="roundRect">
            <a:avLst>
              <a:gd name="adj" fmla="val 11364"/>
            </a:avLst>
          </a:prstGeom>
          <a:solidFill>
            <a:srgbClr val="EEF3F7"/>
          </a:solidFill>
          <a:ln/>
        </p:spPr>
      </p:sp>
      <p:sp>
        <p:nvSpPr>
          <p:cNvPr id="10" name="d8"/>
          <p:cNvSpPr/>
          <p:nvPr/>
        </p:nvSpPr>
        <p:spPr>
          <a:xfrm>
            <a:off x="822960" y="2761488"/>
            <a:ext cx="438912" cy="438912"/>
          </a:xfrm>
          <a:prstGeom prst="ellipse">
            <a:avLst/>
          </a:prstGeom>
          <a:solidFill>
            <a:srgbClr val="1C7293"/>
          </a:solidFill>
          <a:ln/>
        </p:spPr>
      </p:sp>
      <p:sp>
        <p:nvSpPr>
          <p:cNvPr id="11" name="Text 9"/>
          <p:cNvSpPr txBox="1"/>
          <p:nvPr/>
        </p:nvSpPr>
        <p:spPr>
          <a:xfrm>
            <a:off x="822960" y="276148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Text 10"/>
          <p:cNvSpPr txBox="1"/>
          <p:nvPr/>
        </p:nvSpPr>
        <p:spPr>
          <a:xfrm>
            <a:off x="1444752" y="2633472"/>
            <a:ext cx="2651760" cy="329184"/>
          </a:xfrm>
          <a:prstGeom prst="rect">
            <a:avLst/>
          </a:prstGeom>
          <a:noFill/>
          <a:ln/>
        </p:spPr>
        <p:txBody>
          <a:bodyPr wrap="square" lIns="0" tIns="0" rIns="0" bIns="0" rtlCol="0" anchor="ctr"/>
          <a:lstStyle/>
          <a:p>
            <a:pPr indent="0" marL="0">
              <a:buNone/>
            </a:pPr>
            <a:r>
              <a:rPr lang="en-US" sz="1500" b="1" dirty="0">
                <a:solidFill>
                  <a:srgbClr val="16213A"/>
                </a:solidFill>
              </a:rPr>
              <a:t>Tiền xử lý</a:t>
            </a:r>
            <a:endParaRPr lang="en-US" sz="1500" dirty="0"/>
          </a:p>
        </p:txBody>
      </p:sp>
      <p:sp>
        <p:nvSpPr>
          <p:cNvPr id="13" name="Text 11"/>
          <p:cNvSpPr txBox="1"/>
          <p:nvPr/>
        </p:nvSpPr>
        <p:spPr>
          <a:xfrm>
            <a:off x="4178808" y="2633472"/>
            <a:ext cx="7223760" cy="694944"/>
          </a:xfrm>
          <a:prstGeom prst="rect">
            <a:avLst/>
          </a:prstGeom>
          <a:noFill/>
          <a:ln/>
        </p:spPr>
        <p:txBody>
          <a:bodyPr wrap="square" lIns="0" tIns="0" rIns="0" bIns="0" rtlCol="0" anchor="ctr"/>
          <a:lstStyle/>
          <a:p>
            <a:pPr indent="0" marL="0">
              <a:lnSpc>
                <a:spcPts val="1400"/>
              </a:lnSpc>
              <a:buNone/>
            </a:pPr>
            <a:r>
              <a:rPr lang="en-US" sz="1250" dirty="0">
                <a:solidFill>
                  <a:srgbClr val="6D7A8C"/>
                </a:solidFill>
              </a:rPr>
              <a:t>Phát hiện và sửa lỗi: khuyết, trùng, sai thang đo, nhãn rác</a:t>
            </a:r>
            <a:endParaRPr lang="en-US" sz="1250" dirty="0"/>
          </a:p>
        </p:txBody>
      </p:sp>
      <p:sp>
        <p:nvSpPr>
          <p:cNvPr id="14" name="c15"/>
          <p:cNvSpPr/>
          <p:nvPr/>
        </p:nvSpPr>
        <p:spPr>
          <a:xfrm>
            <a:off x="566928" y="3493008"/>
            <a:ext cx="11064240" cy="804672"/>
          </a:xfrm>
          <a:prstGeom prst="roundRect">
            <a:avLst>
              <a:gd name="adj" fmla="val 11364"/>
            </a:avLst>
          </a:prstGeom>
          <a:solidFill>
            <a:srgbClr val="EEF3F7"/>
          </a:solidFill>
          <a:ln/>
        </p:spPr>
      </p:sp>
      <p:sp>
        <p:nvSpPr>
          <p:cNvPr id="15" name="d9"/>
          <p:cNvSpPr/>
          <p:nvPr/>
        </p:nvSpPr>
        <p:spPr>
          <a:xfrm>
            <a:off x="822960" y="3675888"/>
            <a:ext cx="438912" cy="438912"/>
          </a:xfrm>
          <a:prstGeom prst="ellipse">
            <a:avLst/>
          </a:prstGeom>
          <a:solidFill>
            <a:srgbClr val="2A78D6"/>
          </a:solidFill>
          <a:ln/>
        </p:spPr>
      </p:sp>
      <p:sp>
        <p:nvSpPr>
          <p:cNvPr id="16" name="Text 14"/>
          <p:cNvSpPr txBox="1"/>
          <p:nvPr/>
        </p:nvSpPr>
        <p:spPr>
          <a:xfrm>
            <a:off x="822960" y="367588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Text 15"/>
          <p:cNvSpPr txBox="1"/>
          <p:nvPr/>
        </p:nvSpPr>
        <p:spPr>
          <a:xfrm>
            <a:off x="1444752" y="3547872"/>
            <a:ext cx="2651760" cy="329184"/>
          </a:xfrm>
          <a:prstGeom prst="rect">
            <a:avLst/>
          </a:prstGeom>
          <a:noFill/>
          <a:ln/>
        </p:spPr>
        <p:txBody>
          <a:bodyPr wrap="square" lIns="0" tIns="0" rIns="0" bIns="0" rtlCol="0" anchor="ctr"/>
          <a:lstStyle/>
          <a:p>
            <a:pPr indent="0" marL="0">
              <a:buNone/>
            </a:pPr>
            <a:r>
              <a:rPr lang="en-US" sz="1500" b="1" dirty="0">
                <a:solidFill>
                  <a:srgbClr val="16213A"/>
                </a:solidFill>
              </a:rPr>
              <a:t>Trực quan hóa</a:t>
            </a:r>
            <a:endParaRPr lang="en-US" sz="1500" dirty="0"/>
          </a:p>
        </p:txBody>
      </p:sp>
      <p:sp>
        <p:nvSpPr>
          <p:cNvPr id="18" name="Text 16"/>
          <p:cNvSpPr txBox="1"/>
          <p:nvPr/>
        </p:nvSpPr>
        <p:spPr>
          <a:xfrm>
            <a:off x="4178808" y="3547872"/>
            <a:ext cx="7223760" cy="694944"/>
          </a:xfrm>
          <a:prstGeom prst="rect">
            <a:avLst/>
          </a:prstGeom>
          <a:noFill/>
          <a:ln/>
        </p:spPr>
        <p:txBody>
          <a:bodyPr wrap="square" lIns="0" tIns="0" rIns="0" bIns="0" rtlCol="0" anchor="ctr"/>
          <a:lstStyle/>
          <a:p>
            <a:pPr indent="0" marL="0">
              <a:lnSpc>
                <a:spcPts val="1400"/>
              </a:lnSpc>
              <a:buNone/>
            </a:pPr>
            <a:r>
              <a:rPr lang="en-US" sz="1250" dirty="0">
                <a:solidFill>
                  <a:srgbClr val="6D7A8C"/>
                </a:solidFill>
              </a:rPr>
              <a:t>Vẽ biểu đồ để thấy quy luật mà bảng số không cho thấy</a:t>
            </a:r>
            <a:endParaRPr lang="en-US" sz="1250" dirty="0"/>
          </a:p>
        </p:txBody>
      </p:sp>
      <p:sp>
        <p:nvSpPr>
          <p:cNvPr id="19" name="c16"/>
          <p:cNvSpPr/>
          <p:nvPr/>
        </p:nvSpPr>
        <p:spPr>
          <a:xfrm>
            <a:off x="566928" y="4407408"/>
            <a:ext cx="11064240" cy="804672"/>
          </a:xfrm>
          <a:prstGeom prst="roundRect">
            <a:avLst>
              <a:gd name="adj" fmla="val 11364"/>
            </a:avLst>
          </a:prstGeom>
          <a:solidFill>
            <a:srgbClr val="EEF3F7"/>
          </a:solidFill>
          <a:ln/>
        </p:spPr>
      </p:sp>
      <p:sp>
        <p:nvSpPr>
          <p:cNvPr id="20" name="d10"/>
          <p:cNvSpPr/>
          <p:nvPr/>
        </p:nvSpPr>
        <p:spPr>
          <a:xfrm>
            <a:off x="822960" y="4590288"/>
            <a:ext cx="438912" cy="438912"/>
          </a:xfrm>
          <a:prstGeom prst="ellipse">
            <a:avLst/>
          </a:prstGeom>
          <a:solidFill>
            <a:srgbClr val="EDA100"/>
          </a:solidFill>
          <a:ln/>
        </p:spPr>
      </p:sp>
      <p:sp>
        <p:nvSpPr>
          <p:cNvPr id="21" name="Text 19"/>
          <p:cNvSpPr txBox="1"/>
          <p:nvPr/>
        </p:nvSpPr>
        <p:spPr>
          <a:xfrm>
            <a:off x="822960" y="459028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2" name="Text 20"/>
          <p:cNvSpPr txBox="1"/>
          <p:nvPr/>
        </p:nvSpPr>
        <p:spPr>
          <a:xfrm>
            <a:off x="1444752" y="4462272"/>
            <a:ext cx="2651760" cy="329184"/>
          </a:xfrm>
          <a:prstGeom prst="rect">
            <a:avLst/>
          </a:prstGeom>
          <a:noFill/>
          <a:ln/>
        </p:spPr>
        <p:txBody>
          <a:bodyPr wrap="square" lIns="0" tIns="0" rIns="0" bIns="0" rtlCol="0" anchor="ctr"/>
          <a:lstStyle/>
          <a:p>
            <a:pPr indent="0" marL="0">
              <a:buNone/>
            </a:pPr>
            <a:r>
              <a:rPr lang="en-US" sz="1500" b="1" dirty="0">
                <a:solidFill>
                  <a:srgbClr val="16213A"/>
                </a:solidFill>
              </a:rPr>
              <a:t>Rút tri thức</a:t>
            </a:r>
            <a:endParaRPr lang="en-US" sz="1500" dirty="0"/>
          </a:p>
        </p:txBody>
      </p:sp>
      <p:sp>
        <p:nvSpPr>
          <p:cNvPr id="23" name="Text 21"/>
          <p:cNvSpPr txBox="1"/>
          <p:nvPr/>
        </p:nvSpPr>
        <p:spPr>
          <a:xfrm>
            <a:off x="4178808" y="4462272"/>
            <a:ext cx="7223760" cy="694944"/>
          </a:xfrm>
          <a:prstGeom prst="rect">
            <a:avLst/>
          </a:prstGeom>
          <a:noFill/>
          <a:ln/>
        </p:spPr>
        <p:txBody>
          <a:bodyPr wrap="square" lIns="0" tIns="0" rIns="0" bIns="0" rtlCol="0" anchor="ctr"/>
          <a:lstStyle/>
          <a:p>
            <a:pPr indent="0" marL="0">
              <a:lnSpc>
                <a:spcPts val="1400"/>
              </a:lnSpc>
              <a:buNone/>
            </a:pPr>
            <a:r>
              <a:rPr lang="en-US" sz="1250" dirty="0">
                <a:solidFill>
                  <a:srgbClr val="6D7A8C"/>
                </a:solidFill>
              </a:rPr>
              <a:t>Chuyển từ con số sang kết luận có ý nghĩa, rồi kiểm chứng</a:t>
            </a:r>
            <a:endParaRPr lang="en-US" sz="1250" dirty="0"/>
          </a:p>
        </p:txBody>
      </p:sp>
      <p:sp>
        <p:nvSpPr>
          <p:cNvPr id="24" name="c17"/>
          <p:cNvSpPr/>
          <p:nvPr/>
        </p:nvSpPr>
        <p:spPr>
          <a:xfrm>
            <a:off x="566928" y="5321808"/>
            <a:ext cx="11064240" cy="804672"/>
          </a:xfrm>
          <a:prstGeom prst="roundRect">
            <a:avLst>
              <a:gd name="adj" fmla="val 11364"/>
            </a:avLst>
          </a:prstGeom>
          <a:solidFill>
            <a:srgbClr val="EEF3F7"/>
          </a:solidFill>
          <a:ln/>
        </p:spPr>
      </p:sp>
      <p:sp>
        <p:nvSpPr>
          <p:cNvPr id="25" name="d11"/>
          <p:cNvSpPr/>
          <p:nvPr/>
        </p:nvSpPr>
        <p:spPr>
          <a:xfrm>
            <a:off x="822960" y="5504688"/>
            <a:ext cx="438912" cy="438912"/>
          </a:xfrm>
          <a:prstGeom prst="ellipse">
            <a:avLst/>
          </a:prstGeom>
          <a:solidFill>
            <a:srgbClr val="1BAF7A"/>
          </a:solidFill>
          <a:ln/>
        </p:spPr>
      </p:sp>
      <p:sp>
        <p:nvSpPr>
          <p:cNvPr id="26" name="Text 24"/>
          <p:cNvSpPr txBox="1"/>
          <p:nvPr/>
        </p:nvSpPr>
        <p:spPr>
          <a:xfrm>
            <a:off x="822960" y="550468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7" name="Text 25"/>
          <p:cNvSpPr txBox="1"/>
          <p:nvPr/>
        </p:nvSpPr>
        <p:spPr>
          <a:xfrm>
            <a:off x="1444752" y="5376672"/>
            <a:ext cx="2651760" cy="329184"/>
          </a:xfrm>
          <a:prstGeom prst="rect">
            <a:avLst/>
          </a:prstGeom>
          <a:noFill/>
          <a:ln/>
        </p:spPr>
        <p:txBody>
          <a:bodyPr wrap="square" lIns="0" tIns="0" rIns="0" bIns="0" rtlCol="0" anchor="ctr"/>
          <a:lstStyle/>
          <a:p>
            <a:pPr indent="0" marL="0">
              <a:buNone/>
            </a:pPr>
            <a:r>
              <a:rPr lang="en-US" sz="1500" b="1" dirty="0">
                <a:solidFill>
                  <a:srgbClr val="16213A"/>
                </a:solidFill>
              </a:rPr>
              <a:t>Trình bày</a:t>
            </a:r>
            <a:endParaRPr lang="en-US" sz="1500" dirty="0"/>
          </a:p>
        </p:txBody>
      </p:sp>
      <p:sp>
        <p:nvSpPr>
          <p:cNvPr id="28" name="Text 26"/>
          <p:cNvSpPr txBox="1"/>
          <p:nvPr/>
        </p:nvSpPr>
        <p:spPr>
          <a:xfrm>
            <a:off x="4178808" y="5376672"/>
            <a:ext cx="7223760" cy="694944"/>
          </a:xfrm>
          <a:prstGeom prst="rect">
            <a:avLst/>
          </a:prstGeom>
          <a:noFill/>
          <a:ln/>
        </p:spPr>
        <p:txBody>
          <a:bodyPr wrap="square" lIns="0" tIns="0" rIns="0" bIns="0" rtlCol="0" anchor="ctr"/>
          <a:lstStyle/>
          <a:p>
            <a:pPr indent="0" marL="0">
              <a:lnSpc>
                <a:spcPts val="1400"/>
              </a:lnSpc>
              <a:buNone/>
            </a:pPr>
            <a:r>
              <a:rPr lang="en-US" sz="1250" dirty="0">
                <a:solidFill>
                  <a:srgbClr val="6D7A8C"/>
                </a:solidFill>
              </a:rPr>
              <a:t>Kể lại câu chuyện cho người khác hiểu, kèm hạn chế</a:t>
            </a:r>
            <a:endParaRPr lang="en-US" sz="125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ph idx="100" type="body" hasCustomPrompt="1"/>
          </p:nvPr>
        </p:nvSpPr>
        <p:spPr>
          <a:xfrm>
            <a:off x="841248" y="2560320"/>
            <a:ext cx="10424160" cy="411480"/>
          </a:xfrm>
          <a:prstGeom prst="rect">
            <a:avLst/>
          </a:prstGeom>
          <a:noFill/>
          <a:ln/>
        </p:spPr>
        <p:txBody>
          <a:bodyPr wrap="square" rtlCol="0"/>
          <a:lstStyle/>
          <a:p>
            <a:pPr algn="l" indent="0" marL="0">
              <a:buNone/>
            </a:pPr>
            <a:r>
              <a:rPr lang="en-US" sz="1600" b="1" spc="300" kern="0" dirty="0">
                <a:solidFill>
                  <a:srgbClr val="9FD2E8"/>
                </a:solidFill>
              </a:rPr>
              <a:t>BƯỚC 1 VÀ 2</a:t>
            </a:r>
            <a:endParaRPr lang="en-US" sz="1600" dirty="0"/>
          </a:p>
        </p:txBody>
      </p:sp>
      <p:sp>
        <p:nvSpPr>
          <p:cNvPr id="3" name="Text 0"/>
          <p:cNvSpPr txBox="1"/>
          <p:nvPr>
            <p:ph idx="101" type="title" hasCustomPrompt="1"/>
          </p:nvPr>
        </p:nvSpPr>
        <p:spPr>
          <a:xfrm>
            <a:off x="841248" y="3017520"/>
            <a:ext cx="10424160" cy="1005840"/>
          </a:xfrm>
          <a:prstGeom prst="rect">
            <a:avLst/>
          </a:prstGeom>
          <a:noFill/>
          <a:ln/>
        </p:spPr>
        <p:txBody>
          <a:bodyPr wrap="square" rtlCol="0"/>
          <a:lstStyle/>
          <a:p>
            <a:pPr algn="l" indent="0" marL="0">
              <a:buNone/>
            </a:pPr>
            <a:r>
              <a:rPr lang="en-US" sz="3600" b="1" dirty="0">
                <a:solidFill>
                  <a:srgbClr val="FFFFFF"/>
                </a:solidFill>
              </a:rPr>
              <a:t>Khám phá và làm sạch dữ liệu</a:t>
            </a:r>
            <a:endParaRPr lang="en-US" sz="3600" dirty="0"/>
          </a:p>
        </p:txBody>
      </p:sp>
      <p:sp>
        <p:nvSpPr>
          <p:cNvPr id="4" name="Text 0"/>
          <p:cNvSpPr txBox="1"/>
          <p:nvPr>
            <p:ph idx="102" type="body" hasCustomPrompt="1"/>
          </p:nvPr>
        </p:nvSpPr>
        <p:spPr>
          <a:xfrm>
            <a:off x="841248" y="4069080"/>
            <a:ext cx="10424160" cy="822960"/>
          </a:xfrm>
          <a:prstGeom prst="rect">
            <a:avLst/>
          </a:prstGeom>
          <a:noFill/>
          <a:ln/>
        </p:spPr>
        <p:txBody>
          <a:bodyPr wrap="square" rtlCol="0"/>
          <a:lstStyle/>
          <a:p>
            <a:pPr algn="l" indent="0" marL="0">
              <a:buNone/>
            </a:pPr>
            <a:r>
              <a:rPr lang="en-US" sz="1500" dirty="0">
                <a:solidFill>
                  <a:srgbClr val="C9E4F2"/>
                </a:solidFill>
              </a:rPr>
              <a:t>Phần tốn 60–80% thời gian của người làm dữ liệu chuyên nghiệp</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800" b="1" dirty="0">
                <a:solidFill>
                  <a:srgbClr val="16213A"/>
                </a:solidFill>
              </a:rPr>
              <a:t>Bốn loại biến — kiến thức nền quan trọng nhất</a:t>
            </a:r>
            <a:endParaRPr lang="en-US" sz="28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algn="l" indent="0" marL="0">
              <a:buNone/>
            </a:pPr>
            <a:r>
              <a:rPr lang="en-US" sz="1400" b="1" dirty="0">
                <a:solidFill>
                  <a:srgbClr val="1C7293"/>
                </a:solidFill>
              </a:rPr>
              <a:t>Biết biến thuộc loại nào quyết định bạn vẽ biểu đồ gì</a:t>
            </a:r>
            <a:endParaRPr lang="en-US" sz="1400" dirty="0"/>
          </a:p>
        </p:txBody>
      </p:sp>
      <p:sp>
        <p:nvSpPr>
          <p:cNvPr id="4" name="c18"/>
          <p:cNvSpPr/>
          <p:nvPr/>
        </p:nvSpPr>
        <p:spPr>
          <a:xfrm>
            <a:off x="566928" y="1645920"/>
            <a:ext cx="5394960" cy="1920240"/>
          </a:xfrm>
          <a:prstGeom prst="roundRect">
            <a:avLst>
              <a:gd name="adj" fmla="val 4762"/>
            </a:avLst>
          </a:prstGeom>
          <a:solidFill>
            <a:srgbClr val="EEF3F7"/>
          </a:solidFill>
          <a:ln/>
        </p:spPr>
      </p:sp>
      <p:sp>
        <p:nvSpPr>
          <p:cNvPr id="5" name="d12"/>
          <p:cNvSpPr/>
          <p:nvPr/>
        </p:nvSpPr>
        <p:spPr>
          <a:xfrm>
            <a:off x="786384" y="1847088"/>
            <a:ext cx="420624" cy="420624"/>
          </a:xfrm>
          <a:prstGeom prst="ellipse">
            <a:avLst/>
          </a:prstGeom>
          <a:solidFill>
            <a:srgbClr val="065A82"/>
          </a:solidFill>
          <a:ln/>
        </p:spPr>
      </p:sp>
      <p:sp>
        <p:nvSpPr>
          <p:cNvPr id="6" name="Text 4"/>
          <p:cNvSpPr txBox="1"/>
          <p:nvPr/>
        </p:nvSpPr>
        <p:spPr>
          <a:xfrm>
            <a:off x="786384" y="18470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5"/>
          <p:cNvSpPr txBox="1"/>
          <p:nvPr/>
        </p:nvSpPr>
        <p:spPr>
          <a:xfrm>
            <a:off x="1316736" y="1828800"/>
            <a:ext cx="4425696" cy="457200"/>
          </a:xfrm>
          <a:prstGeom prst="rect">
            <a:avLst/>
          </a:prstGeom>
          <a:noFill/>
          <a:ln/>
        </p:spPr>
        <p:txBody>
          <a:bodyPr wrap="square" lIns="0" tIns="0" rIns="0" bIns="0" rtlCol="0" anchor="ctr"/>
          <a:lstStyle/>
          <a:p>
            <a:pPr indent="0" marL="0">
              <a:lnSpc>
                <a:spcPts val="1500"/>
              </a:lnSpc>
              <a:buNone/>
            </a:pPr>
            <a:r>
              <a:rPr lang="en-US" sz="1350" b="1" dirty="0">
                <a:solidFill>
                  <a:srgbClr val="16213A"/>
                </a:solidFill>
              </a:rPr>
              <a:t>Biến số liên tục</a:t>
            </a:r>
            <a:endParaRPr lang="en-US" sz="1350" dirty="0"/>
          </a:p>
        </p:txBody>
      </p:sp>
      <p:sp>
        <p:nvSpPr>
          <p:cNvPr id="8" name="Text 6"/>
          <p:cNvSpPr txBox="1"/>
          <p:nvPr/>
        </p:nvSpPr>
        <p:spPr>
          <a:xfrm>
            <a:off x="786384" y="2377440"/>
            <a:ext cx="4956048" cy="102412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Đo được, có giá trị lẻ. Tuổi 21,5 · điểm 7,85 · chiều cao.</a:t>
            </a:r>
            <a:endParaRPr lang="en-US" sz="1050" dirty="0"/>
          </a:p>
          <a:p>
            <a:pPr indent="0" marL="0">
              <a:lnSpc>
                <a:spcPts val="1250"/>
              </a:lnSpc>
              <a:buNone/>
            </a:pPr>
            <a:r>
              <a:rPr lang="en-US" sz="1050" dirty="0">
                <a:solidFill>
                  <a:srgbClr val="6D7A8C"/>
                </a:solidFill>
              </a:rPr>
              <a:t>Vẽ: biểu đồ phân bố.</a:t>
            </a:r>
            <a:endParaRPr lang="en-US" sz="1050" dirty="0"/>
          </a:p>
        </p:txBody>
      </p:sp>
      <p:sp>
        <p:nvSpPr>
          <p:cNvPr id="9" name="c19"/>
          <p:cNvSpPr/>
          <p:nvPr/>
        </p:nvSpPr>
        <p:spPr>
          <a:xfrm>
            <a:off x="6236208" y="1645920"/>
            <a:ext cx="5394960" cy="1920240"/>
          </a:xfrm>
          <a:prstGeom prst="roundRect">
            <a:avLst>
              <a:gd name="adj" fmla="val 4762"/>
            </a:avLst>
          </a:prstGeom>
          <a:solidFill>
            <a:srgbClr val="EEF3F7"/>
          </a:solidFill>
          <a:ln/>
        </p:spPr>
      </p:sp>
      <p:sp>
        <p:nvSpPr>
          <p:cNvPr id="10" name="d13"/>
          <p:cNvSpPr/>
          <p:nvPr/>
        </p:nvSpPr>
        <p:spPr>
          <a:xfrm>
            <a:off x="6455664" y="1847088"/>
            <a:ext cx="420624" cy="420624"/>
          </a:xfrm>
          <a:prstGeom prst="ellipse">
            <a:avLst/>
          </a:prstGeom>
          <a:solidFill>
            <a:srgbClr val="1C7293"/>
          </a:solidFill>
          <a:ln/>
        </p:spPr>
      </p:sp>
      <p:sp>
        <p:nvSpPr>
          <p:cNvPr id="11" name="Text 9"/>
          <p:cNvSpPr txBox="1"/>
          <p:nvPr/>
        </p:nvSpPr>
        <p:spPr>
          <a:xfrm>
            <a:off x="6455664" y="18470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Text 10"/>
          <p:cNvSpPr txBox="1"/>
          <p:nvPr/>
        </p:nvSpPr>
        <p:spPr>
          <a:xfrm>
            <a:off x="6986016" y="1828800"/>
            <a:ext cx="4425696" cy="457200"/>
          </a:xfrm>
          <a:prstGeom prst="rect">
            <a:avLst/>
          </a:prstGeom>
          <a:noFill/>
          <a:ln/>
        </p:spPr>
        <p:txBody>
          <a:bodyPr wrap="square" lIns="0" tIns="0" rIns="0" bIns="0" rtlCol="0" anchor="ctr"/>
          <a:lstStyle/>
          <a:p>
            <a:pPr indent="0" marL="0">
              <a:lnSpc>
                <a:spcPts val="1500"/>
              </a:lnSpc>
              <a:buNone/>
            </a:pPr>
            <a:r>
              <a:rPr lang="en-US" sz="1350" b="1" dirty="0">
                <a:solidFill>
                  <a:srgbClr val="16213A"/>
                </a:solidFill>
              </a:rPr>
              <a:t>Biến phân loại</a:t>
            </a:r>
            <a:endParaRPr lang="en-US" sz="1350" dirty="0"/>
          </a:p>
        </p:txBody>
      </p:sp>
      <p:sp>
        <p:nvSpPr>
          <p:cNvPr id="13" name="Text 11"/>
          <p:cNvSpPr txBox="1"/>
          <p:nvPr/>
        </p:nvSpPr>
        <p:spPr>
          <a:xfrm>
            <a:off x="6455664" y="2377440"/>
            <a:ext cx="4956048" cy="102412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Tên gọi, không có thứ tự. Giới tính · thành phố · ngành học.</a:t>
            </a:r>
            <a:endParaRPr lang="en-US" sz="1050" dirty="0"/>
          </a:p>
          <a:p>
            <a:pPr indent="0" marL="0">
              <a:lnSpc>
                <a:spcPts val="1250"/>
              </a:lnSpc>
              <a:buNone/>
            </a:pPr>
            <a:r>
              <a:rPr lang="en-US" sz="1050" dirty="0">
                <a:solidFill>
                  <a:srgbClr val="6D7A8C"/>
                </a:solidFill>
              </a:rPr>
              <a:t>Vẽ: biểu đồ cột.</a:t>
            </a:r>
            <a:endParaRPr lang="en-US" sz="1050" dirty="0"/>
          </a:p>
        </p:txBody>
      </p:sp>
      <p:sp>
        <p:nvSpPr>
          <p:cNvPr id="14" name="c20"/>
          <p:cNvSpPr/>
          <p:nvPr/>
        </p:nvSpPr>
        <p:spPr>
          <a:xfrm>
            <a:off x="566928" y="3895344"/>
            <a:ext cx="5394960" cy="1920240"/>
          </a:xfrm>
          <a:prstGeom prst="roundRect">
            <a:avLst>
              <a:gd name="adj" fmla="val 4762"/>
            </a:avLst>
          </a:prstGeom>
          <a:solidFill>
            <a:srgbClr val="EEF3F7"/>
          </a:solidFill>
          <a:ln/>
        </p:spPr>
      </p:sp>
      <p:sp>
        <p:nvSpPr>
          <p:cNvPr id="15" name="d14"/>
          <p:cNvSpPr/>
          <p:nvPr/>
        </p:nvSpPr>
        <p:spPr>
          <a:xfrm>
            <a:off x="786384" y="4096512"/>
            <a:ext cx="420624" cy="420624"/>
          </a:xfrm>
          <a:prstGeom prst="ellipse">
            <a:avLst/>
          </a:prstGeom>
          <a:solidFill>
            <a:srgbClr val="2A78D6"/>
          </a:solidFill>
          <a:ln/>
        </p:spPr>
      </p:sp>
      <p:sp>
        <p:nvSpPr>
          <p:cNvPr id="16" name="Text 14"/>
          <p:cNvSpPr txBox="1"/>
          <p:nvPr/>
        </p:nvSpPr>
        <p:spPr>
          <a:xfrm>
            <a:off x="786384" y="40965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Text 15"/>
          <p:cNvSpPr txBox="1"/>
          <p:nvPr/>
        </p:nvSpPr>
        <p:spPr>
          <a:xfrm>
            <a:off x="1316736" y="4078224"/>
            <a:ext cx="4425696" cy="457200"/>
          </a:xfrm>
          <a:prstGeom prst="rect">
            <a:avLst/>
          </a:prstGeom>
          <a:noFill/>
          <a:ln/>
        </p:spPr>
        <p:txBody>
          <a:bodyPr wrap="square" lIns="0" tIns="0" rIns="0" bIns="0" rtlCol="0" anchor="ctr"/>
          <a:lstStyle/>
          <a:p>
            <a:pPr indent="0" marL="0">
              <a:lnSpc>
                <a:spcPts val="1500"/>
              </a:lnSpc>
              <a:buNone/>
            </a:pPr>
            <a:r>
              <a:rPr lang="en-US" sz="1350" b="1" dirty="0">
                <a:solidFill>
                  <a:srgbClr val="16213A"/>
                </a:solidFill>
              </a:rPr>
              <a:t>Biến thứ bậc</a:t>
            </a:r>
            <a:endParaRPr lang="en-US" sz="1350" dirty="0"/>
          </a:p>
        </p:txBody>
      </p:sp>
      <p:sp>
        <p:nvSpPr>
          <p:cNvPr id="18" name="Text 16"/>
          <p:cNvSpPr txBox="1"/>
          <p:nvPr/>
        </p:nvSpPr>
        <p:spPr>
          <a:xfrm>
            <a:off x="786384" y="4626864"/>
            <a:ext cx="4956048" cy="102412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Có thứ tự, khoảng cách không đều. Mức áp lực 1–5.</a:t>
            </a:r>
            <a:endParaRPr lang="en-US" sz="1050" dirty="0"/>
          </a:p>
          <a:p>
            <a:pPr indent="0" marL="0">
              <a:lnSpc>
                <a:spcPts val="1250"/>
              </a:lnSpc>
              <a:buNone/>
            </a:pPr>
            <a:r>
              <a:rPr lang="en-US" sz="1050" dirty="0">
                <a:solidFill>
                  <a:srgbClr val="6D7A8C"/>
                </a:solidFill>
              </a:rPr>
              <a:t>Vẽ: cột theo đúng thứ tự.</a:t>
            </a:r>
            <a:endParaRPr lang="en-US" sz="1050" dirty="0"/>
          </a:p>
        </p:txBody>
      </p:sp>
      <p:sp>
        <p:nvSpPr>
          <p:cNvPr id="19" name="c21"/>
          <p:cNvSpPr/>
          <p:nvPr/>
        </p:nvSpPr>
        <p:spPr>
          <a:xfrm>
            <a:off x="6236208" y="3895344"/>
            <a:ext cx="5394960" cy="1920240"/>
          </a:xfrm>
          <a:prstGeom prst="roundRect">
            <a:avLst>
              <a:gd name="adj" fmla="val 4762"/>
            </a:avLst>
          </a:prstGeom>
          <a:solidFill>
            <a:srgbClr val="EEF3F7"/>
          </a:solidFill>
          <a:ln/>
        </p:spPr>
      </p:sp>
      <p:sp>
        <p:nvSpPr>
          <p:cNvPr id="20" name="d15"/>
          <p:cNvSpPr/>
          <p:nvPr/>
        </p:nvSpPr>
        <p:spPr>
          <a:xfrm>
            <a:off x="6455664" y="4096512"/>
            <a:ext cx="420624" cy="420624"/>
          </a:xfrm>
          <a:prstGeom prst="ellipse">
            <a:avLst/>
          </a:prstGeom>
          <a:solidFill>
            <a:srgbClr val="1BAF7A"/>
          </a:solidFill>
          <a:ln/>
        </p:spPr>
      </p:sp>
      <p:sp>
        <p:nvSpPr>
          <p:cNvPr id="21" name="Text 19"/>
          <p:cNvSpPr txBox="1"/>
          <p:nvPr/>
        </p:nvSpPr>
        <p:spPr>
          <a:xfrm>
            <a:off x="6455664" y="40965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2" name="Text 20"/>
          <p:cNvSpPr txBox="1"/>
          <p:nvPr/>
        </p:nvSpPr>
        <p:spPr>
          <a:xfrm>
            <a:off x="6986016" y="4078224"/>
            <a:ext cx="4425696" cy="457200"/>
          </a:xfrm>
          <a:prstGeom prst="rect">
            <a:avLst/>
          </a:prstGeom>
          <a:noFill/>
          <a:ln/>
        </p:spPr>
        <p:txBody>
          <a:bodyPr wrap="square" lIns="0" tIns="0" rIns="0" bIns="0" rtlCol="0" anchor="ctr"/>
          <a:lstStyle/>
          <a:p>
            <a:pPr indent="0" marL="0">
              <a:lnSpc>
                <a:spcPts val="1500"/>
              </a:lnSpc>
              <a:buNone/>
            </a:pPr>
            <a:r>
              <a:rPr lang="en-US" sz="1350" b="1" dirty="0">
                <a:solidFill>
                  <a:srgbClr val="16213A"/>
                </a:solidFill>
              </a:rPr>
              <a:t>Biến nhị phân</a:t>
            </a:r>
            <a:endParaRPr lang="en-US" sz="1350" dirty="0"/>
          </a:p>
        </p:txBody>
      </p:sp>
      <p:sp>
        <p:nvSpPr>
          <p:cNvPr id="23" name="Text 21"/>
          <p:cNvSpPr txBox="1"/>
          <p:nvPr/>
        </p:nvSpPr>
        <p:spPr>
          <a:xfrm>
            <a:off x="6455664" y="4626864"/>
            <a:ext cx="4956048" cy="102412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Chỉ hai giá trị. Có/Không · Nam/Nữ.</a:t>
            </a:r>
            <a:endParaRPr lang="en-US" sz="1050" dirty="0"/>
          </a:p>
          <a:p>
            <a:pPr indent="0" marL="0">
              <a:lnSpc>
                <a:spcPts val="1250"/>
              </a:lnSpc>
              <a:buNone/>
            </a:pPr>
            <a:r>
              <a:rPr lang="en-US" sz="1050" dirty="0">
                <a:solidFill>
                  <a:srgbClr val="6D7A8C"/>
                </a:solidFill>
              </a:rPr>
              <a:t>Thường mã hóa thành 1/0.</a:t>
            </a:r>
            <a:endParaRPr lang="en-US" sz="1050" dirty="0"/>
          </a:p>
        </p:txBody>
      </p:sp>
      <p:sp>
        <p:nvSpPr>
          <p:cNvPr id="24" name="c22"/>
          <p:cNvSpPr/>
          <p:nvPr/>
        </p:nvSpPr>
        <p:spPr>
          <a:xfrm>
            <a:off x="566928" y="5614416"/>
            <a:ext cx="11064240" cy="621792"/>
          </a:xfrm>
          <a:prstGeom prst="roundRect">
            <a:avLst>
              <a:gd name="adj" fmla="val 14706"/>
            </a:avLst>
          </a:prstGeom>
          <a:solidFill>
            <a:srgbClr val="FDF3E0"/>
          </a:solidFill>
          <a:ln/>
        </p:spPr>
      </p:sp>
      <p:sp>
        <p:nvSpPr>
          <p:cNvPr id="25" name="Text 23"/>
          <p:cNvSpPr txBox="1"/>
          <p:nvPr/>
        </p:nvSpPr>
        <p:spPr>
          <a:xfrm>
            <a:off x="841248" y="5724144"/>
            <a:ext cx="10515600" cy="402336"/>
          </a:xfrm>
          <a:prstGeom prst="rect">
            <a:avLst/>
          </a:prstGeom>
          <a:noFill/>
          <a:ln/>
        </p:spPr>
        <p:txBody>
          <a:bodyPr wrap="square" lIns="0" tIns="0" rIns="0" bIns="0" rtlCol="0" anchor="ctr"/>
          <a:lstStyle/>
          <a:p>
            <a:pPr indent="0" marL="0">
              <a:buNone/>
            </a:pPr>
            <a:r>
              <a:rPr lang="en-US" sz="1250" b="1" dirty="0">
                <a:solidFill>
                  <a:srgbClr val="A86F00"/>
                </a:solidFill>
              </a:rPr>
              <a:t>Bẫy thường gặp:  </a:t>
            </a:r>
            <a:pPr indent="0" marL="0">
              <a:buNone/>
            </a:pPr>
            <a:r>
              <a:rPr lang="en-US" sz="1250" dirty="0">
                <a:solidFill>
                  <a:srgbClr val="16213A"/>
                </a:solidFill>
              </a:rPr>
              <a:t>một biến ghi bằng chữ số chưa chắc là biến số. Mã vùng 024, 028 là con số nhưng thực chất là biến phân loại — lấy trung bình mã vùng là vô nghĩa.</a:t>
            </a:r>
            <a:endParaRPr lang="en-US" sz="125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800" b="1" dirty="0">
                <a:solidFill>
                  <a:srgbClr val="16213A"/>
                </a:solidFill>
              </a:rPr>
              <a:t>Mẫu câu lệnh cho bước khám phá</a:t>
            </a:r>
            <a:endParaRPr lang="en-US" sz="28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algn="l" indent="0" marL="0">
              <a:buNone/>
            </a:pPr>
            <a:r>
              <a:rPr lang="en-US" sz="1400" b="1" dirty="0">
                <a:solidFill>
                  <a:srgbClr val="1C7293"/>
                </a:solidFill>
              </a:rPr>
              <a:t>Chép và dùng ngay — phần trong ngoặc vuông là chỗ bạn thay</a:t>
            </a:r>
            <a:endParaRPr lang="en-US" sz="1400" dirty="0"/>
          </a:p>
        </p:txBody>
      </p:sp>
      <p:sp>
        <p:nvSpPr>
          <p:cNvPr id="4" name="c23"/>
          <p:cNvSpPr/>
          <p:nvPr/>
        </p:nvSpPr>
        <p:spPr>
          <a:xfrm>
            <a:off x="566928" y="1627632"/>
            <a:ext cx="6858000" cy="4023360"/>
          </a:xfrm>
          <a:prstGeom prst="roundRect">
            <a:avLst>
              <a:gd name="adj" fmla="val 2273"/>
            </a:avLst>
          </a:prstGeom>
          <a:solidFill>
            <a:srgbClr val="16213A"/>
          </a:solidFill>
          <a:ln/>
        </p:spPr>
      </p:sp>
      <p:sp>
        <p:nvSpPr>
          <p:cNvPr id="5" name="Text 3"/>
          <p:cNvSpPr txBox="1"/>
          <p:nvPr/>
        </p:nvSpPr>
        <p:spPr>
          <a:xfrm>
            <a:off x="841248" y="1883664"/>
            <a:ext cx="6309360" cy="3657600"/>
          </a:xfrm>
          <a:prstGeom prst="rect">
            <a:avLst/>
          </a:prstGeom>
          <a:noFill/>
          <a:ln/>
        </p:spPr>
        <p:txBody>
          <a:bodyPr wrap="square" lIns="0" tIns="0" rIns="0" bIns="0" rtlCol="0" anchor="t"/>
          <a:lstStyle/>
          <a:p>
            <a:pPr indent="0" marL="0">
              <a:lnSpc>
                <a:spcPts val="1900"/>
              </a:lnSpc>
              <a:buNone/>
            </a:pPr>
            <a:r>
              <a:rPr lang="en-US" sz="1350" dirty="0">
                <a:solidFill>
                  <a:srgbClr val="D7E5F0"/>
                </a:solidFill>
              </a:rPr>
              <a:t>Tôi đính kèm tệp [tên tệp].csv. Hãy giúp tôi khám phá</a:t>
            </a:r>
            <a:endParaRPr lang="en-US" sz="1350" dirty="0"/>
          </a:p>
          <a:p>
            <a:pPr indent="0" marL="0">
              <a:lnSpc>
                <a:spcPts val="1900"/>
              </a:lnSpc>
              <a:buNone/>
            </a:pPr>
            <a:r>
              <a:rPr lang="en-US" sz="1350" dirty="0">
                <a:solidFill>
                  <a:srgbClr val="D7E5F0"/>
                </a:solidFill>
              </a:rPr>
              <a:t>dữ liệu này.</a:t>
            </a:r>
            <a:endParaRPr lang="en-US" sz="1350" dirty="0"/>
          </a:p>
          <a:p>
            <a:pPr indent="0" marL="0">
              <a:lnSpc>
                <a:spcPts val="1900"/>
              </a:lnSpc>
              <a:buNone/>
            </a:pPr>
            <a:r>
              <a:rPr lang="en-US" sz="700" dirty="0">
                <a:solidFill>
                  <a:srgbClr val="D7E5F0"/>
                </a:solidFill>
              </a:rPr>
              <a:t> </a:t>
            </a:r>
            <a:endParaRPr lang="en-US" sz="1350" dirty="0"/>
          </a:p>
          <a:p>
            <a:pPr indent="0" marL="0">
              <a:lnSpc>
                <a:spcPts val="1900"/>
              </a:lnSpc>
              <a:buNone/>
            </a:pPr>
            <a:r>
              <a:rPr lang="en-US" sz="1350" dirty="0">
                <a:solidFill>
                  <a:srgbClr val="D7E5F0"/>
                </a:solidFill>
              </a:rPr>
              <a:t>Trả lời lần lượt các mục sau, mỗi mục một đoạn ngắn:</a:t>
            </a:r>
            <a:endParaRPr lang="en-US" sz="1350" dirty="0"/>
          </a:p>
          <a:p>
            <a:pPr indent="0" marL="0">
              <a:lnSpc>
                <a:spcPts val="1900"/>
              </a:lnSpc>
              <a:buNone/>
            </a:pPr>
            <a:r>
              <a:rPr lang="en-US" sz="1350" dirty="0">
                <a:solidFill>
                  <a:srgbClr val="D7E5F0"/>
                </a:solidFill>
              </a:rPr>
              <a:t>1. Bộ dữ liệu có bao nhiêu dòng, bao nhiêu cột?</a:t>
            </a:r>
            <a:endParaRPr lang="en-US" sz="1350" dirty="0"/>
          </a:p>
          <a:p>
            <a:pPr indent="0" marL="0">
              <a:lnSpc>
                <a:spcPts val="1900"/>
              </a:lnSpc>
              <a:buNone/>
            </a:pPr>
            <a:r>
              <a:rPr lang="en-US" sz="1350" dirty="0">
                <a:solidFill>
                  <a:srgbClr val="D7E5F0"/>
                </a:solidFill>
              </a:rPr>
              <a:t>2. Liệt kê từng cột: tên, kiểu dữ liệu, ý nghĩa.</a:t>
            </a:r>
            <a:endParaRPr lang="en-US" sz="1350" dirty="0"/>
          </a:p>
          <a:p>
            <a:pPr indent="0" marL="0">
              <a:lnSpc>
                <a:spcPts val="1900"/>
              </a:lnSpc>
              <a:buNone/>
            </a:pPr>
            <a:r>
              <a:rPr lang="en-US" sz="1350" dirty="0">
                <a:solidFill>
                  <a:srgbClr val="D7E5F0"/>
                </a:solidFill>
              </a:rPr>
              <a:t>3. Cột nào có giá trị khuyết? Bao nhiêu phần trăm?</a:t>
            </a:r>
            <a:endParaRPr lang="en-US" sz="1350" dirty="0"/>
          </a:p>
          <a:p>
            <a:pPr indent="0" marL="0">
              <a:lnSpc>
                <a:spcPts val="1900"/>
              </a:lnSpc>
              <a:buNone/>
            </a:pPr>
            <a:r>
              <a:rPr lang="en-US" sz="1350" dirty="0">
                <a:solidFill>
                  <a:srgbClr val="D7E5F0"/>
                </a:solidFill>
              </a:rPr>
              <a:t>4. Có dòng nào trùng lặp hoàn toàn không?</a:t>
            </a:r>
            <a:endParaRPr lang="en-US" sz="1350" dirty="0"/>
          </a:p>
          <a:p>
            <a:pPr indent="0" marL="0">
              <a:lnSpc>
                <a:spcPts val="1900"/>
              </a:lnSpc>
              <a:buNone/>
            </a:pPr>
            <a:r>
              <a:rPr lang="en-US" sz="1350" dirty="0">
                <a:solidFill>
                  <a:srgbClr val="D7E5F0"/>
                </a:solidFill>
              </a:rPr>
              <a:t>5. Cột nào có giá trị ngoài thang đo hợp lý?</a:t>
            </a:r>
            <a:endParaRPr lang="en-US" sz="1350" dirty="0"/>
          </a:p>
          <a:p>
            <a:pPr indent="0" marL="0">
              <a:lnSpc>
                <a:spcPts val="1900"/>
              </a:lnSpc>
              <a:buNone/>
            </a:pPr>
            <a:r>
              <a:rPr lang="en-US" sz="1350" dirty="0">
                <a:solidFill>
                  <a:srgbClr val="D7E5F0"/>
                </a:solidFill>
              </a:rPr>
              <a:t>6. Biến nào có thể dùng làm biến mục tiêu?</a:t>
            </a:r>
            <a:endParaRPr lang="en-US" sz="1350" dirty="0"/>
          </a:p>
          <a:p>
            <a:pPr indent="0" marL="0">
              <a:lnSpc>
                <a:spcPts val="1900"/>
              </a:lnSpc>
              <a:buNone/>
            </a:pPr>
            <a:r>
              <a:rPr lang="en-US" sz="700" dirty="0">
                <a:solidFill>
                  <a:srgbClr val="D7E5F0"/>
                </a:solidFill>
              </a:rPr>
              <a:t> </a:t>
            </a:r>
            <a:endParaRPr lang="en-US" sz="1350" dirty="0"/>
          </a:p>
          <a:p>
            <a:pPr indent="0" marL="0">
              <a:lnSpc>
                <a:spcPts val="1900"/>
              </a:lnSpc>
              <a:buNone/>
            </a:pPr>
            <a:r>
              <a:rPr lang="en-US" sz="1350" b="1" dirty="0">
                <a:solidFill>
                  <a:srgbClr val="9FD2E8"/>
                </a:solidFill>
              </a:rPr>
              <a:t>Quan trọng: hãy viết kèm mã Python (pandas) cho từng</a:t>
            </a:r>
            <a:endParaRPr lang="en-US" sz="1350" dirty="0"/>
          </a:p>
          <a:p>
            <a:pPr indent="0" marL="0">
              <a:lnSpc>
                <a:spcPts val="1900"/>
              </a:lnSpc>
              <a:buNone/>
            </a:pPr>
            <a:r>
              <a:rPr lang="en-US" sz="1350" b="1" dirty="0">
                <a:solidFill>
                  <a:srgbClr val="9FD2E8"/>
                </a:solidFill>
              </a:rPr>
              <a:t>mục, để tôi tự chạy lại và đối chiếu con số.</a:t>
            </a:r>
            <a:endParaRPr lang="en-US" sz="1350" dirty="0"/>
          </a:p>
        </p:txBody>
      </p:sp>
      <p:sp>
        <p:nvSpPr>
          <p:cNvPr id="6" name="c24"/>
          <p:cNvSpPr/>
          <p:nvPr/>
        </p:nvSpPr>
        <p:spPr>
          <a:xfrm>
            <a:off x="7772400" y="1627632"/>
            <a:ext cx="3840480" cy="4023360"/>
          </a:xfrm>
          <a:prstGeom prst="roundRect">
            <a:avLst>
              <a:gd name="adj" fmla="val 2381"/>
            </a:avLst>
          </a:prstGeom>
          <a:solidFill>
            <a:srgbClr val="EEF3F7"/>
          </a:solidFill>
          <a:ln/>
        </p:spPr>
      </p:sp>
      <p:sp>
        <p:nvSpPr>
          <p:cNvPr id="7" name="Text 5"/>
          <p:cNvSpPr txBox="1"/>
          <p:nvPr/>
        </p:nvSpPr>
        <p:spPr>
          <a:xfrm>
            <a:off x="8046720" y="1810512"/>
            <a:ext cx="3383280" cy="512064"/>
          </a:xfrm>
          <a:prstGeom prst="rect">
            <a:avLst/>
          </a:prstGeom>
          <a:noFill/>
          <a:ln/>
        </p:spPr>
        <p:txBody>
          <a:bodyPr wrap="square" lIns="0" tIns="0" rIns="0" bIns="0" rtlCol="0" anchor="ctr"/>
          <a:lstStyle/>
          <a:p>
            <a:pPr indent="0" marL="0">
              <a:lnSpc>
                <a:spcPts val="1400"/>
              </a:lnSpc>
              <a:buNone/>
            </a:pPr>
            <a:r>
              <a:rPr lang="en-US" sz="1150" b="1" spc="150" kern="0" dirty="0">
                <a:solidFill>
                  <a:srgbClr val="D03B3B"/>
                </a:solidFill>
              </a:rPr>
              <a:t>VÌ SAO CÂU CUỐI QUAN TRỌNG NHẤT</a:t>
            </a:r>
            <a:endParaRPr lang="en-US" sz="1150" dirty="0"/>
          </a:p>
        </p:txBody>
      </p:sp>
      <p:sp>
        <p:nvSpPr>
          <p:cNvPr id="8" name="Text 6"/>
          <p:cNvSpPr txBox="1"/>
          <p:nvPr/>
        </p:nvSpPr>
        <p:spPr>
          <a:xfrm>
            <a:off x="8046720" y="2432304"/>
            <a:ext cx="3383280" cy="1188720"/>
          </a:xfrm>
          <a:prstGeom prst="rect">
            <a:avLst/>
          </a:prstGeom>
          <a:noFill/>
          <a:ln/>
        </p:spPr>
        <p:txBody>
          <a:bodyPr wrap="square" lIns="0" tIns="0" rIns="0" bIns="0" rtlCol="0" anchor="ctr"/>
          <a:lstStyle/>
          <a:p>
            <a:pPr indent="0" marL="0">
              <a:lnSpc>
                <a:spcPts val="1500"/>
              </a:lnSpc>
              <a:buNone/>
            </a:pPr>
            <a:r>
              <a:rPr lang="en-US" sz="1300" dirty="0">
                <a:solidFill>
                  <a:srgbClr val="16213A"/>
                </a:solidFill>
              </a:rPr>
              <a:t>Nó buộc AI đưa cho bạn công cụ kiểm chứng, thay vì chỉ đưa kết luận. Không có mã, bạn chỉ có thể tin hoặc không tin.</a:t>
            </a:r>
            <a:endParaRPr lang="en-US" sz="1300" dirty="0"/>
          </a:p>
        </p:txBody>
      </p:sp>
      <p:sp>
        <p:nvSpPr>
          <p:cNvPr id="9" name="Text 7"/>
          <p:cNvSpPr txBox="1"/>
          <p:nvPr/>
        </p:nvSpPr>
        <p:spPr>
          <a:xfrm>
            <a:off x="8046720" y="3803904"/>
            <a:ext cx="3383280" cy="274320"/>
          </a:xfrm>
          <a:prstGeom prst="rect">
            <a:avLst/>
          </a:prstGeom>
          <a:noFill/>
          <a:ln/>
        </p:spPr>
        <p:txBody>
          <a:bodyPr wrap="square" lIns="0" tIns="0" rIns="0" bIns="0" rtlCol="0" anchor="ctr"/>
          <a:lstStyle/>
          <a:p>
            <a:pPr indent="0" marL="0">
              <a:buNone/>
            </a:pPr>
            <a:r>
              <a:rPr lang="en-US" sz="1150" b="1" spc="150" kern="0" dirty="0">
                <a:solidFill>
                  <a:srgbClr val="1C7293"/>
                </a:solidFill>
              </a:rPr>
              <a:t>BA CÂU HỎI NÊN HỎI TIẾP</a:t>
            </a:r>
            <a:endParaRPr lang="en-US" sz="1150" dirty="0"/>
          </a:p>
        </p:txBody>
      </p:sp>
      <p:sp>
        <p:nvSpPr>
          <p:cNvPr id="10" name="Text 8"/>
          <p:cNvSpPr txBox="1"/>
          <p:nvPr/>
        </p:nvSpPr>
        <p:spPr>
          <a:xfrm>
            <a:off x="8046720" y="4151376"/>
            <a:ext cx="3383280" cy="1371600"/>
          </a:xfrm>
          <a:prstGeom prst="rect">
            <a:avLst/>
          </a:prstGeom>
          <a:noFill/>
          <a:ln/>
        </p:spPr>
        <p:txBody>
          <a:bodyPr wrap="square" lIns="0" tIns="0" rIns="0" bIns="0" rtlCol="0" anchor="ctr"/>
          <a:lstStyle/>
          <a:p>
            <a:pPr marL="342900" indent="-342900">
              <a:lnSpc>
                <a:spcPts val="1300"/>
              </a:lnSpc>
              <a:spcAft>
                <a:spcPts val="800"/>
              </a:spcAft>
              <a:buSzPct val="100000"/>
              <a:buChar char="▪"/>
            </a:pPr>
            <a:r>
              <a:rPr lang="en-US" sz="1150" dirty="0">
                <a:solidFill>
                  <a:srgbClr val="6D7A8C"/>
                </a:solidFill>
              </a:rPr>
              <a:t>Liệt kê giá trị duy nhất của cột X kèm số lần xuất hiện</a:t>
            </a:r>
            <a:endParaRPr lang="en-US" sz="1150" dirty="0"/>
          </a:p>
          <a:p>
            <a:pPr marL="342900" indent="-342900">
              <a:lnSpc>
                <a:spcPts val="1300"/>
              </a:lnSpc>
              <a:spcAft>
                <a:spcPts val="800"/>
              </a:spcAft>
              <a:buSzPct val="100000"/>
              <a:buChar char="▪"/>
            </a:pPr>
            <a:r>
              <a:rPr lang="en-US" sz="1150" dirty="0">
                <a:solidFill>
                  <a:srgbClr val="6D7A8C"/>
                </a:solidFill>
              </a:rPr>
              <a:t>Cột nào có một giá trị chiếm trên 95% số dòng?</a:t>
            </a:r>
            <a:endParaRPr lang="en-US" sz="1150" dirty="0"/>
          </a:p>
          <a:p>
            <a:pPr marL="342900" indent="-342900">
              <a:lnSpc>
                <a:spcPts val="1300"/>
              </a:lnSpc>
              <a:spcAft>
                <a:spcPts val="800"/>
              </a:spcAft>
              <a:buSzPct val="100000"/>
              <a:buChar char="▪"/>
            </a:pPr>
            <a:r>
              <a:rPr lang="en-US" sz="1150" dirty="0">
                <a:solidFill>
                  <a:srgbClr val="6D7A8C"/>
                </a:solidFill>
              </a:rPr>
              <a:t>Có cặp cột nào gần như trùng nhau không?</a:t>
            </a:r>
            <a:endParaRPr lang="en-US" sz="115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800" b="1" dirty="0">
                <a:solidFill>
                  <a:srgbClr val="16213A"/>
                </a:solidFill>
              </a:rPr>
              <a:t>Bảy lỗi dữ liệu thường gặp</a:t>
            </a:r>
            <a:endParaRPr lang="en-US" sz="28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algn="l" indent="0" marL="0">
              <a:buNone/>
            </a:pPr>
            <a:r>
              <a:rPr lang="en-US" sz="1400" b="1" dirty="0">
                <a:solidFill>
                  <a:srgbClr val="1C7293"/>
                </a:solidFill>
              </a:rPr>
              <a:t>Dùng như danh sách kiểm tra mỗi khi nhận bộ dữ liệu mới</a:t>
            </a:r>
            <a:endParaRPr lang="en-US" sz="1400" dirty="0"/>
          </a:p>
        </p:txBody>
      </p:sp>
      <p:sp>
        <p:nvSpPr>
          <p:cNvPr id="4" name="c25"/>
          <p:cNvSpPr/>
          <p:nvPr/>
        </p:nvSpPr>
        <p:spPr>
          <a:xfrm>
            <a:off x="566928" y="1609344"/>
            <a:ext cx="11064240" cy="566928"/>
          </a:xfrm>
          <a:prstGeom prst="roundRect">
            <a:avLst>
              <a:gd name="adj" fmla="val 16129"/>
            </a:avLst>
          </a:prstGeom>
          <a:solidFill>
            <a:srgbClr val="EEF3F7"/>
          </a:solidFill>
          <a:ln/>
        </p:spPr>
      </p:sp>
      <p:sp>
        <p:nvSpPr>
          <p:cNvPr id="5" name="e0"/>
          <p:cNvSpPr/>
          <p:nvPr/>
        </p:nvSpPr>
        <p:spPr>
          <a:xfrm>
            <a:off x="786384" y="1801368"/>
            <a:ext cx="182880" cy="182880"/>
          </a:xfrm>
          <a:prstGeom prst="ellipse">
            <a:avLst/>
          </a:prstGeom>
          <a:solidFill>
            <a:srgbClr val="065A82"/>
          </a:solidFill>
          <a:ln/>
        </p:spPr>
      </p:sp>
      <p:sp>
        <p:nvSpPr>
          <p:cNvPr id="6" name="Text 4"/>
          <p:cNvSpPr txBox="1"/>
          <p:nvPr/>
        </p:nvSpPr>
        <p:spPr>
          <a:xfrm>
            <a:off x="1097280" y="1655064"/>
            <a:ext cx="3566160" cy="475488"/>
          </a:xfrm>
          <a:prstGeom prst="rect">
            <a:avLst/>
          </a:prstGeom>
          <a:noFill/>
          <a:ln/>
        </p:spPr>
        <p:txBody>
          <a:bodyPr wrap="square" lIns="0" tIns="0" rIns="0" bIns="0" rtlCol="0" anchor="ctr"/>
          <a:lstStyle/>
          <a:p>
            <a:pPr indent="0" marL="0">
              <a:buNone/>
            </a:pPr>
            <a:r>
              <a:rPr lang="en-US" sz="1300" b="1" dirty="0">
                <a:solidFill>
                  <a:srgbClr val="16213A"/>
                </a:solidFill>
              </a:rPr>
              <a:t>1. Giá trị khuyết</a:t>
            </a:r>
            <a:endParaRPr lang="en-US" sz="1300" dirty="0"/>
          </a:p>
        </p:txBody>
      </p:sp>
      <p:sp>
        <p:nvSpPr>
          <p:cNvPr id="7" name="Text 5"/>
          <p:cNvSpPr txBox="1"/>
          <p:nvPr/>
        </p:nvSpPr>
        <p:spPr>
          <a:xfrm>
            <a:off x="4773168" y="1655064"/>
            <a:ext cx="6583680" cy="475488"/>
          </a:xfrm>
          <a:prstGeom prst="rect">
            <a:avLst/>
          </a:prstGeom>
          <a:noFill/>
          <a:ln/>
        </p:spPr>
        <p:txBody>
          <a:bodyPr wrap="square" lIns="0" tIns="0" rIns="0" bIns="0" rtlCol="0" anchor="ctr"/>
          <a:lstStyle/>
          <a:p>
            <a:pPr indent="0" marL="0">
              <a:buNone/>
            </a:pPr>
            <a:r>
              <a:rPr lang="en-US" sz="1200" dirty="0">
                <a:solidFill>
                  <a:srgbClr val="6D7A8C"/>
                </a:solidFill>
              </a:rPr>
              <a:t>Ô trống, NaN. Dưới 5% thì điền bằng trung vị.</a:t>
            </a:r>
            <a:endParaRPr lang="en-US" sz="1200" dirty="0"/>
          </a:p>
        </p:txBody>
      </p:sp>
      <p:sp>
        <p:nvSpPr>
          <p:cNvPr id="8" name="c26"/>
          <p:cNvSpPr/>
          <p:nvPr/>
        </p:nvSpPr>
        <p:spPr>
          <a:xfrm>
            <a:off x="566928" y="2276856"/>
            <a:ext cx="11064240" cy="566928"/>
          </a:xfrm>
          <a:prstGeom prst="roundRect">
            <a:avLst>
              <a:gd name="adj" fmla="val 16129"/>
            </a:avLst>
          </a:prstGeom>
          <a:solidFill>
            <a:srgbClr val="FFFFFF"/>
          </a:solidFill>
          <a:ln/>
        </p:spPr>
      </p:sp>
      <p:sp>
        <p:nvSpPr>
          <p:cNvPr id="9" name="e1"/>
          <p:cNvSpPr/>
          <p:nvPr/>
        </p:nvSpPr>
        <p:spPr>
          <a:xfrm>
            <a:off x="786384" y="2468880"/>
            <a:ext cx="182880" cy="182880"/>
          </a:xfrm>
          <a:prstGeom prst="ellipse">
            <a:avLst/>
          </a:prstGeom>
          <a:solidFill>
            <a:srgbClr val="1C7293"/>
          </a:solidFill>
          <a:ln/>
        </p:spPr>
      </p:sp>
      <p:sp>
        <p:nvSpPr>
          <p:cNvPr id="10" name="Text 8"/>
          <p:cNvSpPr txBox="1"/>
          <p:nvPr/>
        </p:nvSpPr>
        <p:spPr>
          <a:xfrm>
            <a:off x="1097280" y="2322576"/>
            <a:ext cx="3566160" cy="475488"/>
          </a:xfrm>
          <a:prstGeom prst="rect">
            <a:avLst/>
          </a:prstGeom>
          <a:noFill/>
          <a:ln/>
        </p:spPr>
        <p:txBody>
          <a:bodyPr wrap="square" lIns="0" tIns="0" rIns="0" bIns="0" rtlCol="0" anchor="ctr"/>
          <a:lstStyle/>
          <a:p>
            <a:pPr indent="0" marL="0">
              <a:buNone/>
            </a:pPr>
            <a:r>
              <a:rPr lang="en-US" sz="1300" b="1" dirty="0">
                <a:solidFill>
                  <a:srgbClr val="16213A"/>
                </a:solidFill>
              </a:rPr>
              <a:t>2. Bản ghi trùng</a:t>
            </a:r>
            <a:endParaRPr lang="en-US" sz="1300" dirty="0"/>
          </a:p>
        </p:txBody>
      </p:sp>
      <p:sp>
        <p:nvSpPr>
          <p:cNvPr id="11" name="Text 9"/>
          <p:cNvSpPr txBox="1"/>
          <p:nvPr/>
        </p:nvSpPr>
        <p:spPr>
          <a:xfrm>
            <a:off x="4773168" y="2322576"/>
            <a:ext cx="6583680" cy="475488"/>
          </a:xfrm>
          <a:prstGeom prst="rect">
            <a:avLst/>
          </a:prstGeom>
          <a:noFill/>
          <a:ln/>
        </p:spPr>
        <p:txBody>
          <a:bodyPr wrap="square" lIns="0" tIns="0" rIns="0" bIns="0" rtlCol="0" anchor="ctr"/>
          <a:lstStyle/>
          <a:p>
            <a:pPr indent="0" marL="0">
              <a:buNone/>
            </a:pPr>
            <a:r>
              <a:rPr lang="en-US" sz="1200" dirty="0">
                <a:solidFill>
                  <a:srgbClr val="6D7A8C"/>
                </a:solidFill>
              </a:rPr>
              <a:t>Hai dòng giống hệt. Trùng hoàn toàn thì xóa.</a:t>
            </a:r>
            <a:endParaRPr lang="en-US" sz="1200" dirty="0"/>
          </a:p>
        </p:txBody>
      </p:sp>
      <p:sp>
        <p:nvSpPr>
          <p:cNvPr id="12" name="c27"/>
          <p:cNvSpPr/>
          <p:nvPr/>
        </p:nvSpPr>
        <p:spPr>
          <a:xfrm>
            <a:off x="566928" y="2944368"/>
            <a:ext cx="11064240" cy="566928"/>
          </a:xfrm>
          <a:prstGeom prst="roundRect">
            <a:avLst>
              <a:gd name="adj" fmla="val 16129"/>
            </a:avLst>
          </a:prstGeom>
          <a:solidFill>
            <a:srgbClr val="EEF3F7"/>
          </a:solidFill>
          <a:ln/>
        </p:spPr>
      </p:sp>
      <p:sp>
        <p:nvSpPr>
          <p:cNvPr id="13" name="e2"/>
          <p:cNvSpPr/>
          <p:nvPr/>
        </p:nvSpPr>
        <p:spPr>
          <a:xfrm>
            <a:off x="786384" y="3136392"/>
            <a:ext cx="182880" cy="182880"/>
          </a:xfrm>
          <a:prstGeom prst="ellipse">
            <a:avLst/>
          </a:prstGeom>
          <a:solidFill>
            <a:srgbClr val="EDA100"/>
          </a:solidFill>
          <a:ln/>
        </p:spPr>
      </p:sp>
      <p:sp>
        <p:nvSpPr>
          <p:cNvPr id="14" name="Text 12"/>
          <p:cNvSpPr txBox="1"/>
          <p:nvPr/>
        </p:nvSpPr>
        <p:spPr>
          <a:xfrm>
            <a:off x="1097280" y="2990088"/>
            <a:ext cx="3566160" cy="475488"/>
          </a:xfrm>
          <a:prstGeom prst="rect">
            <a:avLst/>
          </a:prstGeom>
          <a:noFill/>
          <a:ln/>
        </p:spPr>
        <p:txBody>
          <a:bodyPr wrap="square" lIns="0" tIns="0" rIns="0" bIns="0" rtlCol="0" anchor="ctr"/>
          <a:lstStyle/>
          <a:p>
            <a:pPr indent="0" marL="0">
              <a:buNone/>
            </a:pPr>
            <a:r>
              <a:rPr lang="en-US" sz="1300" b="1" dirty="0">
                <a:solidFill>
                  <a:srgbClr val="16213A"/>
                </a:solidFill>
              </a:rPr>
              <a:t>3. Cột gần như hằng số</a:t>
            </a:r>
            <a:endParaRPr lang="en-US" sz="1300" dirty="0"/>
          </a:p>
        </p:txBody>
      </p:sp>
      <p:sp>
        <p:nvSpPr>
          <p:cNvPr id="15" name="Text 13"/>
          <p:cNvSpPr txBox="1"/>
          <p:nvPr/>
        </p:nvSpPr>
        <p:spPr>
          <a:xfrm>
            <a:off x="4773168" y="2990088"/>
            <a:ext cx="6583680" cy="475488"/>
          </a:xfrm>
          <a:prstGeom prst="rect">
            <a:avLst/>
          </a:prstGeom>
          <a:noFill/>
          <a:ln/>
        </p:spPr>
        <p:txBody>
          <a:bodyPr wrap="square" lIns="0" tIns="0" rIns="0" bIns="0" rtlCol="0" anchor="ctr"/>
          <a:lstStyle/>
          <a:p>
            <a:pPr indent="0" marL="0">
              <a:buNone/>
            </a:pPr>
            <a:r>
              <a:rPr lang="en-US" sz="1200" dirty="0">
                <a:solidFill>
                  <a:srgbClr val="6D7A8C"/>
                </a:solidFill>
              </a:rPr>
              <a:t>Một giá trị chiếm trên 95%. Thường nên bỏ.</a:t>
            </a:r>
            <a:endParaRPr lang="en-US" sz="1200" dirty="0"/>
          </a:p>
        </p:txBody>
      </p:sp>
      <p:sp>
        <p:nvSpPr>
          <p:cNvPr id="16" name="c28"/>
          <p:cNvSpPr/>
          <p:nvPr/>
        </p:nvSpPr>
        <p:spPr>
          <a:xfrm>
            <a:off x="566928" y="3611880"/>
            <a:ext cx="11064240" cy="566928"/>
          </a:xfrm>
          <a:prstGeom prst="roundRect">
            <a:avLst>
              <a:gd name="adj" fmla="val 16129"/>
            </a:avLst>
          </a:prstGeom>
          <a:solidFill>
            <a:srgbClr val="FFFFFF"/>
          </a:solidFill>
          <a:ln/>
        </p:spPr>
      </p:sp>
      <p:sp>
        <p:nvSpPr>
          <p:cNvPr id="17" name="e3"/>
          <p:cNvSpPr/>
          <p:nvPr/>
        </p:nvSpPr>
        <p:spPr>
          <a:xfrm>
            <a:off x="786384" y="3803904"/>
            <a:ext cx="182880" cy="182880"/>
          </a:xfrm>
          <a:prstGeom prst="ellipse">
            <a:avLst/>
          </a:prstGeom>
          <a:solidFill>
            <a:srgbClr val="2A78D6"/>
          </a:solidFill>
          <a:ln/>
        </p:spPr>
      </p:sp>
      <p:sp>
        <p:nvSpPr>
          <p:cNvPr id="18" name="Text 16"/>
          <p:cNvSpPr txBox="1"/>
          <p:nvPr/>
        </p:nvSpPr>
        <p:spPr>
          <a:xfrm>
            <a:off x="1097280" y="3657600"/>
            <a:ext cx="3566160" cy="475488"/>
          </a:xfrm>
          <a:prstGeom prst="rect">
            <a:avLst/>
          </a:prstGeom>
          <a:noFill/>
          <a:ln/>
        </p:spPr>
        <p:txBody>
          <a:bodyPr wrap="square" lIns="0" tIns="0" rIns="0" bIns="0" rtlCol="0" anchor="ctr"/>
          <a:lstStyle/>
          <a:p>
            <a:pPr indent="0" marL="0">
              <a:buNone/>
            </a:pPr>
            <a:r>
              <a:rPr lang="en-US" sz="1300" b="1" dirty="0">
                <a:solidFill>
                  <a:srgbClr val="16213A"/>
                </a:solidFill>
              </a:rPr>
              <a:t>4. Giá trị ngoài thang đo</a:t>
            </a:r>
            <a:endParaRPr lang="en-US" sz="1300" dirty="0"/>
          </a:p>
        </p:txBody>
      </p:sp>
      <p:sp>
        <p:nvSpPr>
          <p:cNvPr id="19" name="Text 17"/>
          <p:cNvSpPr txBox="1"/>
          <p:nvPr/>
        </p:nvSpPr>
        <p:spPr>
          <a:xfrm>
            <a:off x="4773168" y="3657600"/>
            <a:ext cx="6583680" cy="475488"/>
          </a:xfrm>
          <a:prstGeom prst="rect">
            <a:avLst/>
          </a:prstGeom>
          <a:noFill/>
          <a:ln/>
        </p:spPr>
        <p:txBody>
          <a:bodyPr wrap="square" lIns="0" tIns="0" rIns="0" bIns="0" rtlCol="0" anchor="ctr"/>
          <a:lstStyle/>
          <a:p>
            <a:pPr indent="0" marL="0">
              <a:buNone/>
            </a:pPr>
            <a:r>
              <a:rPr lang="en-US" sz="1200" dirty="0">
                <a:solidFill>
                  <a:srgbClr val="6D7A8C"/>
                </a:solidFill>
              </a:rPr>
              <a:t>Thang 1–5 mà có số 0. Chuyển thành khuyết.</a:t>
            </a:r>
            <a:endParaRPr lang="en-US" sz="1200" dirty="0"/>
          </a:p>
        </p:txBody>
      </p:sp>
      <p:sp>
        <p:nvSpPr>
          <p:cNvPr id="20" name="c29"/>
          <p:cNvSpPr/>
          <p:nvPr/>
        </p:nvSpPr>
        <p:spPr>
          <a:xfrm>
            <a:off x="566928" y="4279392"/>
            <a:ext cx="11064240" cy="566928"/>
          </a:xfrm>
          <a:prstGeom prst="roundRect">
            <a:avLst>
              <a:gd name="adj" fmla="val 16129"/>
            </a:avLst>
          </a:prstGeom>
          <a:solidFill>
            <a:srgbClr val="EEF3F7"/>
          </a:solidFill>
          <a:ln/>
        </p:spPr>
      </p:sp>
      <p:sp>
        <p:nvSpPr>
          <p:cNvPr id="21" name="e4"/>
          <p:cNvSpPr/>
          <p:nvPr/>
        </p:nvSpPr>
        <p:spPr>
          <a:xfrm>
            <a:off x="786384" y="4471416"/>
            <a:ext cx="182880" cy="182880"/>
          </a:xfrm>
          <a:prstGeom prst="ellipse">
            <a:avLst/>
          </a:prstGeom>
          <a:solidFill>
            <a:srgbClr val="EDA100"/>
          </a:solidFill>
          <a:ln/>
        </p:spPr>
      </p:sp>
      <p:sp>
        <p:nvSpPr>
          <p:cNvPr id="22" name="Text 20"/>
          <p:cNvSpPr txBox="1"/>
          <p:nvPr/>
        </p:nvSpPr>
        <p:spPr>
          <a:xfrm>
            <a:off x="1097280" y="4325112"/>
            <a:ext cx="3566160" cy="475488"/>
          </a:xfrm>
          <a:prstGeom prst="rect">
            <a:avLst/>
          </a:prstGeom>
          <a:noFill/>
          <a:ln/>
        </p:spPr>
        <p:txBody>
          <a:bodyPr wrap="square" lIns="0" tIns="0" rIns="0" bIns="0" rtlCol="0" anchor="ctr"/>
          <a:lstStyle/>
          <a:p>
            <a:pPr indent="0" marL="0">
              <a:buNone/>
            </a:pPr>
            <a:r>
              <a:rPr lang="en-US" sz="1300" b="1" dirty="0">
                <a:solidFill>
                  <a:srgbClr val="16213A"/>
                </a:solidFill>
              </a:rPr>
              <a:t>5. Giá trị bất khả thi</a:t>
            </a:r>
            <a:endParaRPr lang="en-US" sz="1300" dirty="0"/>
          </a:p>
        </p:txBody>
      </p:sp>
      <p:sp>
        <p:nvSpPr>
          <p:cNvPr id="23" name="Text 21"/>
          <p:cNvSpPr txBox="1"/>
          <p:nvPr/>
        </p:nvSpPr>
        <p:spPr>
          <a:xfrm>
            <a:off x="4773168" y="4325112"/>
            <a:ext cx="6583680" cy="475488"/>
          </a:xfrm>
          <a:prstGeom prst="rect">
            <a:avLst/>
          </a:prstGeom>
          <a:noFill/>
          <a:ln/>
        </p:spPr>
        <p:txBody>
          <a:bodyPr wrap="square" lIns="0" tIns="0" rIns="0" bIns="0" rtlCol="0" anchor="ctr"/>
          <a:lstStyle/>
          <a:p>
            <a:pPr indent="0" marL="0">
              <a:buNone/>
            </a:pPr>
            <a:r>
              <a:rPr lang="en-US" sz="1200" dirty="0">
                <a:solidFill>
                  <a:srgbClr val="6D7A8C"/>
                </a:solidFill>
              </a:rPr>
              <a:t>Tuổi 200, cân nặng âm. Đối chiếu thực tế.</a:t>
            </a:r>
            <a:endParaRPr lang="en-US" sz="1200" dirty="0"/>
          </a:p>
        </p:txBody>
      </p:sp>
      <p:sp>
        <p:nvSpPr>
          <p:cNvPr id="24" name="c30"/>
          <p:cNvSpPr/>
          <p:nvPr/>
        </p:nvSpPr>
        <p:spPr>
          <a:xfrm>
            <a:off x="566928" y="4946904"/>
            <a:ext cx="11064240" cy="566928"/>
          </a:xfrm>
          <a:prstGeom prst="roundRect">
            <a:avLst>
              <a:gd name="adj" fmla="val 16129"/>
            </a:avLst>
          </a:prstGeom>
          <a:solidFill>
            <a:srgbClr val="FFFFFF"/>
          </a:solidFill>
          <a:ln/>
        </p:spPr>
      </p:sp>
      <p:sp>
        <p:nvSpPr>
          <p:cNvPr id="25" name="e5"/>
          <p:cNvSpPr/>
          <p:nvPr/>
        </p:nvSpPr>
        <p:spPr>
          <a:xfrm>
            <a:off x="786384" y="5138928"/>
            <a:ext cx="182880" cy="182880"/>
          </a:xfrm>
          <a:prstGeom prst="ellipse">
            <a:avLst/>
          </a:prstGeom>
          <a:solidFill>
            <a:srgbClr val="1C7293"/>
          </a:solidFill>
          <a:ln/>
        </p:spPr>
      </p:sp>
      <p:sp>
        <p:nvSpPr>
          <p:cNvPr id="26" name="Text 24"/>
          <p:cNvSpPr txBox="1"/>
          <p:nvPr/>
        </p:nvSpPr>
        <p:spPr>
          <a:xfrm>
            <a:off x="1097280" y="4992624"/>
            <a:ext cx="3566160" cy="475488"/>
          </a:xfrm>
          <a:prstGeom prst="rect">
            <a:avLst/>
          </a:prstGeom>
          <a:noFill/>
          <a:ln/>
        </p:spPr>
        <p:txBody>
          <a:bodyPr wrap="square" lIns="0" tIns="0" rIns="0" bIns="0" rtlCol="0" anchor="ctr"/>
          <a:lstStyle/>
          <a:p>
            <a:pPr indent="0" marL="0">
              <a:buNone/>
            </a:pPr>
            <a:r>
              <a:rPr lang="en-US" sz="1300" b="1" dirty="0">
                <a:solidFill>
                  <a:srgbClr val="16213A"/>
                </a:solidFill>
              </a:rPr>
              <a:t>6. Chữ hoa/thường lẫn lộn</a:t>
            </a:r>
            <a:endParaRPr lang="en-US" sz="1300" dirty="0"/>
          </a:p>
        </p:txBody>
      </p:sp>
      <p:sp>
        <p:nvSpPr>
          <p:cNvPr id="27" name="Text 25"/>
          <p:cNvSpPr txBox="1"/>
          <p:nvPr/>
        </p:nvSpPr>
        <p:spPr>
          <a:xfrm>
            <a:off x="4773168" y="4992624"/>
            <a:ext cx="6583680" cy="475488"/>
          </a:xfrm>
          <a:prstGeom prst="rect">
            <a:avLst/>
          </a:prstGeom>
          <a:noFill/>
          <a:ln/>
        </p:spPr>
        <p:txBody>
          <a:bodyPr wrap="square" lIns="0" tIns="0" rIns="0" bIns="0" rtlCol="0" anchor="ctr"/>
          <a:lstStyle/>
          <a:p>
            <a:pPr indent="0" marL="0">
              <a:buNone/>
            </a:pPr>
            <a:r>
              <a:rPr lang="en-US" sz="1200" dirty="0">
                <a:solidFill>
                  <a:srgbClr val="6D7A8C"/>
                </a:solidFill>
              </a:rPr>
              <a:t>“Asian” và “asian” bị coi là hai nhóm.</a:t>
            </a:r>
            <a:endParaRPr lang="en-US" sz="1200" dirty="0"/>
          </a:p>
        </p:txBody>
      </p:sp>
      <p:sp>
        <p:nvSpPr>
          <p:cNvPr id="28" name="c31"/>
          <p:cNvSpPr/>
          <p:nvPr/>
        </p:nvSpPr>
        <p:spPr>
          <a:xfrm>
            <a:off x="566928" y="5614416"/>
            <a:ext cx="11064240" cy="566928"/>
          </a:xfrm>
          <a:prstGeom prst="roundRect">
            <a:avLst>
              <a:gd name="adj" fmla="val 16129"/>
            </a:avLst>
          </a:prstGeom>
          <a:solidFill>
            <a:srgbClr val="EEF3F7"/>
          </a:solidFill>
          <a:ln/>
        </p:spPr>
      </p:sp>
      <p:sp>
        <p:nvSpPr>
          <p:cNvPr id="29" name="e6"/>
          <p:cNvSpPr/>
          <p:nvPr/>
        </p:nvSpPr>
        <p:spPr>
          <a:xfrm>
            <a:off x="786384" y="5806440"/>
            <a:ext cx="182880" cy="182880"/>
          </a:xfrm>
          <a:prstGeom prst="ellipse">
            <a:avLst/>
          </a:prstGeom>
          <a:solidFill>
            <a:srgbClr val="D03B3B"/>
          </a:solidFill>
          <a:ln/>
        </p:spPr>
      </p:sp>
      <p:sp>
        <p:nvSpPr>
          <p:cNvPr id="30" name="Text 28"/>
          <p:cNvSpPr txBox="1"/>
          <p:nvPr/>
        </p:nvSpPr>
        <p:spPr>
          <a:xfrm>
            <a:off x="1097280" y="5660136"/>
            <a:ext cx="3566160" cy="475488"/>
          </a:xfrm>
          <a:prstGeom prst="rect">
            <a:avLst/>
          </a:prstGeom>
          <a:noFill/>
          <a:ln/>
        </p:spPr>
        <p:txBody>
          <a:bodyPr wrap="square" lIns="0" tIns="0" rIns="0" bIns="0" rtlCol="0" anchor="ctr"/>
          <a:lstStyle/>
          <a:p>
            <a:pPr indent="0" marL="0">
              <a:buNone/>
            </a:pPr>
            <a:r>
              <a:rPr lang="en-US" sz="1300" b="1" dirty="0">
                <a:solidFill>
                  <a:srgbClr val="16213A"/>
                </a:solidFill>
              </a:rPr>
              <a:t>7. Lỗi nhập liệu, lạc chỗ</a:t>
            </a:r>
            <a:endParaRPr lang="en-US" sz="1300" dirty="0"/>
          </a:p>
        </p:txBody>
      </p:sp>
      <p:sp>
        <p:nvSpPr>
          <p:cNvPr id="31" name="Text 29"/>
          <p:cNvSpPr txBox="1"/>
          <p:nvPr/>
        </p:nvSpPr>
        <p:spPr>
          <a:xfrm>
            <a:off x="4773168" y="5660136"/>
            <a:ext cx="6583680" cy="475488"/>
          </a:xfrm>
          <a:prstGeom prst="rect">
            <a:avLst/>
          </a:prstGeom>
          <a:noFill/>
          <a:ln/>
        </p:spPr>
        <p:txBody>
          <a:bodyPr wrap="square" lIns="0" tIns="0" rIns="0" bIns="0" rtlCol="0" anchor="ctr"/>
          <a:lstStyle/>
          <a:p>
            <a:pPr indent="0" marL="0">
              <a:buNone/>
            </a:pPr>
            <a:r>
              <a:rPr lang="en-US" sz="1200" dirty="0">
                <a:solidFill>
                  <a:srgbClr val="6D7A8C"/>
                </a:solidFill>
              </a:rPr>
              <a:t>Tên người lọt vào cột Thành phố.</a:t>
            </a:r>
            <a:endParaRPr lang="en-US" sz="120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800" b="1" dirty="0">
                <a:solidFill>
                  <a:srgbClr val="16213A"/>
                </a:solidFill>
              </a:rPr>
              <a:t>Ca thật: bộ dữ liệu “sạch” hóa ra không sạch</a:t>
            </a:r>
            <a:endParaRPr lang="en-US" sz="28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algn="l" indent="0" marL="0">
              <a:buNone/>
            </a:pPr>
            <a:r>
              <a:rPr lang="en-US" sz="1400" b="1" dirty="0">
                <a:solidFill>
                  <a:srgbClr val="1C7293"/>
                </a:solidFill>
              </a:rPr>
              <a:t>Student Depression — 27.901 sinh viên · 0 ô trùng · chỉ 3 ô khuyết</a:t>
            </a:r>
            <a:endParaRPr lang="en-US" sz="1400" dirty="0"/>
          </a:p>
        </p:txBody>
      </p:sp>
      <p:sp>
        <p:nvSpPr>
          <p:cNvPr id="4" name="c32"/>
          <p:cNvSpPr/>
          <p:nvPr/>
        </p:nvSpPr>
        <p:spPr>
          <a:xfrm>
            <a:off x="566928" y="1627632"/>
            <a:ext cx="5669280" cy="2011680"/>
          </a:xfrm>
          <a:prstGeom prst="roundRect">
            <a:avLst>
              <a:gd name="adj" fmla="val 4545"/>
            </a:avLst>
          </a:prstGeom>
          <a:solidFill>
            <a:srgbClr val="EEF3F7"/>
          </a:solidFill>
          <a:ln/>
        </p:spPr>
      </p:sp>
      <p:sp>
        <p:nvSpPr>
          <p:cNvPr id="5" name="Text 3"/>
          <p:cNvSpPr txBox="1"/>
          <p:nvPr/>
        </p:nvSpPr>
        <p:spPr>
          <a:xfrm>
            <a:off x="841248" y="1792224"/>
            <a:ext cx="5120640" cy="292608"/>
          </a:xfrm>
          <a:prstGeom prst="rect">
            <a:avLst/>
          </a:prstGeom>
          <a:noFill/>
          <a:ln/>
        </p:spPr>
        <p:txBody>
          <a:bodyPr wrap="square" lIns="0" tIns="0" rIns="0" bIns="0" rtlCol="0" anchor="ctr"/>
          <a:lstStyle/>
          <a:p>
            <a:pPr indent="0" marL="0">
              <a:buNone/>
            </a:pPr>
            <a:r>
              <a:rPr lang="en-US" sz="1300" b="1" dirty="0">
                <a:solidFill>
                  <a:srgbClr val="1BAF7A"/>
                </a:solidFill>
              </a:rPr>
              <a:t>Nhìn qua rất sạch</a:t>
            </a:r>
            <a:endParaRPr lang="en-US" sz="1300" dirty="0"/>
          </a:p>
        </p:txBody>
      </p:sp>
      <p:sp>
        <p:nvSpPr>
          <p:cNvPr id="6" name="Text 4"/>
          <p:cNvSpPr txBox="1"/>
          <p:nvPr/>
        </p:nvSpPr>
        <p:spPr>
          <a:xfrm>
            <a:off x="841248" y="2121408"/>
            <a:ext cx="5120640" cy="1188720"/>
          </a:xfrm>
          <a:prstGeom prst="rect">
            <a:avLst/>
          </a:prstGeom>
          <a:noFill/>
          <a:ln/>
        </p:spPr>
        <p:txBody>
          <a:bodyPr wrap="square" lIns="0" tIns="0" rIns="0" bIns="0" rtlCol="0" anchor="ctr"/>
          <a:lstStyle/>
          <a:p>
            <a:pPr indent="0" marL="0">
              <a:lnSpc>
                <a:spcPts val="1500"/>
              </a:lnSpc>
              <a:buNone/>
            </a:pPr>
            <a:r>
              <a:rPr lang="en-US" sz="1250" dirty="0">
                <a:solidFill>
                  <a:srgbClr val="16213A"/>
                </a:solidFill>
              </a:rPr>
              <a:t>27.901 dòng × 18 cột · chỉ 3 ô khuyết (0,01%) · 0 dòng trùng lặp.</a:t>
            </a:r>
            <a:endParaRPr lang="en-US" sz="1250" dirty="0"/>
          </a:p>
          <a:p>
            <a:pPr indent="0" marL="0">
              <a:lnSpc>
                <a:spcPts val="1500"/>
              </a:lnSpc>
              <a:buNone/>
            </a:pPr>
            <a:r>
              <a:rPr lang="en-US" sz="1250" dirty="0">
                <a:solidFill>
                  <a:srgbClr val="16213A"/>
                </a:solidFill>
              </a:rPr>
              <a:t>Nhiều người sẽ phân tích luôn ở bước này.</a:t>
            </a:r>
            <a:endParaRPr lang="en-US" sz="1250" dirty="0"/>
          </a:p>
        </p:txBody>
      </p:sp>
      <p:sp>
        <p:nvSpPr>
          <p:cNvPr id="7" name="c33"/>
          <p:cNvSpPr/>
          <p:nvPr/>
        </p:nvSpPr>
        <p:spPr>
          <a:xfrm>
            <a:off x="566928" y="3840480"/>
            <a:ext cx="5669280" cy="2377440"/>
          </a:xfrm>
          <a:prstGeom prst="roundRect">
            <a:avLst>
              <a:gd name="adj" fmla="val 3846"/>
            </a:avLst>
          </a:prstGeom>
          <a:solidFill>
            <a:srgbClr val="16213A"/>
          </a:solidFill>
          <a:ln/>
        </p:spPr>
      </p:sp>
      <p:sp>
        <p:nvSpPr>
          <p:cNvPr id="8" name="Text 6"/>
          <p:cNvSpPr txBox="1"/>
          <p:nvPr/>
        </p:nvSpPr>
        <p:spPr>
          <a:xfrm>
            <a:off x="841248" y="4005072"/>
            <a:ext cx="5120640" cy="274320"/>
          </a:xfrm>
          <a:prstGeom prst="rect">
            <a:avLst/>
          </a:prstGeom>
          <a:noFill/>
          <a:ln/>
        </p:spPr>
        <p:txBody>
          <a:bodyPr wrap="square" lIns="0" tIns="0" rIns="0" bIns="0" rtlCol="0" anchor="ctr"/>
          <a:lstStyle/>
          <a:p>
            <a:pPr indent="0" marL="0">
              <a:buNone/>
            </a:pPr>
            <a:r>
              <a:rPr lang="en-US" sz="1150" b="1" dirty="0">
                <a:solidFill>
                  <a:srgbClr val="9FD2E8"/>
                </a:solidFill>
              </a:rPr>
              <a:t>Nhưng khi hỏi AI liệt kê giá trị hiếm của cột City:</a:t>
            </a:r>
            <a:endParaRPr lang="en-US" sz="1150" dirty="0"/>
          </a:p>
        </p:txBody>
      </p:sp>
      <p:sp>
        <p:nvSpPr>
          <p:cNvPr id="9" name="Text 7"/>
          <p:cNvSpPr txBox="1"/>
          <p:nvPr/>
        </p:nvSpPr>
        <p:spPr>
          <a:xfrm>
            <a:off x="841248" y="4389120"/>
            <a:ext cx="5120640" cy="1645920"/>
          </a:xfrm>
          <a:prstGeom prst="rect">
            <a:avLst/>
          </a:prstGeom>
          <a:noFill/>
          <a:ln/>
        </p:spPr>
        <p:txBody>
          <a:bodyPr wrap="square" lIns="0" tIns="0" rIns="0" bIns="0" rtlCol="0" anchor="ctr"/>
          <a:lstStyle/>
          <a:p>
            <a:pPr indent="0" marL="0">
              <a:lnSpc>
                <a:spcPts val="1500"/>
              </a:lnSpc>
              <a:buNone/>
            </a:pPr>
            <a:r>
              <a:rPr lang="en-US" sz="1100" dirty="0">
                <a:solidFill>
                  <a:srgbClr val="D7E5F0"/>
                </a:solidFill>
                <a:latin typeface="Consolas" pitchFamily="34" charset="0"/>
                <a:ea typeface="Consolas" pitchFamily="34" charset="-122"/>
                <a:cs typeface="Consolas" pitchFamily="34" charset="-120"/>
              </a:rPr>
              <a:t>{'Saanvi': 2, 'Bhavna': 2, 'Harsha': 2,</a:t>
            </a:r>
            <a:endParaRPr lang="en-US" sz="1100" dirty="0"/>
          </a:p>
          <a:p>
            <a:pPr indent="0" marL="0">
              <a:lnSpc>
                <a:spcPts val="1500"/>
              </a:lnSpc>
              <a:buNone/>
            </a:pPr>
            <a:r>
              <a:rPr lang="en-US" sz="1100" dirty="0">
                <a:solidFill>
                  <a:srgbClr val="D7E5F0"/>
                </a:solidFill>
                <a:latin typeface="Consolas" pitchFamily="34" charset="0"/>
                <a:ea typeface="Consolas" pitchFamily="34" charset="-122"/>
                <a:cs typeface="Consolas" pitchFamily="34" charset="-120"/>
              </a:rPr>
              <a:t> 'M.Tech': 1, 'Less Delhi': 1, '3.0': 1,</a:t>
            </a:r>
            <a:endParaRPr lang="en-US" sz="1100" dirty="0"/>
          </a:p>
          <a:p>
            <a:pPr indent="0" marL="0">
              <a:lnSpc>
                <a:spcPts val="1500"/>
              </a:lnSpc>
              <a:buNone/>
            </a:pPr>
            <a:r>
              <a:rPr lang="en-US" sz="1100" dirty="0">
                <a:solidFill>
                  <a:srgbClr val="D7E5F0"/>
                </a:solidFill>
                <a:latin typeface="Consolas" pitchFamily="34" charset="0"/>
                <a:ea typeface="Consolas" pitchFamily="34" charset="-122"/>
                <a:cs typeface="Consolas" pitchFamily="34" charset="-120"/>
              </a:rPr>
              <a:t> 'Less than 5 Kalyan': 1, 'Gaurav': 1,</a:t>
            </a:r>
            <a:endParaRPr lang="en-US" sz="1100" dirty="0"/>
          </a:p>
          <a:p>
            <a:pPr indent="0" marL="0">
              <a:lnSpc>
                <a:spcPts val="1500"/>
              </a:lnSpc>
              <a:buNone/>
            </a:pPr>
            <a:r>
              <a:rPr lang="en-US" sz="1100" dirty="0">
                <a:solidFill>
                  <a:srgbClr val="D7E5F0"/>
                </a:solidFill>
                <a:latin typeface="Consolas" pitchFamily="34" charset="0"/>
                <a:ea typeface="Consolas" pitchFamily="34" charset="-122"/>
                <a:cs typeface="Consolas" pitchFamily="34" charset="-120"/>
              </a:rPr>
              <a:t> 'Reyansh': 1, 'ME': 1, 'M.Com': 1, ...}</a:t>
            </a:r>
            <a:endParaRPr lang="en-US" sz="1100" dirty="0"/>
          </a:p>
        </p:txBody>
      </p:sp>
      <p:sp>
        <p:nvSpPr>
          <p:cNvPr id="10" name="c34"/>
          <p:cNvSpPr/>
          <p:nvPr/>
        </p:nvSpPr>
        <p:spPr>
          <a:xfrm>
            <a:off x="6510528" y="1627632"/>
            <a:ext cx="5102352" cy="4590288"/>
          </a:xfrm>
          <a:prstGeom prst="roundRect">
            <a:avLst>
              <a:gd name="adj" fmla="val 1992"/>
            </a:avLst>
          </a:prstGeom>
          <a:solidFill>
            <a:srgbClr val="EEF3F7"/>
          </a:solidFill>
          <a:ln/>
        </p:spPr>
      </p:sp>
      <p:sp>
        <p:nvSpPr>
          <p:cNvPr id="11" name="Text 9"/>
          <p:cNvSpPr txBox="1"/>
          <p:nvPr/>
        </p:nvSpPr>
        <p:spPr>
          <a:xfrm>
            <a:off x="6784848" y="1810512"/>
            <a:ext cx="4572000" cy="274320"/>
          </a:xfrm>
          <a:prstGeom prst="rect">
            <a:avLst/>
          </a:prstGeom>
          <a:noFill/>
          <a:ln/>
        </p:spPr>
        <p:txBody>
          <a:bodyPr wrap="square" lIns="0" tIns="0" rIns="0" bIns="0" rtlCol="0" anchor="ctr"/>
          <a:lstStyle/>
          <a:p>
            <a:pPr indent="0" marL="0">
              <a:buNone/>
            </a:pPr>
            <a:r>
              <a:rPr lang="en-US" sz="1150" b="1" spc="150" kern="0" dirty="0">
                <a:solidFill>
                  <a:srgbClr val="D03B3B"/>
                </a:solidFill>
              </a:rPr>
              <a:t>BA LOẠI RÁC TRONG CÙNG MỘT CỘT</a:t>
            </a:r>
            <a:endParaRPr lang="en-US" sz="1150" dirty="0"/>
          </a:p>
        </p:txBody>
      </p:sp>
      <p:sp>
        <p:nvSpPr>
          <p:cNvPr id="12" name="r0"/>
          <p:cNvSpPr/>
          <p:nvPr/>
        </p:nvSpPr>
        <p:spPr>
          <a:xfrm>
            <a:off x="6784848" y="2276856"/>
            <a:ext cx="182880" cy="182880"/>
          </a:xfrm>
          <a:prstGeom prst="ellipse">
            <a:avLst/>
          </a:prstGeom>
          <a:solidFill>
            <a:srgbClr val="D03B3B"/>
          </a:solidFill>
          <a:ln/>
        </p:spPr>
      </p:sp>
      <p:sp>
        <p:nvSpPr>
          <p:cNvPr id="13" name="Text 11"/>
          <p:cNvSpPr txBox="1"/>
          <p:nvPr/>
        </p:nvSpPr>
        <p:spPr>
          <a:xfrm>
            <a:off x="7077456" y="2212848"/>
            <a:ext cx="4206240" cy="274320"/>
          </a:xfrm>
          <a:prstGeom prst="rect">
            <a:avLst/>
          </a:prstGeom>
          <a:noFill/>
          <a:ln/>
        </p:spPr>
        <p:txBody>
          <a:bodyPr wrap="square" lIns="0" tIns="0" rIns="0" bIns="0" rtlCol="0" anchor="ctr"/>
          <a:lstStyle/>
          <a:p>
            <a:pPr indent="0" marL="0">
              <a:buNone/>
            </a:pPr>
            <a:r>
              <a:rPr lang="en-US" sz="1300" b="1" dirty="0">
                <a:solidFill>
                  <a:srgbClr val="16213A"/>
                </a:solidFill>
              </a:rPr>
              <a:t>Tên người</a:t>
            </a:r>
            <a:endParaRPr lang="en-US" sz="1300" dirty="0"/>
          </a:p>
        </p:txBody>
      </p:sp>
      <p:sp>
        <p:nvSpPr>
          <p:cNvPr id="14" name="Text 12"/>
          <p:cNvSpPr txBox="1"/>
          <p:nvPr/>
        </p:nvSpPr>
        <p:spPr>
          <a:xfrm>
            <a:off x="7077456" y="2505456"/>
            <a:ext cx="4297680" cy="786384"/>
          </a:xfrm>
          <a:prstGeom prst="rect">
            <a:avLst/>
          </a:prstGeom>
          <a:noFill/>
          <a:ln/>
        </p:spPr>
        <p:txBody>
          <a:bodyPr wrap="square" lIns="0" tIns="0" rIns="0" bIns="0" rtlCol="0" anchor="ctr"/>
          <a:lstStyle/>
          <a:p>
            <a:pPr indent="0" marL="0">
              <a:lnSpc>
                <a:spcPts val="1350"/>
              </a:lnSpc>
              <a:buNone/>
            </a:pPr>
            <a:r>
              <a:rPr lang="en-US" sz="1150" dirty="0">
                <a:solidFill>
                  <a:srgbClr val="6D7A8C"/>
                </a:solidFill>
              </a:rPr>
              <a:t>Saanvi, Bhavna, Gaurav, Reyansh — tên riêng, không phải thành phố.</a:t>
            </a:r>
            <a:endParaRPr lang="en-US" sz="1150" dirty="0"/>
          </a:p>
        </p:txBody>
      </p:sp>
      <p:sp>
        <p:nvSpPr>
          <p:cNvPr id="15" name="r1"/>
          <p:cNvSpPr/>
          <p:nvPr/>
        </p:nvSpPr>
        <p:spPr>
          <a:xfrm>
            <a:off x="6784848" y="3465576"/>
            <a:ext cx="182880" cy="182880"/>
          </a:xfrm>
          <a:prstGeom prst="ellipse">
            <a:avLst/>
          </a:prstGeom>
          <a:solidFill>
            <a:srgbClr val="EDA100"/>
          </a:solidFill>
          <a:ln/>
        </p:spPr>
      </p:sp>
      <p:sp>
        <p:nvSpPr>
          <p:cNvPr id="16" name="Text 14"/>
          <p:cNvSpPr txBox="1"/>
          <p:nvPr/>
        </p:nvSpPr>
        <p:spPr>
          <a:xfrm>
            <a:off x="7077456" y="3401568"/>
            <a:ext cx="4206240" cy="274320"/>
          </a:xfrm>
          <a:prstGeom prst="rect">
            <a:avLst/>
          </a:prstGeom>
          <a:noFill/>
          <a:ln/>
        </p:spPr>
        <p:txBody>
          <a:bodyPr wrap="square" lIns="0" tIns="0" rIns="0" bIns="0" rtlCol="0" anchor="ctr"/>
          <a:lstStyle/>
          <a:p>
            <a:pPr indent="0" marL="0">
              <a:buNone/>
            </a:pPr>
            <a:r>
              <a:rPr lang="en-US" sz="1300" b="1" dirty="0">
                <a:solidFill>
                  <a:srgbClr val="16213A"/>
                </a:solidFill>
              </a:rPr>
              <a:t>Mã bằng cấp</a:t>
            </a:r>
            <a:endParaRPr lang="en-US" sz="1300" dirty="0"/>
          </a:p>
        </p:txBody>
      </p:sp>
      <p:sp>
        <p:nvSpPr>
          <p:cNvPr id="17" name="Text 15"/>
          <p:cNvSpPr txBox="1"/>
          <p:nvPr/>
        </p:nvSpPr>
        <p:spPr>
          <a:xfrm>
            <a:off x="7077456" y="3694176"/>
            <a:ext cx="4297680" cy="786384"/>
          </a:xfrm>
          <a:prstGeom prst="rect">
            <a:avLst/>
          </a:prstGeom>
          <a:noFill/>
          <a:ln/>
        </p:spPr>
        <p:txBody>
          <a:bodyPr wrap="square" lIns="0" tIns="0" rIns="0" bIns="0" rtlCol="0" anchor="ctr"/>
          <a:lstStyle/>
          <a:p>
            <a:pPr indent="0" marL="0">
              <a:lnSpc>
                <a:spcPts val="1350"/>
              </a:lnSpc>
              <a:buNone/>
            </a:pPr>
            <a:r>
              <a:rPr lang="en-US" sz="1150" dirty="0">
                <a:solidFill>
                  <a:srgbClr val="6D7A8C"/>
                </a:solidFill>
              </a:rPr>
              <a:t>M.Tech, M.Com, ME — thuộc cột Degree, bị lạc sang.</a:t>
            </a:r>
            <a:endParaRPr lang="en-US" sz="1150" dirty="0"/>
          </a:p>
        </p:txBody>
      </p:sp>
      <p:sp>
        <p:nvSpPr>
          <p:cNvPr id="18" name="r2"/>
          <p:cNvSpPr/>
          <p:nvPr/>
        </p:nvSpPr>
        <p:spPr>
          <a:xfrm>
            <a:off x="6784848" y="4654296"/>
            <a:ext cx="182880" cy="182880"/>
          </a:xfrm>
          <a:prstGeom prst="ellipse">
            <a:avLst/>
          </a:prstGeom>
          <a:solidFill>
            <a:srgbClr val="1C7293"/>
          </a:solidFill>
          <a:ln/>
        </p:spPr>
      </p:sp>
      <p:sp>
        <p:nvSpPr>
          <p:cNvPr id="19" name="Text 17"/>
          <p:cNvSpPr txBox="1"/>
          <p:nvPr/>
        </p:nvSpPr>
        <p:spPr>
          <a:xfrm>
            <a:off x="7077456" y="4590288"/>
            <a:ext cx="4206240" cy="274320"/>
          </a:xfrm>
          <a:prstGeom prst="rect">
            <a:avLst/>
          </a:prstGeom>
          <a:noFill/>
          <a:ln/>
        </p:spPr>
        <p:txBody>
          <a:bodyPr wrap="square" lIns="0" tIns="0" rIns="0" bIns="0" rtlCol="0" anchor="ctr"/>
          <a:lstStyle/>
          <a:p>
            <a:pPr indent="0" marL="0">
              <a:buNone/>
            </a:pPr>
            <a:r>
              <a:rPr lang="en-US" sz="1300" b="1" dirty="0">
                <a:solidFill>
                  <a:srgbClr val="16213A"/>
                </a:solidFill>
              </a:rPr>
              <a:t>Chuỗi lỗi ghép</a:t>
            </a:r>
            <a:endParaRPr lang="en-US" sz="1300" dirty="0"/>
          </a:p>
        </p:txBody>
      </p:sp>
      <p:sp>
        <p:nvSpPr>
          <p:cNvPr id="20" name="Text 18"/>
          <p:cNvSpPr txBox="1"/>
          <p:nvPr/>
        </p:nvSpPr>
        <p:spPr>
          <a:xfrm>
            <a:off x="7077456" y="4882896"/>
            <a:ext cx="4297680" cy="786384"/>
          </a:xfrm>
          <a:prstGeom prst="rect">
            <a:avLst/>
          </a:prstGeom>
          <a:noFill/>
          <a:ln/>
        </p:spPr>
        <p:txBody>
          <a:bodyPr wrap="square" lIns="0" tIns="0" rIns="0" bIns="0" rtlCol="0" anchor="ctr"/>
          <a:lstStyle/>
          <a:p>
            <a:pPr indent="0" marL="0">
              <a:lnSpc>
                <a:spcPts val="1350"/>
              </a:lnSpc>
              <a:buNone/>
            </a:pPr>
            <a:r>
              <a:rPr lang="en-US" sz="1150" dirty="0">
                <a:solidFill>
                  <a:srgbClr val="6D7A8C"/>
                </a:solidFill>
              </a:rPr>
              <a:t>“Less Delhi”, “Less than 5 Kalyan” — giá trị cột Sleep Duration dính vào tên thành phố.</a:t>
            </a:r>
            <a:endParaRPr lang="en-US" sz="1150" dirty="0"/>
          </a:p>
        </p:txBody>
      </p:sp>
      <p:sp>
        <p:nvSpPr>
          <p:cNvPr id="21" name="Text 19"/>
          <p:cNvSpPr txBox="1"/>
          <p:nvPr/>
        </p:nvSpPr>
        <p:spPr>
          <a:xfrm>
            <a:off x="6784848" y="5760720"/>
            <a:ext cx="4572000" cy="384048"/>
          </a:xfrm>
          <a:prstGeom prst="rect">
            <a:avLst/>
          </a:prstGeom>
          <a:noFill/>
          <a:ln/>
        </p:spPr>
        <p:txBody>
          <a:bodyPr wrap="square" lIns="0" tIns="0" rIns="0" bIns="0" rtlCol="0" anchor="ctr"/>
          <a:lstStyle/>
          <a:p>
            <a:pPr indent="0" marL="0">
              <a:lnSpc>
                <a:spcPts val="1300"/>
              </a:lnSpc>
              <a:buNone/>
            </a:pPr>
            <a:r>
              <a:rPr lang="en-US" sz="1100" i="1" dirty="0">
                <a:solidFill>
                  <a:srgbClr val="065A82"/>
                </a:solidFill>
              </a:rPr>
              <a:t>Chỉ 26 ô rác trên 27.901 dòng (0,09%) — nhưng tiết lộ quy trình thu thập có lỗi hệ thống.</a:t>
            </a:r>
            <a:endParaRPr lang="en-US" sz="110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ph idx="100" type="body" hasCustomPrompt="1"/>
          </p:nvPr>
        </p:nvSpPr>
        <p:spPr>
          <a:xfrm>
            <a:off x="841248" y="2560320"/>
            <a:ext cx="10424160" cy="411480"/>
          </a:xfrm>
          <a:prstGeom prst="rect">
            <a:avLst/>
          </a:prstGeom>
          <a:noFill/>
          <a:ln/>
        </p:spPr>
        <p:txBody>
          <a:bodyPr wrap="square" rtlCol="0"/>
          <a:lstStyle/>
          <a:p>
            <a:pPr algn="l" indent="0" marL="0">
              <a:buNone/>
            </a:pPr>
            <a:r>
              <a:rPr lang="en-US" sz="1600" b="1" spc="300" kern="0" dirty="0">
                <a:solidFill>
                  <a:srgbClr val="9FD2E8"/>
                </a:solidFill>
              </a:rPr>
              <a:t>BƯỚC 3 VÀ 4</a:t>
            </a:r>
            <a:endParaRPr lang="en-US" sz="1600" dirty="0"/>
          </a:p>
        </p:txBody>
      </p:sp>
      <p:sp>
        <p:nvSpPr>
          <p:cNvPr id="3" name="Text 0"/>
          <p:cNvSpPr txBox="1"/>
          <p:nvPr>
            <p:ph idx="101" type="title" hasCustomPrompt="1"/>
          </p:nvPr>
        </p:nvSpPr>
        <p:spPr>
          <a:xfrm>
            <a:off x="841248" y="3017520"/>
            <a:ext cx="10424160" cy="1005840"/>
          </a:xfrm>
          <a:prstGeom prst="rect">
            <a:avLst/>
          </a:prstGeom>
          <a:noFill/>
          <a:ln/>
        </p:spPr>
        <p:txBody>
          <a:bodyPr wrap="square" rtlCol="0"/>
          <a:lstStyle/>
          <a:p>
            <a:pPr algn="l" indent="0" marL="0">
              <a:buNone/>
            </a:pPr>
            <a:r>
              <a:rPr lang="en-US" sz="3600" b="1" dirty="0">
                <a:solidFill>
                  <a:srgbClr val="FFFFFF"/>
                </a:solidFill>
              </a:rPr>
              <a:t>Trực quan hóa và rút ra tri thức</a:t>
            </a:r>
            <a:endParaRPr lang="en-US" sz="3600" dirty="0"/>
          </a:p>
        </p:txBody>
      </p:sp>
      <p:sp>
        <p:nvSpPr>
          <p:cNvPr id="4" name="Text 0"/>
          <p:cNvSpPr txBox="1"/>
          <p:nvPr>
            <p:ph idx="102" type="body" hasCustomPrompt="1"/>
          </p:nvPr>
        </p:nvSpPr>
        <p:spPr>
          <a:xfrm>
            <a:off x="841248" y="4069080"/>
            <a:ext cx="10424160" cy="822960"/>
          </a:xfrm>
          <a:prstGeom prst="rect">
            <a:avLst/>
          </a:prstGeom>
          <a:noFill/>
          <a:ln/>
        </p:spPr>
        <p:txBody>
          <a:bodyPr wrap="square" rtlCol="0"/>
          <a:lstStyle/>
          <a:p>
            <a:pPr algn="l" indent="0" marL="0">
              <a:buNone/>
            </a:pPr>
            <a:r>
              <a:rPr lang="en-US" sz="1500" dirty="0">
                <a:solidFill>
                  <a:srgbClr val="C9E4F2"/>
                </a:solidFill>
              </a:rPr>
              <a:t>Từ bảng số khô khan đến kết luận mà người khác hành động được</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800" b="1" dirty="0">
                <a:solidFill>
                  <a:srgbClr val="16213A"/>
                </a:solidFill>
              </a:rPr>
              <a:t>Chọn biểu đồ theo câu hỏi, không theo sở thích</a:t>
            </a:r>
            <a:endParaRPr lang="en-US" sz="28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algn="l" indent="0" marL="0">
              <a:buNone/>
            </a:pPr>
            <a:r>
              <a:rPr lang="en-US" sz="1400" b="1" dirty="0">
                <a:solidFill>
                  <a:srgbClr val="1C7293"/>
                </a:solidFill>
              </a:rPr>
              <a:t>Xuất phát từ điều bạn muốn trả lời, rồi tra bảng</a:t>
            </a:r>
            <a:endParaRPr lang="en-US" sz="1400" dirty="0"/>
          </a:p>
        </p:txBody>
      </p:sp>
      <p:sp>
        <p:nvSpPr>
          <p:cNvPr id="4" name="c35"/>
          <p:cNvSpPr/>
          <p:nvPr/>
        </p:nvSpPr>
        <p:spPr>
          <a:xfrm>
            <a:off x="566928" y="1627632"/>
            <a:ext cx="11064240" cy="548640"/>
          </a:xfrm>
          <a:prstGeom prst="roundRect">
            <a:avLst>
              <a:gd name="adj" fmla="val 16667"/>
            </a:avLst>
          </a:prstGeom>
          <a:solidFill>
            <a:srgbClr val="EEF3F7"/>
          </a:solidFill>
          <a:ln/>
        </p:spPr>
      </p:sp>
      <p:sp>
        <p:nvSpPr>
          <p:cNvPr id="5" name="q0"/>
          <p:cNvSpPr/>
          <p:nvPr/>
        </p:nvSpPr>
        <p:spPr>
          <a:xfrm>
            <a:off x="786384" y="1810512"/>
            <a:ext cx="182880" cy="182880"/>
          </a:xfrm>
          <a:prstGeom prst="ellipse">
            <a:avLst/>
          </a:prstGeom>
          <a:solidFill>
            <a:srgbClr val="065A82"/>
          </a:solidFill>
          <a:ln/>
        </p:spPr>
      </p:sp>
      <p:sp>
        <p:nvSpPr>
          <p:cNvPr id="6" name="Text 4"/>
          <p:cNvSpPr txBox="1"/>
          <p:nvPr/>
        </p:nvSpPr>
        <p:spPr>
          <a:xfrm>
            <a:off x="1097280" y="1664208"/>
            <a:ext cx="6035040" cy="475488"/>
          </a:xfrm>
          <a:prstGeom prst="rect">
            <a:avLst/>
          </a:prstGeom>
          <a:noFill/>
          <a:ln/>
        </p:spPr>
        <p:txBody>
          <a:bodyPr wrap="square" lIns="0" tIns="0" rIns="0" bIns="0" rtlCol="0" anchor="ctr"/>
          <a:lstStyle/>
          <a:p>
            <a:pPr indent="0" marL="0">
              <a:buNone/>
            </a:pPr>
            <a:r>
              <a:rPr lang="en-US" sz="1300" dirty="0">
                <a:solidFill>
                  <a:srgbClr val="16213A"/>
                </a:solidFill>
              </a:rPr>
              <a:t>Biến này phân bố thế nào?</a:t>
            </a:r>
            <a:endParaRPr lang="en-US" sz="1300" dirty="0"/>
          </a:p>
        </p:txBody>
      </p:sp>
      <p:sp>
        <p:nvSpPr>
          <p:cNvPr id="7" name="Text 5"/>
          <p:cNvSpPr txBox="1"/>
          <p:nvPr/>
        </p:nvSpPr>
        <p:spPr>
          <a:xfrm>
            <a:off x="7242048" y="1664208"/>
            <a:ext cx="4114800" cy="475488"/>
          </a:xfrm>
          <a:prstGeom prst="rect">
            <a:avLst/>
          </a:prstGeom>
          <a:noFill/>
          <a:ln/>
        </p:spPr>
        <p:txBody>
          <a:bodyPr wrap="square" lIns="0" tIns="0" rIns="0" bIns="0" rtlCol="0" anchor="ctr"/>
          <a:lstStyle/>
          <a:p>
            <a:pPr indent="0" marL="0">
              <a:buNone/>
            </a:pPr>
            <a:r>
              <a:rPr lang="en-US" sz="1300" b="1" dirty="0">
                <a:solidFill>
                  <a:srgbClr val="065A82"/>
                </a:solidFill>
              </a:rPr>
              <a:t>→  Histogram</a:t>
            </a:r>
            <a:endParaRPr lang="en-US" sz="1300" dirty="0"/>
          </a:p>
        </p:txBody>
      </p:sp>
      <p:sp>
        <p:nvSpPr>
          <p:cNvPr id="8" name="c36"/>
          <p:cNvSpPr/>
          <p:nvPr/>
        </p:nvSpPr>
        <p:spPr>
          <a:xfrm>
            <a:off x="566928" y="2286000"/>
            <a:ext cx="11064240" cy="548640"/>
          </a:xfrm>
          <a:prstGeom prst="roundRect">
            <a:avLst>
              <a:gd name="adj" fmla="val 16667"/>
            </a:avLst>
          </a:prstGeom>
          <a:solidFill>
            <a:srgbClr val="FFFFFF"/>
          </a:solidFill>
          <a:ln/>
        </p:spPr>
      </p:sp>
      <p:sp>
        <p:nvSpPr>
          <p:cNvPr id="9" name="q1"/>
          <p:cNvSpPr/>
          <p:nvPr/>
        </p:nvSpPr>
        <p:spPr>
          <a:xfrm>
            <a:off x="786384" y="2468880"/>
            <a:ext cx="182880" cy="182880"/>
          </a:xfrm>
          <a:prstGeom prst="ellipse">
            <a:avLst/>
          </a:prstGeom>
          <a:solidFill>
            <a:srgbClr val="1C7293"/>
          </a:solidFill>
          <a:ln/>
        </p:spPr>
      </p:sp>
      <p:sp>
        <p:nvSpPr>
          <p:cNvPr id="10" name="Text 8"/>
          <p:cNvSpPr txBox="1"/>
          <p:nvPr/>
        </p:nvSpPr>
        <p:spPr>
          <a:xfrm>
            <a:off x="1097280" y="2322576"/>
            <a:ext cx="6035040" cy="475488"/>
          </a:xfrm>
          <a:prstGeom prst="rect">
            <a:avLst/>
          </a:prstGeom>
          <a:noFill/>
          <a:ln/>
        </p:spPr>
        <p:txBody>
          <a:bodyPr wrap="square" lIns="0" tIns="0" rIns="0" bIns="0" rtlCol="0" anchor="ctr"/>
          <a:lstStyle/>
          <a:p>
            <a:pPr indent="0" marL="0">
              <a:buNone/>
            </a:pPr>
            <a:r>
              <a:rPr lang="en-US" sz="1300" dirty="0">
                <a:solidFill>
                  <a:srgbClr val="16213A"/>
                </a:solidFill>
              </a:rPr>
              <a:t>So sánh giữa các nhóm</a:t>
            </a:r>
            <a:endParaRPr lang="en-US" sz="1300" dirty="0"/>
          </a:p>
        </p:txBody>
      </p:sp>
      <p:sp>
        <p:nvSpPr>
          <p:cNvPr id="11" name="Text 9"/>
          <p:cNvSpPr txBox="1"/>
          <p:nvPr/>
        </p:nvSpPr>
        <p:spPr>
          <a:xfrm>
            <a:off x="7242048" y="2322576"/>
            <a:ext cx="4114800" cy="475488"/>
          </a:xfrm>
          <a:prstGeom prst="rect">
            <a:avLst/>
          </a:prstGeom>
          <a:noFill/>
          <a:ln/>
        </p:spPr>
        <p:txBody>
          <a:bodyPr wrap="square" lIns="0" tIns="0" rIns="0" bIns="0" rtlCol="0" anchor="ctr"/>
          <a:lstStyle/>
          <a:p>
            <a:pPr indent="0" marL="0">
              <a:buNone/>
            </a:pPr>
            <a:r>
              <a:rPr lang="en-US" sz="1300" b="1" dirty="0">
                <a:solidFill>
                  <a:srgbClr val="1C7293"/>
                </a:solidFill>
              </a:rPr>
              <a:t>→  Biểu đồ cột</a:t>
            </a:r>
            <a:endParaRPr lang="en-US" sz="1300" dirty="0"/>
          </a:p>
        </p:txBody>
      </p:sp>
      <p:sp>
        <p:nvSpPr>
          <p:cNvPr id="12" name="c37"/>
          <p:cNvSpPr/>
          <p:nvPr/>
        </p:nvSpPr>
        <p:spPr>
          <a:xfrm>
            <a:off x="566928" y="2944368"/>
            <a:ext cx="11064240" cy="548640"/>
          </a:xfrm>
          <a:prstGeom prst="roundRect">
            <a:avLst>
              <a:gd name="adj" fmla="val 16667"/>
            </a:avLst>
          </a:prstGeom>
          <a:solidFill>
            <a:srgbClr val="EEF3F7"/>
          </a:solidFill>
          <a:ln/>
        </p:spPr>
      </p:sp>
      <p:sp>
        <p:nvSpPr>
          <p:cNvPr id="13" name="q2"/>
          <p:cNvSpPr/>
          <p:nvPr/>
        </p:nvSpPr>
        <p:spPr>
          <a:xfrm>
            <a:off x="786384" y="3127248"/>
            <a:ext cx="182880" cy="182880"/>
          </a:xfrm>
          <a:prstGeom prst="ellipse">
            <a:avLst/>
          </a:prstGeom>
          <a:solidFill>
            <a:srgbClr val="2A78D6"/>
          </a:solidFill>
          <a:ln/>
        </p:spPr>
      </p:sp>
      <p:sp>
        <p:nvSpPr>
          <p:cNvPr id="14" name="Text 12"/>
          <p:cNvSpPr txBox="1"/>
          <p:nvPr/>
        </p:nvSpPr>
        <p:spPr>
          <a:xfrm>
            <a:off x="1097280" y="2980944"/>
            <a:ext cx="6035040" cy="475488"/>
          </a:xfrm>
          <a:prstGeom prst="rect">
            <a:avLst/>
          </a:prstGeom>
          <a:noFill/>
          <a:ln/>
        </p:spPr>
        <p:txBody>
          <a:bodyPr wrap="square" lIns="0" tIns="0" rIns="0" bIns="0" rtlCol="0" anchor="ctr"/>
          <a:lstStyle/>
          <a:p>
            <a:pPr indent="0" marL="0">
              <a:buNone/>
            </a:pPr>
            <a:r>
              <a:rPr lang="en-US" sz="1300" dirty="0">
                <a:solidFill>
                  <a:srgbClr val="16213A"/>
                </a:solidFill>
              </a:rPr>
              <a:t>Xếp hạng nhiều mục</a:t>
            </a:r>
            <a:endParaRPr lang="en-US" sz="1300" dirty="0"/>
          </a:p>
        </p:txBody>
      </p:sp>
      <p:sp>
        <p:nvSpPr>
          <p:cNvPr id="15" name="Text 13"/>
          <p:cNvSpPr txBox="1"/>
          <p:nvPr/>
        </p:nvSpPr>
        <p:spPr>
          <a:xfrm>
            <a:off x="7242048" y="2980944"/>
            <a:ext cx="4114800" cy="475488"/>
          </a:xfrm>
          <a:prstGeom prst="rect">
            <a:avLst/>
          </a:prstGeom>
          <a:noFill/>
          <a:ln/>
        </p:spPr>
        <p:txBody>
          <a:bodyPr wrap="square" lIns="0" tIns="0" rIns="0" bIns="0" rtlCol="0" anchor="ctr"/>
          <a:lstStyle/>
          <a:p>
            <a:pPr indent="0" marL="0">
              <a:buNone/>
            </a:pPr>
            <a:r>
              <a:rPr lang="en-US" sz="1300" b="1" dirty="0">
                <a:solidFill>
                  <a:srgbClr val="2A78D6"/>
                </a:solidFill>
              </a:rPr>
              <a:t>→  Cột ngang</a:t>
            </a:r>
            <a:endParaRPr lang="en-US" sz="1300" dirty="0"/>
          </a:p>
        </p:txBody>
      </p:sp>
      <p:sp>
        <p:nvSpPr>
          <p:cNvPr id="16" name="c38"/>
          <p:cNvSpPr/>
          <p:nvPr/>
        </p:nvSpPr>
        <p:spPr>
          <a:xfrm>
            <a:off x="566928" y="3602736"/>
            <a:ext cx="11064240" cy="548640"/>
          </a:xfrm>
          <a:prstGeom prst="roundRect">
            <a:avLst>
              <a:gd name="adj" fmla="val 16667"/>
            </a:avLst>
          </a:prstGeom>
          <a:solidFill>
            <a:srgbClr val="FFFFFF"/>
          </a:solidFill>
          <a:ln/>
        </p:spPr>
      </p:sp>
      <p:sp>
        <p:nvSpPr>
          <p:cNvPr id="17" name="q3"/>
          <p:cNvSpPr/>
          <p:nvPr/>
        </p:nvSpPr>
        <p:spPr>
          <a:xfrm>
            <a:off x="786384" y="3785616"/>
            <a:ext cx="182880" cy="182880"/>
          </a:xfrm>
          <a:prstGeom prst="ellipse">
            <a:avLst/>
          </a:prstGeom>
          <a:solidFill>
            <a:srgbClr val="EDA100"/>
          </a:solidFill>
          <a:ln/>
        </p:spPr>
      </p:sp>
      <p:sp>
        <p:nvSpPr>
          <p:cNvPr id="18" name="Text 16"/>
          <p:cNvSpPr txBox="1"/>
          <p:nvPr/>
        </p:nvSpPr>
        <p:spPr>
          <a:xfrm>
            <a:off x="1097280" y="3639312"/>
            <a:ext cx="6035040" cy="475488"/>
          </a:xfrm>
          <a:prstGeom prst="rect">
            <a:avLst/>
          </a:prstGeom>
          <a:noFill/>
          <a:ln/>
        </p:spPr>
        <p:txBody>
          <a:bodyPr wrap="square" lIns="0" tIns="0" rIns="0" bIns="0" rtlCol="0" anchor="ctr"/>
          <a:lstStyle/>
          <a:p>
            <a:pPr indent="0" marL="0">
              <a:buNone/>
            </a:pPr>
            <a:r>
              <a:rPr lang="en-US" sz="1300" dirty="0">
                <a:solidFill>
                  <a:srgbClr val="16213A"/>
                </a:solidFill>
              </a:rPr>
              <a:t>Hai biến số có liên hệ không?</a:t>
            </a:r>
            <a:endParaRPr lang="en-US" sz="1300" dirty="0"/>
          </a:p>
        </p:txBody>
      </p:sp>
      <p:sp>
        <p:nvSpPr>
          <p:cNvPr id="19" name="Text 17"/>
          <p:cNvSpPr txBox="1"/>
          <p:nvPr/>
        </p:nvSpPr>
        <p:spPr>
          <a:xfrm>
            <a:off x="7242048" y="3639312"/>
            <a:ext cx="4114800" cy="475488"/>
          </a:xfrm>
          <a:prstGeom prst="rect">
            <a:avLst/>
          </a:prstGeom>
          <a:noFill/>
          <a:ln/>
        </p:spPr>
        <p:txBody>
          <a:bodyPr wrap="square" lIns="0" tIns="0" rIns="0" bIns="0" rtlCol="0" anchor="ctr"/>
          <a:lstStyle/>
          <a:p>
            <a:pPr indent="0" marL="0">
              <a:buNone/>
            </a:pPr>
            <a:r>
              <a:rPr lang="en-US" sz="1300" b="1" dirty="0">
                <a:solidFill>
                  <a:srgbClr val="EDA100"/>
                </a:solidFill>
              </a:rPr>
              <a:t>→  Biểu đồ phân tán</a:t>
            </a:r>
            <a:endParaRPr lang="en-US" sz="1300" dirty="0"/>
          </a:p>
        </p:txBody>
      </p:sp>
      <p:sp>
        <p:nvSpPr>
          <p:cNvPr id="20" name="c39"/>
          <p:cNvSpPr/>
          <p:nvPr/>
        </p:nvSpPr>
        <p:spPr>
          <a:xfrm>
            <a:off x="566928" y="4261104"/>
            <a:ext cx="11064240" cy="548640"/>
          </a:xfrm>
          <a:prstGeom prst="roundRect">
            <a:avLst>
              <a:gd name="adj" fmla="val 16667"/>
            </a:avLst>
          </a:prstGeom>
          <a:solidFill>
            <a:srgbClr val="EEF3F7"/>
          </a:solidFill>
          <a:ln/>
        </p:spPr>
      </p:sp>
      <p:sp>
        <p:nvSpPr>
          <p:cNvPr id="21" name="q4"/>
          <p:cNvSpPr/>
          <p:nvPr/>
        </p:nvSpPr>
        <p:spPr>
          <a:xfrm>
            <a:off x="786384" y="4443984"/>
            <a:ext cx="182880" cy="182880"/>
          </a:xfrm>
          <a:prstGeom prst="ellipse">
            <a:avLst/>
          </a:prstGeom>
          <a:solidFill>
            <a:srgbClr val="1BAF7A"/>
          </a:solidFill>
          <a:ln/>
        </p:spPr>
      </p:sp>
      <p:sp>
        <p:nvSpPr>
          <p:cNvPr id="22" name="Text 20"/>
          <p:cNvSpPr txBox="1"/>
          <p:nvPr/>
        </p:nvSpPr>
        <p:spPr>
          <a:xfrm>
            <a:off x="1097280" y="4297680"/>
            <a:ext cx="6035040" cy="475488"/>
          </a:xfrm>
          <a:prstGeom prst="rect">
            <a:avLst/>
          </a:prstGeom>
          <a:noFill/>
          <a:ln/>
        </p:spPr>
        <p:txBody>
          <a:bodyPr wrap="square" lIns="0" tIns="0" rIns="0" bIns="0" rtlCol="0" anchor="ctr"/>
          <a:lstStyle/>
          <a:p>
            <a:pPr indent="0" marL="0">
              <a:buNone/>
            </a:pPr>
            <a:r>
              <a:rPr lang="en-US" sz="1300" dirty="0">
                <a:solidFill>
                  <a:srgbClr val="16213A"/>
                </a:solidFill>
              </a:rPr>
              <a:t>Thay đổi theo thời gian</a:t>
            </a:r>
            <a:endParaRPr lang="en-US" sz="1300" dirty="0"/>
          </a:p>
        </p:txBody>
      </p:sp>
      <p:sp>
        <p:nvSpPr>
          <p:cNvPr id="23" name="Text 21"/>
          <p:cNvSpPr txBox="1"/>
          <p:nvPr/>
        </p:nvSpPr>
        <p:spPr>
          <a:xfrm>
            <a:off x="7242048" y="4297680"/>
            <a:ext cx="4114800" cy="475488"/>
          </a:xfrm>
          <a:prstGeom prst="rect">
            <a:avLst/>
          </a:prstGeom>
          <a:noFill/>
          <a:ln/>
        </p:spPr>
        <p:txBody>
          <a:bodyPr wrap="square" lIns="0" tIns="0" rIns="0" bIns="0" rtlCol="0" anchor="ctr"/>
          <a:lstStyle/>
          <a:p>
            <a:pPr indent="0" marL="0">
              <a:buNone/>
            </a:pPr>
            <a:r>
              <a:rPr lang="en-US" sz="1300" b="1" dirty="0">
                <a:solidFill>
                  <a:srgbClr val="1BAF7A"/>
                </a:solidFill>
              </a:rPr>
              <a:t>→  Biểu đồ đường</a:t>
            </a:r>
            <a:endParaRPr lang="en-US" sz="1300" dirty="0"/>
          </a:p>
        </p:txBody>
      </p:sp>
      <p:sp>
        <p:nvSpPr>
          <p:cNvPr id="24" name="c40"/>
          <p:cNvSpPr/>
          <p:nvPr/>
        </p:nvSpPr>
        <p:spPr>
          <a:xfrm>
            <a:off x="566928" y="4919472"/>
            <a:ext cx="11064240" cy="548640"/>
          </a:xfrm>
          <a:prstGeom prst="roundRect">
            <a:avLst>
              <a:gd name="adj" fmla="val 16667"/>
            </a:avLst>
          </a:prstGeom>
          <a:solidFill>
            <a:srgbClr val="FFFFFF"/>
          </a:solidFill>
          <a:ln/>
        </p:spPr>
      </p:sp>
      <p:sp>
        <p:nvSpPr>
          <p:cNvPr id="25" name="q5"/>
          <p:cNvSpPr/>
          <p:nvPr/>
        </p:nvSpPr>
        <p:spPr>
          <a:xfrm>
            <a:off x="786384" y="5102352"/>
            <a:ext cx="182880" cy="182880"/>
          </a:xfrm>
          <a:prstGeom prst="ellipse">
            <a:avLst/>
          </a:prstGeom>
          <a:solidFill>
            <a:srgbClr val="1C7293"/>
          </a:solidFill>
          <a:ln/>
        </p:spPr>
      </p:sp>
      <p:sp>
        <p:nvSpPr>
          <p:cNvPr id="26" name="Text 24"/>
          <p:cNvSpPr txBox="1"/>
          <p:nvPr/>
        </p:nvSpPr>
        <p:spPr>
          <a:xfrm>
            <a:off x="1097280" y="4956048"/>
            <a:ext cx="6035040" cy="475488"/>
          </a:xfrm>
          <a:prstGeom prst="rect">
            <a:avLst/>
          </a:prstGeom>
          <a:noFill/>
          <a:ln/>
        </p:spPr>
        <p:txBody>
          <a:bodyPr wrap="square" lIns="0" tIns="0" rIns="0" bIns="0" rtlCol="0" anchor="ctr"/>
          <a:lstStyle/>
          <a:p>
            <a:pPr indent="0" marL="0">
              <a:buNone/>
            </a:pPr>
            <a:r>
              <a:rPr lang="en-US" sz="1300" dirty="0">
                <a:solidFill>
                  <a:srgbClr val="16213A"/>
                </a:solidFill>
              </a:rPr>
              <a:t>Giao của hai biến phân loại</a:t>
            </a:r>
            <a:endParaRPr lang="en-US" sz="1300" dirty="0"/>
          </a:p>
        </p:txBody>
      </p:sp>
      <p:sp>
        <p:nvSpPr>
          <p:cNvPr id="27" name="Text 25"/>
          <p:cNvSpPr txBox="1"/>
          <p:nvPr/>
        </p:nvSpPr>
        <p:spPr>
          <a:xfrm>
            <a:off x="7242048" y="4956048"/>
            <a:ext cx="4114800" cy="475488"/>
          </a:xfrm>
          <a:prstGeom prst="rect">
            <a:avLst/>
          </a:prstGeom>
          <a:noFill/>
          <a:ln/>
        </p:spPr>
        <p:txBody>
          <a:bodyPr wrap="square" lIns="0" tIns="0" rIns="0" bIns="0" rtlCol="0" anchor="ctr"/>
          <a:lstStyle/>
          <a:p>
            <a:pPr indent="0" marL="0">
              <a:buNone/>
            </a:pPr>
            <a:r>
              <a:rPr lang="en-US" sz="1300" b="1" dirty="0">
                <a:solidFill>
                  <a:srgbClr val="1C7293"/>
                </a:solidFill>
              </a:rPr>
              <a:t>→  Biểu đồ nhiệt</a:t>
            </a:r>
            <a:endParaRPr lang="en-US" sz="1300" dirty="0"/>
          </a:p>
        </p:txBody>
      </p:sp>
      <p:sp>
        <p:nvSpPr>
          <p:cNvPr id="28" name="c41"/>
          <p:cNvSpPr/>
          <p:nvPr/>
        </p:nvSpPr>
        <p:spPr>
          <a:xfrm>
            <a:off x="566928" y="5577840"/>
            <a:ext cx="11064240" cy="548640"/>
          </a:xfrm>
          <a:prstGeom prst="roundRect">
            <a:avLst>
              <a:gd name="adj" fmla="val 16667"/>
            </a:avLst>
          </a:prstGeom>
          <a:solidFill>
            <a:srgbClr val="EEF3F7"/>
          </a:solidFill>
          <a:ln/>
        </p:spPr>
      </p:sp>
      <p:sp>
        <p:nvSpPr>
          <p:cNvPr id="29" name="q6"/>
          <p:cNvSpPr/>
          <p:nvPr/>
        </p:nvSpPr>
        <p:spPr>
          <a:xfrm>
            <a:off x="786384" y="5760720"/>
            <a:ext cx="182880" cy="182880"/>
          </a:xfrm>
          <a:prstGeom prst="ellipse">
            <a:avLst/>
          </a:prstGeom>
          <a:solidFill>
            <a:srgbClr val="D03B3B"/>
          </a:solidFill>
          <a:ln/>
        </p:spPr>
      </p:sp>
      <p:sp>
        <p:nvSpPr>
          <p:cNvPr id="30" name="Text 28"/>
          <p:cNvSpPr txBox="1"/>
          <p:nvPr/>
        </p:nvSpPr>
        <p:spPr>
          <a:xfrm>
            <a:off x="1097280" y="5614416"/>
            <a:ext cx="6035040" cy="475488"/>
          </a:xfrm>
          <a:prstGeom prst="rect">
            <a:avLst/>
          </a:prstGeom>
          <a:noFill/>
          <a:ln/>
        </p:spPr>
        <p:txBody>
          <a:bodyPr wrap="square" lIns="0" tIns="0" rIns="0" bIns="0" rtlCol="0" anchor="ctr"/>
          <a:lstStyle/>
          <a:p>
            <a:pPr indent="0" marL="0">
              <a:buNone/>
            </a:pPr>
            <a:r>
              <a:rPr lang="en-US" sz="1300" dirty="0">
                <a:solidFill>
                  <a:srgbClr val="16213A"/>
                </a:solidFill>
              </a:rPr>
              <a:t>Một con số quan trọng</a:t>
            </a:r>
            <a:endParaRPr lang="en-US" sz="1300" dirty="0"/>
          </a:p>
        </p:txBody>
      </p:sp>
      <p:sp>
        <p:nvSpPr>
          <p:cNvPr id="31" name="Text 29"/>
          <p:cNvSpPr txBox="1"/>
          <p:nvPr/>
        </p:nvSpPr>
        <p:spPr>
          <a:xfrm>
            <a:off x="7242048" y="5614416"/>
            <a:ext cx="4114800" cy="475488"/>
          </a:xfrm>
          <a:prstGeom prst="rect">
            <a:avLst/>
          </a:prstGeom>
          <a:noFill/>
          <a:ln/>
        </p:spPr>
        <p:txBody>
          <a:bodyPr wrap="square" lIns="0" tIns="0" rIns="0" bIns="0" rtlCol="0" anchor="ctr"/>
          <a:lstStyle/>
          <a:p>
            <a:pPr indent="0" marL="0">
              <a:buNone/>
            </a:pPr>
            <a:r>
              <a:rPr lang="en-US" sz="1300" b="1" dirty="0">
                <a:solidFill>
                  <a:srgbClr val="D03B3B"/>
                </a:solidFill>
              </a:rPr>
              <a:t>→  Không cần biểu đồ — in số to</a:t>
            </a:r>
            <a:endParaRPr lang="en-US" sz="1300" dirty="0"/>
          </a:p>
        </p:txBody>
      </p:sp>
      <p:sp>
        <p:nvSpPr>
          <p:cNvPr id="32" name="Text 30"/>
          <p:cNvSpPr txBox="1"/>
          <p:nvPr/>
        </p:nvSpPr>
        <p:spPr>
          <a:xfrm>
            <a:off x="566928" y="6309360"/>
            <a:ext cx="11064240" cy="274320"/>
          </a:xfrm>
          <a:prstGeom prst="rect">
            <a:avLst/>
          </a:prstGeom>
          <a:noFill/>
          <a:ln/>
        </p:spPr>
        <p:txBody>
          <a:bodyPr wrap="square" lIns="0" tIns="0" rIns="0" bIns="0" rtlCol="0" anchor="ctr"/>
          <a:lstStyle/>
          <a:p>
            <a:pPr indent="0" marL="0">
              <a:buNone/>
            </a:pPr>
            <a:r>
              <a:rPr lang="en-US" sz="1150" i="1" dirty="0">
                <a:solidFill>
                  <a:srgbClr val="6D7A8C"/>
                </a:solidFill>
              </a:rPr>
              <a:t>Tránh biểu đồ tròn khi có quá ba phần — mắt người rất kém trong việc so sánh diện tích hình quạt.</a:t>
            </a:r>
            <a:endParaRPr lang="en-US" sz="115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800" b="1" dirty="0">
                <a:solidFill>
                  <a:srgbClr val="16213A"/>
                </a:solidFill>
              </a:rPr>
              <a:t>Sáu nguyên tắc của một biểu đồ tốt</a:t>
            </a:r>
            <a:endParaRPr lang="en-US" sz="28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algn="l" indent="0" marL="0">
              <a:buNone/>
            </a:pPr>
            <a:r>
              <a:rPr lang="en-US" sz="1400" b="1" dirty="0">
                <a:solidFill>
                  <a:srgbClr val="1C7293"/>
                </a:solidFill>
              </a:rPr>
              <a:t>Một biểu đồ tồi che giấu hoặc bóp méo sự thật</a:t>
            </a:r>
            <a:endParaRPr lang="en-US" sz="1400" dirty="0"/>
          </a:p>
        </p:txBody>
      </p:sp>
      <p:sp>
        <p:nvSpPr>
          <p:cNvPr id="4" name="c42"/>
          <p:cNvSpPr/>
          <p:nvPr/>
        </p:nvSpPr>
        <p:spPr>
          <a:xfrm>
            <a:off x="566928" y="1645920"/>
            <a:ext cx="3505200" cy="2057400"/>
          </a:xfrm>
          <a:prstGeom prst="roundRect">
            <a:avLst>
              <a:gd name="adj" fmla="val 4444"/>
            </a:avLst>
          </a:prstGeom>
          <a:solidFill>
            <a:srgbClr val="EEF3F7"/>
          </a:solidFill>
          <a:ln/>
        </p:spPr>
      </p:sp>
      <p:sp>
        <p:nvSpPr>
          <p:cNvPr id="5" name="d16"/>
          <p:cNvSpPr/>
          <p:nvPr/>
        </p:nvSpPr>
        <p:spPr>
          <a:xfrm>
            <a:off x="786384" y="1847088"/>
            <a:ext cx="420624" cy="420624"/>
          </a:xfrm>
          <a:prstGeom prst="ellipse">
            <a:avLst/>
          </a:prstGeom>
          <a:solidFill>
            <a:srgbClr val="065A82"/>
          </a:solidFill>
          <a:ln/>
        </p:spPr>
      </p:sp>
      <p:sp>
        <p:nvSpPr>
          <p:cNvPr id="6" name="Text 4"/>
          <p:cNvSpPr txBox="1"/>
          <p:nvPr/>
        </p:nvSpPr>
        <p:spPr>
          <a:xfrm>
            <a:off x="786384" y="18470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5"/>
          <p:cNvSpPr txBox="1"/>
          <p:nvPr/>
        </p:nvSpPr>
        <p:spPr>
          <a:xfrm>
            <a:off x="1316736" y="1828800"/>
            <a:ext cx="2535936" cy="457200"/>
          </a:xfrm>
          <a:prstGeom prst="rect">
            <a:avLst/>
          </a:prstGeom>
          <a:noFill/>
          <a:ln/>
        </p:spPr>
        <p:txBody>
          <a:bodyPr wrap="square" lIns="0" tIns="0" rIns="0" bIns="0" rtlCol="0" anchor="ctr"/>
          <a:lstStyle/>
          <a:p>
            <a:pPr indent="0" marL="0">
              <a:lnSpc>
                <a:spcPts val="1500"/>
              </a:lnSpc>
              <a:buNone/>
            </a:pPr>
            <a:r>
              <a:rPr lang="en-US" sz="1350" b="1" dirty="0">
                <a:solidFill>
                  <a:srgbClr val="16213A"/>
                </a:solidFill>
              </a:rPr>
              <a:t>Tiêu đề nói kết luận</a:t>
            </a:r>
            <a:endParaRPr lang="en-US" sz="1350" dirty="0"/>
          </a:p>
        </p:txBody>
      </p:sp>
      <p:sp>
        <p:nvSpPr>
          <p:cNvPr id="8" name="Text 6"/>
          <p:cNvSpPr txBox="1"/>
          <p:nvPr/>
        </p:nvSpPr>
        <p:spPr>
          <a:xfrm>
            <a:off x="786384" y="2377440"/>
            <a:ext cx="3066288" cy="116128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Viết “Áp lực tăng thì tỷ lệ trầm cảm tăng”, đừng viết “Biểu đồ cột áp lực”.</a:t>
            </a:r>
            <a:endParaRPr lang="en-US" sz="1050" dirty="0"/>
          </a:p>
        </p:txBody>
      </p:sp>
      <p:sp>
        <p:nvSpPr>
          <p:cNvPr id="9" name="c43"/>
          <p:cNvSpPr/>
          <p:nvPr/>
        </p:nvSpPr>
        <p:spPr>
          <a:xfrm>
            <a:off x="4346448" y="1645920"/>
            <a:ext cx="3505200" cy="2057400"/>
          </a:xfrm>
          <a:prstGeom prst="roundRect">
            <a:avLst>
              <a:gd name="adj" fmla="val 4444"/>
            </a:avLst>
          </a:prstGeom>
          <a:solidFill>
            <a:srgbClr val="EEF3F7"/>
          </a:solidFill>
          <a:ln/>
        </p:spPr>
      </p:sp>
      <p:sp>
        <p:nvSpPr>
          <p:cNvPr id="10" name="d17"/>
          <p:cNvSpPr/>
          <p:nvPr/>
        </p:nvSpPr>
        <p:spPr>
          <a:xfrm>
            <a:off x="4565904" y="1847088"/>
            <a:ext cx="420624" cy="420624"/>
          </a:xfrm>
          <a:prstGeom prst="ellipse">
            <a:avLst/>
          </a:prstGeom>
          <a:solidFill>
            <a:srgbClr val="D03B3B"/>
          </a:solidFill>
          <a:ln/>
        </p:spPr>
      </p:sp>
      <p:sp>
        <p:nvSpPr>
          <p:cNvPr id="11" name="Text 9"/>
          <p:cNvSpPr txBox="1"/>
          <p:nvPr/>
        </p:nvSpPr>
        <p:spPr>
          <a:xfrm>
            <a:off x="4565904" y="18470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Text 10"/>
          <p:cNvSpPr txBox="1"/>
          <p:nvPr/>
        </p:nvSpPr>
        <p:spPr>
          <a:xfrm>
            <a:off x="5096256" y="1828800"/>
            <a:ext cx="2535936" cy="457200"/>
          </a:xfrm>
          <a:prstGeom prst="rect">
            <a:avLst/>
          </a:prstGeom>
          <a:noFill/>
          <a:ln/>
        </p:spPr>
        <p:txBody>
          <a:bodyPr wrap="square" lIns="0" tIns="0" rIns="0" bIns="0" rtlCol="0" anchor="ctr"/>
          <a:lstStyle/>
          <a:p>
            <a:pPr indent="0" marL="0">
              <a:lnSpc>
                <a:spcPts val="1500"/>
              </a:lnSpc>
              <a:buNone/>
            </a:pPr>
            <a:r>
              <a:rPr lang="en-US" sz="1350" b="1" dirty="0">
                <a:solidFill>
                  <a:srgbClr val="16213A"/>
                </a:solidFill>
              </a:rPr>
              <a:t>Trục tung bắt đầu từ 0</a:t>
            </a:r>
            <a:endParaRPr lang="en-US" sz="1350" dirty="0"/>
          </a:p>
        </p:txBody>
      </p:sp>
      <p:sp>
        <p:nvSpPr>
          <p:cNvPr id="13" name="Text 11"/>
          <p:cNvSpPr txBox="1"/>
          <p:nvPr/>
        </p:nvSpPr>
        <p:spPr>
          <a:xfrm>
            <a:off x="4565904" y="2377440"/>
            <a:ext cx="3066288" cy="116128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Cắt trục làm phóng đại chênh lệch — cách bóp méo phổ biến nhất.</a:t>
            </a:r>
            <a:endParaRPr lang="en-US" sz="1050" dirty="0"/>
          </a:p>
        </p:txBody>
      </p:sp>
      <p:sp>
        <p:nvSpPr>
          <p:cNvPr id="14" name="c44"/>
          <p:cNvSpPr/>
          <p:nvPr/>
        </p:nvSpPr>
        <p:spPr>
          <a:xfrm>
            <a:off x="8125968" y="1645920"/>
            <a:ext cx="3505200" cy="2057400"/>
          </a:xfrm>
          <a:prstGeom prst="roundRect">
            <a:avLst>
              <a:gd name="adj" fmla="val 4444"/>
            </a:avLst>
          </a:prstGeom>
          <a:solidFill>
            <a:srgbClr val="EEF3F7"/>
          </a:solidFill>
          <a:ln/>
        </p:spPr>
      </p:sp>
      <p:sp>
        <p:nvSpPr>
          <p:cNvPr id="15" name="d18"/>
          <p:cNvSpPr/>
          <p:nvPr/>
        </p:nvSpPr>
        <p:spPr>
          <a:xfrm>
            <a:off x="8345424" y="1847088"/>
            <a:ext cx="420624" cy="420624"/>
          </a:xfrm>
          <a:prstGeom prst="ellipse">
            <a:avLst/>
          </a:prstGeom>
          <a:solidFill>
            <a:srgbClr val="1C7293"/>
          </a:solidFill>
          <a:ln/>
        </p:spPr>
      </p:sp>
      <p:sp>
        <p:nvSpPr>
          <p:cNvPr id="16" name="Text 14"/>
          <p:cNvSpPr txBox="1"/>
          <p:nvPr/>
        </p:nvSpPr>
        <p:spPr>
          <a:xfrm>
            <a:off x="8345424" y="18470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Text 15"/>
          <p:cNvSpPr txBox="1"/>
          <p:nvPr/>
        </p:nvSpPr>
        <p:spPr>
          <a:xfrm>
            <a:off x="8875776" y="1828800"/>
            <a:ext cx="2535936" cy="457200"/>
          </a:xfrm>
          <a:prstGeom prst="rect">
            <a:avLst/>
          </a:prstGeom>
          <a:noFill/>
          <a:ln/>
        </p:spPr>
        <p:txBody>
          <a:bodyPr wrap="square" lIns="0" tIns="0" rIns="0" bIns="0" rtlCol="0" anchor="ctr"/>
          <a:lstStyle/>
          <a:p>
            <a:pPr indent="0" marL="0">
              <a:lnSpc>
                <a:spcPts val="1500"/>
              </a:lnSpc>
              <a:buNone/>
            </a:pPr>
            <a:r>
              <a:rPr lang="en-US" sz="1350" b="1" dirty="0">
                <a:solidFill>
                  <a:srgbClr val="16213A"/>
                </a:solidFill>
              </a:rPr>
              <a:t>Ghi nhãn trực tiếp lên cột</a:t>
            </a:r>
            <a:endParaRPr lang="en-US" sz="1350" dirty="0"/>
          </a:p>
        </p:txBody>
      </p:sp>
      <p:sp>
        <p:nvSpPr>
          <p:cNvPr id="18" name="Text 16"/>
          <p:cNvSpPr txBox="1"/>
          <p:nvPr/>
        </p:nvSpPr>
        <p:spPr>
          <a:xfrm>
            <a:off x="8345424" y="2377440"/>
            <a:ext cx="3066288" cy="116128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Đừng bắt người đọc dóng mắt sang trục để đoán giá trị.</a:t>
            </a:r>
            <a:endParaRPr lang="en-US" sz="1050" dirty="0"/>
          </a:p>
        </p:txBody>
      </p:sp>
      <p:sp>
        <p:nvSpPr>
          <p:cNvPr id="19" name="c45"/>
          <p:cNvSpPr/>
          <p:nvPr/>
        </p:nvSpPr>
        <p:spPr>
          <a:xfrm>
            <a:off x="566928" y="4014216"/>
            <a:ext cx="3505200" cy="2057400"/>
          </a:xfrm>
          <a:prstGeom prst="roundRect">
            <a:avLst>
              <a:gd name="adj" fmla="val 4444"/>
            </a:avLst>
          </a:prstGeom>
          <a:solidFill>
            <a:srgbClr val="EEF3F7"/>
          </a:solidFill>
          <a:ln/>
        </p:spPr>
      </p:sp>
      <p:sp>
        <p:nvSpPr>
          <p:cNvPr id="20" name="d19"/>
          <p:cNvSpPr/>
          <p:nvPr/>
        </p:nvSpPr>
        <p:spPr>
          <a:xfrm>
            <a:off x="786384" y="4215384"/>
            <a:ext cx="420624" cy="420624"/>
          </a:xfrm>
          <a:prstGeom prst="ellipse">
            <a:avLst/>
          </a:prstGeom>
          <a:solidFill>
            <a:srgbClr val="2A78D6"/>
          </a:solidFill>
          <a:ln/>
        </p:spPr>
      </p:sp>
      <p:sp>
        <p:nvSpPr>
          <p:cNvPr id="21" name="Text 19"/>
          <p:cNvSpPr txBox="1"/>
          <p:nvPr/>
        </p:nvSpPr>
        <p:spPr>
          <a:xfrm>
            <a:off x="786384" y="42153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2" name="Text 20"/>
          <p:cNvSpPr txBox="1"/>
          <p:nvPr/>
        </p:nvSpPr>
        <p:spPr>
          <a:xfrm>
            <a:off x="1316736" y="4197096"/>
            <a:ext cx="2535936" cy="457200"/>
          </a:xfrm>
          <a:prstGeom prst="rect">
            <a:avLst/>
          </a:prstGeom>
          <a:noFill/>
          <a:ln/>
        </p:spPr>
        <p:txBody>
          <a:bodyPr wrap="square" lIns="0" tIns="0" rIns="0" bIns="0" rtlCol="0" anchor="ctr"/>
          <a:lstStyle/>
          <a:p>
            <a:pPr indent="0" marL="0">
              <a:lnSpc>
                <a:spcPts val="1500"/>
              </a:lnSpc>
              <a:buNone/>
            </a:pPr>
            <a:r>
              <a:rPr lang="en-US" sz="1350" b="1" dirty="0">
                <a:solidFill>
                  <a:srgbClr val="16213A"/>
                </a:solidFill>
              </a:rPr>
              <a:t>Màu mang ý nghĩa</a:t>
            </a:r>
            <a:endParaRPr lang="en-US" sz="1350" dirty="0"/>
          </a:p>
        </p:txBody>
      </p:sp>
      <p:sp>
        <p:nvSpPr>
          <p:cNvPr id="23" name="Text 21"/>
          <p:cNvSpPr txBox="1"/>
          <p:nvPr/>
        </p:nvSpPr>
        <p:spPr>
          <a:xfrm>
            <a:off x="786384" y="4745736"/>
            <a:ext cx="3066288" cy="116128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Nếu đỏ nghĩa là “xấu” thì phải nhất quán ở mọi biểu đồ.</a:t>
            </a:r>
            <a:endParaRPr lang="en-US" sz="1050" dirty="0"/>
          </a:p>
        </p:txBody>
      </p:sp>
      <p:sp>
        <p:nvSpPr>
          <p:cNvPr id="24" name="c46"/>
          <p:cNvSpPr/>
          <p:nvPr/>
        </p:nvSpPr>
        <p:spPr>
          <a:xfrm>
            <a:off x="4346448" y="4014216"/>
            <a:ext cx="3505200" cy="2057400"/>
          </a:xfrm>
          <a:prstGeom prst="roundRect">
            <a:avLst>
              <a:gd name="adj" fmla="val 4444"/>
            </a:avLst>
          </a:prstGeom>
          <a:solidFill>
            <a:srgbClr val="EEF3F7"/>
          </a:solidFill>
          <a:ln/>
        </p:spPr>
      </p:sp>
      <p:sp>
        <p:nvSpPr>
          <p:cNvPr id="25" name="d20"/>
          <p:cNvSpPr/>
          <p:nvPr/>
        </p:nvSpPr>
        <p:spPr>
          <a:xfrm>
            <a:off x="4565904" y="4215384"/>
            <a:ext cx="420624" cy="420624"/>
          </a:xfrm>
          <a:prstGeom prst="ellipse">
            <a:avLst/>
          </a:prstGeom>
          <a:solidFill>
            <a:srgbClr val="EDA100"/>
          </a:solidFill>
          <a:ln/>
        </p:spPr>
      </p:sp>
      <p:sp>
        <p:nvSpPr>
          <p:cNvPr id="26" name="Text 24"/>
          <p:cNvSpPr txBox="1"/>
          <p:nvPr/>
        </p:nvSpPr>
        <p:spPr>
          <a:xfrm>
            <a:off x="4565904" y="42153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7" name="Text 25"/>
          <p:cNvSpPr txBox="1"/>
          <p:nvPr/>
        </p:nvSpPr>
        <p:spPr>
          <a:xfrm>
            <a:off x="5096256" y="4197096"/>
            <a:ext cx="2535936" cy="457200"/>
          </a:xfrm>
          <a:prstGeom prst="rect">
            <a:avLst/>
          </a:prstGeom>
          <a:noFill/>
          <a:ln/>
        </p:spPr>
        <p:txBody>
          <a:bodyPr wrap="square" lIns="0" tIns="0" rIns="0" bIns="0" rtlCol="0" anchor="ctr"/>
          <a:lstStyle/>
          <a:p>
            <a:pPr indent="0" marL="0">
              <a:lnSpc>
                <a:spcPts val="1500"/>
              </a:lnSpc>
              <a:buNone/>
            </a:pPr>
            <a:r>
              <a:rPr lang="en-US" sz="1350" b="1" dirty="0">
                <a:solidFill>
                  <a:srgbClr val="16213A"/>
                </a:solidFill>
              </a:rPr>
              <a:t>Màu không mâu thuẫn số liệu</a:t>
            </a:r>
            <a:endParaRPr lang="en-US" sz="1350" dirty="0"/>
          </a:p>
        </p:txBody>
      </p:sp>
      <p:sp>
        <p:nvSpPr>
          <p:cNvPr id="28" name="Text 26"/>
          <p:cNvSpPr txBox="1"/>
          <p:nvPr/>
        </p:nvSpPr>
        <p:spPr>
          <a:xfrm>
            <a:off x="4565904" y="4745736"/>
            <a:ext cx="3066288" cy="116128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Quan hệ không tăng đều mà tô màu tăng dần thì người đọc hiểu sai.</a:t>
            </a:r>
            <a:endParaRPr lang="en-US" sz="1050" dirty="0"/>
          </a:p>
        </p:txBody>
      </p:sp>
      <p:sp>
        <p:nvSpPr>
          <p:cNvPr id="29" name="c47"/>
          <p:cNvSpPr/>
          <p:nvPr/>
        </p:nvSpPr>
        <p:spPr>
          <a:xfrm>
            <a:off x="8125968" y="4014216"/>
            <a:ext cx="3505200" cy="2057400"/>
          </a:xfrm>
          <a:prstGeom prst="roundRect">
            <a:avLst>
              <a:gd name="adj" fmla="val 4444"/>
            </a:avLst>
          </a:prstGeom>
          <a:solidFill>
            <a:srgbClr val="EEF3F7"/>
          </a:solidFill>
          <a:ln/>
        </p:spPr>
      </p:sp>
      <p:sp>
        <p:nvSpPr>
          <p:cNvPr id="30" name="d21"/>
          <p:cNvSpPr/>
          <p:nvPr/>
        </p:nvSpPr>
        <p:spPr>
          <a:xfrm>
            <a:off x="8345424" y="4215384"/>
            <a:ext cx="420624" cy="420624"/>
          </a:xfrm>
          <a:prstGeom prst="ellipse">
            <a:avLst/>
          </a:prstGeom>
          <a:solidFill>
            <a:srgbClr val="1BAF7A"/>
          </a:solidFill>
          <a:ln/>
        </p:spPr>
      </p:sp>
      <p:sp>
        <p:nvSpPr>
          <p:cNvPr id="31" name="Text 29"/>
          <p:cNvSpPr txBox="1"/>
          <p:nvPr/>
        </p:nvSpPr>
        <p:spPr>
          <a:xfrm>
            <a:off x="8345424" y="42153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2" name="Text 30"/>
          <p:cNvSpPr txBox="1"/>
          <p:nvPr/>
        </p:nvSpPr>
        <p:spPr>
          <a:xfrm>
            <a:off x="8875776" y="4197096"/>
            <a:ext cx="2535936" cy="457200"/>
          </a:xfrm>
          <a:prstGeom prst="rect">
            <a:avLst/>
          </a:prstGeom>
          <a:noFill/>
          <a:ln/>
        </p:spPr>
        <p:txBody>
          <a:bodyPr wrap="square" lIns="0" tIns="0" rIns="0" bIns="0" rtlCol="0" anchor="ctr"/>
          <a:lstStyle/>
          <a:p>
            <a:pPr indent="0" marL="0">
              <a:lnSpc>
                <a:spcPts val="1500"/>
              </a:lnSpc>
              <a:buNone/>
            </a:pPr>
            <a:r>
              <a:rPr lang="en-US" sz="1350" b="1" dirty="0">
                <a:solidFill>
                  <a:srgbClr val="16213A"/>
                </a:solidFill>
              </a:rPr>
              <a:t>Ghi rõ cỡ mẫu</a:t>
            </a:r>
            <a:endParaRPr lang="en-US" sz="1350" dirty="0"/>
          </a:p>
        </p:txBody>
      </p:sp>
      <p:sp>
        <p:nvSpPr>
          <p:cNvPr id="33" name="Text 31"/>
          <p:cNvSpPr txBox="1"/>
          <p:nvPr/>
        </p:nvSpPr>
        <p:spPr>
          <a:xfrm>
            <a:off x="8345424" y="4745736"/>
            <a:ext cx="3066288" cy="116128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Cột dựa trên 6 người và cột dựa trên 600 người không cùng độ tin cậy.</a:t>
            </a:r>
            <a:endParaRPr lang="en-US" sz="1050" dirty="0"/>
          </a:p>
        </p:txBody>
      </p:sp>
      <p:sp>
        <p:nvSpPr>
          <p:cNvPr id="34" name="c48"/>
          <p:cNvSpPr/>
          <p:nvPr/>
        </p:nvSpPr>
        <p:spPr>
          <a:xfrm>
            <a:off x="566928" y="5943600"/>
            <a:ext cx="11064240" cy="621792"/>
          </a:xfrm>
          <a:prstGeom prst="roundRect">
            <a:avLst>
              <a:gd name="adj" fmla="val 14706"/>
            </a:avLst>
          </a:prstGeom>
          <a:solidFill>
            <a:srgbClr val="FDF3E0"/>
          </a:solidFill>
          <a:ln/>
        </p:spPr>
      </p:sp>
      <p:sp>
        <p:nvSpPr>
          <p:cNvPr id="35" name="Text 33"/>
          <p:cNvSpPr txBox="1"/>
          <p:nvPr/>
        </p:nvSpPr>
        <p:spPr>
          <a:xfrm>
            <a:off x="841248" y="6035040"/>
            <a:ext cx="10515600" cy="438912"/>
          </a:xfrm>
          <a:prstGeom prst="rect">
            <a:avLst/>
          </a:prstGeom>
          <a:noFill/>
          <a:ln/>
        </p:spPr>
        <p:txBody>
          <a:bodyPr wrap="square" lIns="0" tIns="0" rIns="0" bIns="0" rtlCol="0" anchor="ctr"/>
          <a:lstStyle/>
          <a:p>
            <a:pPr indent="0" marL="0">
              <a:lnSpc>
                <a:spcPts val="1400"/>
              </a:lnSpc>
              <a:buNone/>
            </a:pPr>
            <a:r>
              <a:rPr lang="en-US" sz="1200" b="1" dirty="0">
                <a:solidFill>
                  <a:srgbClr val="A86F00"/>
                </a:solidFill>
              </a:rPr>
              <a:t>Ca thật cho nguyên tắc 5:  </a:t>
            </a:r>
            <a:pPr indent="0" marL="0">
              <a:lnSpc>
                <a:spcPts val="1400"/>
              </a:lnSpc>
              <a:buNone/>
            </a:pPr>
            <a:r>
              <a:rPr lang="en-US" sz="1200" dirty="0">
                <a:solidFill>
                  <a:srgbClr val="16213A"/>
                </a:solidFill>
              </a:rPr>
              <a:t>thời lượng ngủ có quan hệ KHÔNG tuyến tính — nhóm ngủ 7–8 giờ lại có tỷ lệ cao hơn nhóm ngủ 5–6 giờ. Tô màu đỏ→xanh theo số giờ thì màu nói một đằng, cột nói một nẻo.</a:t>
            </a:r>
            <a:endParaRPr lang="en-US" sz="120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800" b="1" dirty="0">
                <a:solidFill>
                  <a:srgbClr val="16213A"/>
                </a:solidFill>
              </a:rPr>
              <a:t>Tri thức khác gì với mô tả số liệu</a:t>
            </a:r>
            <a:endParaRPr lang="en-US" sz="28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algn="l" indent="0" marL="0">
              <a:buNone/>
            </a:pPr>
            <a:r>
              <a:rPr lang="en-US" sz="1400" b="1" dirty="0">
                <a:solidFill>
                  <a:srgbClr val="1C7293"/>
                </a:solidFill>
              </a:rPr>
              <a:t>Nhiều bài chỉ dừng ở mô tả — đó chưa phải tri thức</a:t>
            </a:r>
            <a:endParaRPr lang="en-US" sz="1400" dirty="0"/>
          </a:p>
        </p:txBody>
      </p:sp>
      <p:sp>
        <p:nvSpPr>
          <p:cNvPr id="4" name="c49"/>
          <p:cNvSpPr/>
          <p:nvPr/>
        </p:nvSpPr>
        <p:spPr>
          <a:xfrm>
            <a:off x="566928" y="1645920"/>
            <a:ext cx="11064240" cy="1188720"/>
          </a:xfrm>
          <a:prstGeom prst="roundRect">
            <a:avLst>
              <a:gd name="adj" fmla="val 7692"/>
            </a:avLst>
          </a:prstGeom>
          <a:solidFill>
            <a:srgbClr val="EEF3F7"/>
          </a:solidFill>
          <a:ln/>
        </p:spPr>
      </p:sp>
      <p:sp>
        <p:nvSpPr>
          <p:cNvPr id="5" name="k0"/>
          <p:cNvSpPr/>
          <p:nvPr/>
        </p:nvSpPr>
        <p:spPr>
          <a:xfrm>
            <a:off x="804672" y="1865376"/>
            <a:ext cx="420624" cy="420624"/>
          </a:xfrm>
          <a:prstGeom prst="ellipse">
            <a:avLst/>
          </a:prstGeom>
          <a:solidFill>
            <a:srgbClr val="6D7A8C"/>
          </a:solidFill>
          <a:ln/>
        </p:spPr>
      </p:sp>
      <p:sp>
        <p:nvSpPr>
          <p:cNvPr id="6" name="Text 4"/>
          <p:cNvSpPr txBox="1"/>
          <p:nvPr/>
        </p:nvSpPr>
        <p:spPr>
          <a:xfrm>
            <a:off x="804672" y="186537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5"/>
          <p:cNvSpPr txBox="1"/>
          <p:nvPr/>
        </p:nvSpPr>
        <p:spPr>
          <a:xfrm>
            <a:off x="1371600" y="1792224"/>
            <a:ext cx="2194560" cy="310896"/>
          </a:xfrm>
          <a:prstGeom prst="rect">
            <a:avLst/>
          </a:prstGeom>
          <a:noFill/>
          <a:ln/>
        </p:spPr>
        <p:txBody>
          <a:bodyPr wrap="square" lIns="0" tIns="0" rIns="0" bIns="0" rtlCol="0" anchor="ctr"/>
          <a:lstStyle/>
          <a:p>
            <a:pPr indent="0" marL="0">
              <a:buNone/>
            </a:pPr>
            <a:r>
              <a:rPr lang="en-US" sz="1450" b="1" dirty="0">
                <a:solidFill>
                  <a:srgbClr val="16213A"/>
                </a:solidFill>
              </a:rPr>
              <a:t>Mô tả số liệu</a:t>
            </a:r>
            <a:endParaRPr lang="en-US" sz="1450" dirty="0"/>
          </a:p>
        </p:txBody>
      </p:sp>
      <p:sp>
        <p:nvSpPr>
          <p:cNvPr id="8" name="Text 6"/>
          <p:cNvSpPr txBox="1"/>
          <p:nvPr/>
        </p:nvSpPr>
        <p:spPr>
          <a:xfrm>
            <a:off x="1371600" y="2121408"/>
            <a:ext cx="2377440" cy="548640"/>
          </a:xfrm>
          <a:prstGeom prst="rect">
            <a:avLst/>
          </a:prstGeom>
          <a:noFill/>
          <a:ln/>
        </p:spPr>
        <p:txBody>
          <a:bodyPr wrap="square" lIns="0" tIns="0" rIns="0" bIns="0" rtlCol="0" anchor="ctr"/>
          <a:lstStyle/>
          <a:p>
            <a:pPr indent="0" marL="0">
              <a:lnSpc>
                <a:spcPts val="1300"/>
              </a:lnSpc>
              <a:buNone/>
            </a:pPr>
            <a:r>
              <a:rPr lang="en-US" sz="1100" dirty="0">
                <a:solidFill>
                  <a:srgbClr val="6D7A8C"/>
                </a:solidFill>
              </a:rPr>
              <a:t>Nêu lại điều đã có trong bảng</a:t>
            </a:r>
            <a:endParaRPr lang="en-US" sz="1100" dirty="0"/>
          </a:p>
        </p:txBody>
      </p:sp>
      <p:sp>
        <p:nvSpPr>
          <p:cNvPr id="9" name="Text 7"/>
          <p:cNvSpPr txBox="1"/>
          <p:nvPr/>
        </p:nvSpPr>
        <p:spPr>
          <a:xfrm>
            <a:off x="3950208" y="1828800"/>
            <a:ext cx="7406640" cy="859536"/>
          </a:xfrm>
          <a:prstGeom prst="rect">
            <a:avLst/>
          </a:prstGeom>
          <a:noFill/>
          <a:ln/>
        </p:spPr>
        <p:txBody>
          <a:bodyPr wrap="square" lIns="0" tIns="0" rIns="0" bIns="0" rtlCol="0" anchor="ctr"/>
          <a:lstStyle/>
          <a:p>
            <a:pPr indent="0" marL="0">
              <a:lnSpc>
                <a:spcPts val="1500"/>
              </a:lnSpc>
              <a:buNone/>
            </a:pPr>
            <a:r>
              <a:rPr lang="en-US" sz="1250" i="1" dirty="0">
                <a:solidFill>
                  <a:srgbClr val="16213A"/>
                </a:solidFill>
              </a:rPr>
              <a:t>“Tỷ lệ trầm cảm ở mức áp lực 5 là 86,1%.”</a:t>
            </a:r>
            <a:endParaRPr lang="en-US" sz="1250" dirty="0"/>
          </a:p>
        </p:txBody>
      </p:sp>
      <p:sp>
        <p:nvSpPr>
          <p:cNvPr id="10" name="c50"/>
          <p:cNvSpPr/>
          <p:nvPr/>
        </p:nvSpPr>
        <p:spPr>
          <a:xfrm>
            <a:off x="566928" y="2971800"/>
            <a:ext cx="11064240" cy="1188720"/>
          </a:xfrm>
          <a:prstGeom prst="roundRect">
            <a:avLst>
              <a:gd name="adj" fmla="val 7692"/>
            </a:avLst>
          </a:prstGeom>
          <a:solidFill>
            <a:srgbClr val="EEF3F7"/>
          </a:solidFill>
          <a:ln/>
        </p:spPr>
      </p:sp>
      <p:sp>
        <p:nvSpPr>
          <p:cNvPr id="11" name="k1"/>
          <p:cNvSpPr/>
          <p:nvPr/>
        </p:nvSpPr>
        <p:spPr>
          <a:xfrm>
            <a:off x="804672" y="3191256"/>
            <a:ext cx="420624" cy="420624"/>
          </a:xfrm>
          <a:prstGeom prst="ellipse">
            <a:avLst/>
          </a:prstGeom>
          <a:solidFill>
            <a:srgbClr val="1C7293"/>
          </a:solidFill>
          <a:ln/>
        </p:spPr>
      </p:sp>
      <p:sp>
        <p:nvSpPr>
          <p:cNvPr id="12" name="Text 10"/>
          <p:cNvSpPr txBox="1"/>
          <p:nvPr/>
        </p:nvSpPr>
        <p:spPr>
          <a:xfrm>
            <a:off x="804672" y="31912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1"/>
          <p:cNvSpPr txBox="1"/>
          <p:nvPr/>
        </p:nvSpPr>
        <p:spPr>
          <a:xfrm>
            <a:off x="1371600" y="3118104"/>
            <a:ext cx="2194560" cy="310896"/>
          </a:xfrm>
          <a:prstGeom prst="rect">
            <a:avLst/>
          </a:prstGeom>
          <a:noFill/>
          <a:ln/>
        </p:spPr>
        <p:txBody>
          <a:bodyPr wrap="square" lIns="0" tIns="0" rIns="0" bIns="0" rtlCol="0" anchor="ctr"/>
          <a:lstStyle/>
          <a:p>
            <a:pPr indent="0" marL="0">
              <a:buNone/>
            </a:pPr>
            <a:r>
              <a:rPr lang="en-US" sz="1450" b="1" dirty="0">
                <a:solidFill>
                  <a:srgbClr val="16213A"/>
                </a:solidFill>
              </a:rPr>
              <a:t>So sánh</a:t>
            </a:r>
            <a:endParaRPr lang="en-US" sz="1450" dirty="0"/>
          </a:p>
        </p:txBody>
      </p:sp>
      <p:sp>
        <p:nvSpPr>
          <p:cNvPr id="14" name="Text 12"/>
          <p:cNvSpPr txBox="1"/>
          <p:nvPr/>
        </p:nvSpPr>
        <p:spPr>
          <a:xfrm>
            <a:off x="1371600" y="3447288"/>
            <a:ext cx="2377440" cy="548640"/>
          </a:xfrm>
          <a:prstGeom prst="rect">
            <a:avLst/>
          </a:prstGeom>
          <a:noFill/>
          <a:ln/>
        </p:spPr>
        <p:txBody>
          <a:bodyPr wrap="square" lIns="0" tIns="0" rIns="0" bIns="0" rtlCol="0" anchor="ctr"/>
          <a:lstStyle/>
          <a:p>
            <a:pPr indent="0" marL="0">
              <a:lnSpc>
                <a:spcPts val="1300"/>
              </a:lnSpc>
              <a:buNone/>
            </a:pPr>
            <a:r>
              <a:rPr lang="en-US" sz="1100" dirty="0">
                <a:solidFill>
                  <a:srgbClr val="6D7A8C"/>
                </a:solidFill>
              </a:rPr>
              <a:t>Đặt hai con số cạnh nhau</a:t>
            </a:r>
            <a:endParaRPr lang="en-US" sz="1100" dirty="0"/>
          </a:p>
        </p:txBody>
      </p:sp>
      <p:sp>
        <p:nvSpPr>
          <p:cNvPr id="15" name="Text 13"/>
          <p:cNvSpPr txBox="1"/>
          <p:nvPr/>
        </p:nvSpPr>
        <p:spPr>
          <a:xfrm>
            <a:off x="3950208" y="3154680"/>
            <a:ext cx="7406640" cy="859536"/>
          </a:xfrm>
          <a:prstGeom prst="rect">
            <a:avLst/>
          </a:prstGeom>
          <a:noFill/>
          <a:ln/>
        </p:spPr>
        <p:txBody>
          <a:bodyPr wrap="square" lIns="0" tIns="0" rIns="0" bIns="0" rtlCol="0" anchor="ctr"/>
          <a:lstStyle/>
          <a:p>
            <a:pPr indent="0" marL="0">
              <a:lnSpc>
                <a:spcPts val="1500"/>
              </a:lnSpc>
              <a:buNone/>
            </a:pPr>
            <a:r>
              <a:rPr lang="en-US" sz="1250" i="1" dirty="0">
                <a:solidFill>
                  <a:srgbClr val="16213A"/>
                </a:solidFill>
              </a:rPr>
              <a:t>“Mức áp lực 5 cao hơn mức 1 tới 67 điểm phần trăm.”</a:t>
            </a:r>
            <a:endParaRPr lang="en-US" sz="1250" dirty="0"/>
          </a:p>
        </p:txBody>
      </p:sp>
      <p:sp>
        <p:nvSpPr>
          <p:cNvPr id="16" name="c51"/>
          <p:cNvSpPr/>
          <p:nvPr/>
        </p:nvSpPr>
        <p:spPr>
          <a:xfrm>
            <a:off x="566928" y="4297680"/>
            <a:ext cx="11064240" cy="1188720"/>
          </a:xfrm>
          <a:prstGeom prst="roundRect">
            <a:avLst>
              <a:gd name="adj" fmla="val 7692"/>
            </a:avLst>
          </a:prstGeom>
          <a:solidFill>
            <a:srgbClr val="EEF3F7"/>
          </a:solidFill>
          <a:ln/>
        </p:spPr>
      </p:sp>
      <p:sp>
        <p:nvSpPr>
          <p:cNvPr id="17" name="k2"/>
          <p:cNvSpPr/>
          <p:nvPr/>
        </p:nvSpPr>
        <p:spPr>
          <a:xfrm>
            <a:off x="804672" y="4517136"/>
            <a:ext cx="420624" cy="420624"/>
          </a:xfrm>
          <a:prstGeom prst="ellipse">
            <a:avLst/>
          </a:prstGeom>
          <a:solidFill>
            <a:srgbClr val="1BAF7A"/>
          </a:solidFill>
          <a:ln/>
        </p:spPr>
      </p:sp>
      <p:sp>
        <p:nvSpPr>
          <p:cNvPr id="18" name="Text 16"/>
          <p:cNvSpPr txBox="1"/>
          <p:nvPr/>
        </p:nvSpPr>
        <p:spPr>
          <a:xfrm>
            <a:off x="804672" y="45171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9" name="Text 17"/>
          <p:cNvSpPr txBox="1"/>
          <p:nvPr/>
        </p:nvSpPr>
        <p:spPr>
          <a:xfrm>
            <a:off x="1371600" y="4443984"/>
            <a:ext cx="2194560" cy="310896"/>
          </a:xfrm>
          <a:prstGeom prst="rect">
            <a:avLst/>
          </a:prstGeom>
          <a:noFill/>
          <a:ln/>
        </p:spPr>
        <p:txBody>
          <a:bodyPr wrap="square" lIns="0" tIns="0" rIns="0" bIns="0" rtlCol="0" anchor="ctr"/>
          <a:lstStyle/>
          <a:p>
            <a:pPr indent="0" marL="0">
              <a:buNone/>
            </a:pPr>
            <a:r>
              <a:rPr lang="en-US" sz="1450" b="1" dirty="0">
                <a:solidFill>
                  <a:srgbClr val="16213A"/>
                </a:solidFill>
              </a:rPr>
              <a:t>Tri thức</a:t>
            </a:r>
            <a:endParaRPr lang="en-US" sz="1450" dirty="0"/>
          </a:p>
        </p:txBody>
      </p:sp>
      <p:sp>
        <p:nvSpPr>
          <p:cNvPr id="20" name="Text 18"/>
          <p:cNvSpPr txBox="1"/>
          <p:nvPr/>
        </p:nvSpPr>
        <p:spPr>
          <a:xfrm>
            <a:off x="1371600" y="4773168"/>
            <a:ext cx="2377440" cy="548640"/>
          </a:xfrm>
          <a:prstGeom prst="rect">
            <a:avLst/>
          </a:prstGeom>
          <a:noFill/>
          <a:ln/>
        </p:spPr>
        <p:txBody>
          <a:bodyPr wrap="square" lIns="0" tIns="0" rIns="0" bIns="0" rtlCol="0" anchor="ctr"/>
          <a:lstStyle/>
          <a:p>
            <a:pPr indent="0" marL="0">
              <a:lnSpc>
                <a:spcPts val="1300"/>
              </a:lnSpc>
              <a:buNone/>
            </a:pPr>
            <a:r>
              <a:rPr lang="en-US" sz="1100" dirty="0">
                <a:solidFill>
                  <a:srgbClr val="6D7A8C"/>
                </a:solidFill>
              </a:rPr>
              <a:t>Nêu điều bất ngờ hoặc hành động được</a:t>
            </a:r>
            <a:endParaRPr lang="en-US" sz="1100" dirty="0"/>
          </a:p>
        </p:txBody>
      </p:sp>
      <p:sp>
        <p:nvSpPr>
          <p:cNvPr id="21" name="Text 19"/>
          <p:cNvSpPr txBox="1"/>
          <p:nvPr/>
        </p:nvSpPr>
        <p:spPr>
          <a:xfrm>
            <a:off x="3950208" y="4480560"/>
            <a:ext cx="7406640" cy="859536"/>
          </a:xfrm>
          <a:prstGeom prst="rect">
            <a:avLst/>
          </a:prstGeom>
          <a:noFill/>
          <a:ln/>
        </p:spPr>
        <p:txBody>
          <a:bodyPr wrap="square" lIns="0" tIns="0" rIns="0" bIns="0" rtlCol="0" anchor="ctr"/>
          <a:lstStyle/>
          <a:p>
            <a:pPr indent="0" marL="0">
              <a:lnSpc>
                <a:spcPts val="1500"/>
              </a:lnSpc>
              <a:buNone/>
            </a:pPr>
            <a:r>
              <a:rPr lang="en-US" sz="1250" i="1" dirty="0">
                <a:solidFill>
                  <a:srgbClr val="16213A"/>
                </a:solidFill>
              </a:rPr>
              <a:t>“Áp lực học tập liên quan mạnh hơn hẳn tiền sử gia đình — phần lớn nguy cơ nằm trong tầm can thiệp của nhà trường.”</a:t>
            </a:r>
            <a:endParaRPr lang="en-US" sz="1250" dirty="0"/>
          </a:p>
        </p:txBody>
      </p:sp>
      <p:sp>
        <p:nvSpPr>
          <p:cNvPr id="22" name="c52"/>
          <p:cNvSpPr/>
          <p:nvPr/>
        </p:nvSpPr>
        <p:spPr>
          <a:xfrm>
            <a:off x="566928" y="5669280"/>
            <a:ext cx="11064240" cy="694944"/>
          </a:xfrm>
          <a:prstGeom prst="roundRect">
            <a:avLst>
              <a:gd name="adj" fmla="val 13158"/>
            </a:avLst>
          </a:prstGeom>
          <a:solidFill>
            <a:srgbClr val="16213A"/>
          </a:solidFill>
          <a:ln/>
        </p:spPr>
      </p:sp>
      <p:sp>
        <p:nvSpPr>
          <p:cNvPr id="23" name="Text 21"/>
          <p:cNvSpPr txBox="1"/>
          <p:nvPr/>
        </p:nvSpPr>
        <p:spPr>
          <a:xfrm>
            <a:off x="841248" y="5779008"/>
            <a:ext cx="10515600" cy="475488"/>
          </a:xfrm>
          <a:prstGeom prst="rect">
            <a:avLst/>
          </a:prstGeom>
          <a:noFill/>
          <a:ln/>
        </p:spPr>
        <p:txBody>
          <a:bodyPr wrap="square" lIns="0" tIns="0" rIns="0" bIns="0" rtlCol="0" anchor="ctr"/>
          <a:lstStyle/>
          <a:p>
            <a:pPr indent="0" marL="0">
              <a:lnSpc>
                <a:spcPts val="1400"/>
              </a:lnSpc>
              <a:buNone/>
            </a:pPr>
            <a:r>
              <a:rPr lang="en-US" sz="1250" dirty="0">
                <a:solidFill>
                  <a:srgbClr val="C9DAE8"/>
                </a:solidFill>
              </a:rPr>
              <a:t>Ba câu hỏi kiểm tra:   Điều này có đi ngược điều người ta thường nghĩ không?   ·   Ai sẽ làm khác đi điều gì?   ·   Có đúng khi chia nhỏ dữ liệu không?</a:t>
            </a:r>
            <a:endParaRPr lang="en-US" sz="125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ph idx="100" type="body" hasCustomPrompt="1"/>
          </p:nvPr>
        </p:nvSpPr>
        <p:spPr>
          <a:xfrm>
            <a:off x="841248" y="2560320"/>
            <a:ext cx="10424160" cy="411480"/>
          </a:xfrm>
          <a:prstGeom prst="rect">
            <a:avLst/>
          </a:prstGeom>
          <a:noFill/>
          <a:ln/>
        </p:spPr>
        <p:txBody>
          <a:bodyPr wrap="square" rtlCol="0"/>
          <a:lstStyle/>
          <a:p>
            <a:pPr algn="l" indent="0" marL="0">
              <a:buNone/>
            </a:pPr>
            <a:r>
              <a:rPr lang="en-US" sz="1600" b="1" spc="300" kern="0" dirty="0">
                <a:solidFill>
                  <a:srgbClr val="9FD2E8"/>
                </a:solidFill>
              </a:rPr>
              <a:t>PHẦN QUAN TRỌNG NHẤT</a:t>
            </a:r>
            <a:endParaRPr lang="en-US" sz="1600" dirty="0"/>
          </a:p>
        </p:txBody>
      </p:sp>
      <p:sp>
        <p:nvSpPr>
          <p:cNvPr id="3" name="Text 0"/>
          <p:cNvSpPr txBox="1"/>
          <p:nvPr>
            <p:ph idx="101" type="title" hasCustomPrompt="1"/>
          </p:nvPr>
        </p:nvSpPr>
        <p:spPr>
          <a:xfrm>
            <a:off x="841248" y="3017520"/>
            <a:ext cx="10424160" cy="1005840"/>
          </a:xfrm>
          <a:prstGeom prst="rect">
            <a:avLst/>
          </a:prstGeom>
          <a:noFill/>
          <a:ln/>
        </p:spPr>
        <p:txBody>
          <a:bodyPr wrap="square" rtlCol="0"/>
          <a:lstStyle/>
          <a:p>
            <a:pPr algn="l" indent="0" marL="0">
              <a:buNone/>
            </a:pPr>
            <a:r>
              <a:rPr lang="en-US" sz="3600" b="1" dirty="0">
                <a:solidFill>
                  <a:srgbClr val="FFFFFF"/>
                </a:solidFill>
              </a:rPr>
              <a:t>Ba cái bẫy có thật</a:t>
            </a:r>
            <a:endParaRPr lang="en-US" sz="3600" dirty="0"/>
          </a:p>
        </p:txBody>
      </p:sp>
      <p:sp>
        <p:nvSpPr>
          <p:cNvPr id="4" name="Text 0"/>
          <p:cNvSpPr txBox="1"/>
          <p:nvPr>
            <p:ph idx="102" type="body" hasCustomPrompt="1"/>
          </p:nvPr>
        </p:nvSpPr>
        <p:spPr>
          <a:xfrm>
            <a:off x="841248" y="4069080"/>
            <a:ext cx="10424160" cy="822960"/>
          </a:xfrm>
          <a:prstGeom prst="rect">
            <a:avLst/>
          </a:prstGeom>
          <a:noFill/>
          <a:ln/>
        </p:spPr>
        <p:txBody>
          <a:bodyPr wrap="square" rtlCol="0"/>
          <a:lstStyle/>
          <a:p>
            <a:pPr algn="l" indent="0" marL="0">
              <a:buNone/>
            </a:pPr>
            <a:r>
              <a:rPr lang="en-US" sz="1500" dirty="0">
                <a:solidFill>
                  <a:srgbClr val="C9E4F2"/>
                </a:solidFill>
              </a:rPr>
              <a:t>Không phải tình huống giả định — đây là ba lỗi đã xảy ra thật khi chuẩn bị tài liệu này</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800" b="1" dirty="0">
                <a:solidFill>
                  <a:srgbClr val="16213A"/>
                </a:solidFill>
              </a:rPr>
              <a:t>Bẫy 1 — AI đọc sai con số</a:t>
            </a:r>
            <a:endParaRPr lang="en-US" sz="28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algn="l" indent="0" marL="0">
              <a:buNone/>
            </a:pPr>
            <a:r>
              <a:rPr lang="en-US" sz="1400" b="1" dirty="0">
                <a:solidFill>
                  <a:srgbClr val="1C7293"/>
                </a:solidFill>
              </a:rPr>
              <a:t>Sai 0,1 điểm phần trăm, nhưng đủ để sập toàn bộ độ tin cậy của bài</a:t>
            </a:r>
            <a:endParaRPr lang="en-US" sz="1400" dirty="0"/>
          </a:p>
        </p:txBody>
      </p:sp>
      <p:sp>
        <p:nvSpPr>
          <p:cNvPr id="4" name="c53"/>
          <p:cNvSpPr/>
          <p:nvPr/>
        </p:nvSpPr>
        <p:spPr>
          <a:xfrm>
            <a:off x="566928" y="1645920"/>
            <a:ext cx="5394960" cy="1920240"/>
          </a:xfrm>
          <a:prstGeom prst="roundRect">
            <a:avLst>
              <a:gd name="adj" fmla="val 4762"/>
            </a:avLst>
          </a:prstGeom>
          <a:solidFill>
            <a:srgbClr val="EEF3F7"/>
          </a:solidFill>
          <a:ln/>
        </p:spPr>
      </p:sp>
      <p:sp>
        <p:nvSpPr>
          <p:cNvPr id="5" name="Text 3"/>
          <p:cNvSpPr txBox="1"/>
          <p:nvPr/>
        </p:nvSpPr>
        <p:spPr>
          <a:xfrm>
            <a:off x="841248" y="1828800"/>
            <a:ext cx="4846320" cy="274320"/>
          </a:xfrm>
          <a:prstGeom prst="rect">
            <a:avLst/>
          </a:prstGeom>
          <a:noFill/>
          <a:ln/>
        </p:spPr>
        <p:txBody>
          <a:bodyPr wrap="square" lIns="0" tIns="0" rIns="0" bIns="0" rtlCol="0" anchor="ctr"/>
          <a:lstStyle/>
          <a:p>
            <a:pPr indent="0" marL="0">
              <a:buNone/>
            </a:pPr>
            <a:r>
              <a:rPr lang="en-US" sz="1150" b="1" spc="200" kern="0" dirty="0">
                <a:solidFill>
                  <a:srgbClr val="D03B3B"/>
                </a:solidFill>
              </a:rPr>
              <a:t>AI BÁO CÁO</a:t>
            </a:r>
            <a:endParaRPr lang="en-US" sz="1150" dirty="0"/>
          </a:p>
        </p:txBody>
      </p:sp>
      <p:sp>
        <p:nvSpPr>
          <p:cNvPr id="6" name="Text 4"/>
          <p:cNvSpPr txBox="1"/>
          <p:nvPr/>
        </p:nvSpPr>
        <p:spPr>
          <a:xfrm>
            <a:off x="841248" y="2139696"/>
            <a:ext cx="4846320" cy="822960"/>
          </a:xfrm>
          <a:prstGeom prst="rect">
            <a:avLst/>
          </a:prstGeom>
          <a:noFill/>
          <a:ln/>
        </p:spPr>
        <p:txBody>
          <a:bodyPr wrap="square" lIns="0" tIns="0" rIns="0" bIns="0" rtlCol="0" anchor="ctr"/>
          <a:lstStyle/>
          <a:p>
            <a:pPr indent="0" marL="0">
              <a:buNone/>
            </a:pPr>
            <a:r>
              <a:rPr lang="en-US" sz="5400" b="1" dirty="0">
                <a:solidFill>
                  <a:srgbClr val="D03B3B"/>
                </a:solidFill>
                <a:latin typeface="Cambria" pitchFamily="34" charset="0"/>
                <a:ea typeface="Cambria" pitchFamily="34" charset="-122"/>
                <a:cs typeface="Cambria" pitchFamily="34" charset="-120"/>
              </a:rPr>
              <a:t>58,6%</a:t>
            </a:r>
            <a:endParaRPr lang="en-US" sz="5400" dirty="0"/>
          </a:p>
        </p:txBody>
      </p:sp>
      <p:sp>
        <p:nvSpPr>
          <p:cNvPr id="7" name="Text 5"/>
          <p:cNvSpPr txBox="1"/>
          <p:nvPr/>
        </p:nvSpPr>
        <p:spPr>
          <a:xfrm>
            <a:off x="841248" y="2962656"/>
            <a:ext cx="4846320" cy="512064"/>
          </a:xfrm>
          <a:prstGeom prst="rect">
            <a:avLst/>
          </a:prstGeom>
          <a:noFill/>
          <a:ln/>
        </p:spPr>
        <p:txBody>
          <a:bodyPr wrap="square" lIns="0" tIns="0" rIns="0" bIns="0" rtlCol="0" anchor="ctr"/>
          <a:lstStyle/>
          <a:p>
            <a:pPr indent="0" marL="0">
              <a:lnSpc>
                <a:spcPts val="1400"/>
              </a:lnSpc>
              <a:buNone/>
            </a:pPr>
            <a:r>
              <a:rPr lang="en-US" sz="1200" dirty="0">
                <a:solidFill>
                  <a:srgbClr val="6D7A8C"/>
                </a:solidFill>
              </a:rPr>
              <a:t>Con số này đã được đưa vào 5 chỗ: tiêu đề slide, biểu đồ, phần ghi chú…</a:t>
            </a:r>
            <a:endParaRPr lang="en-US" sz="1200" dirty="0"/>
          </a:p>
        </p:txBody>
      </p:sp>
      <p:sp>
        <p:nvSpPr>
          <p:cNvPr id="8" name="c54"/>
          <p:cNvSpPr/>
          <p:nvPr/>
        </p:nvSpPr>
        <p:spPr>
          <a:xfrm>
            <a:off x="6236208" y="1645920"/>
            <a:ext cx="5376672" cy="1920240"/>
          </a:xfrm>
          <a:prstGeom prst="roundRect">
            <a:avLst>
              <a:gd name="adj" fmla="val 4762"/>
            </a:avLst>
          </a:prstGeom>
          <a:solidFill>
            <a:srgbClr val="EEF3F7"/>
          </a:solidFill>
          <a:ln/>
        </p:spPr>
      </p:sp>
      <p:sp>
        <p:nvSpPr>
          <p:cNvPr id="9" name="Text 7"/>
          <p:cNvSpPr txBox="1"/>
          <p:nvPr/>
        </p:nvSpPr>
        <p:spPr>
          <a:xfrm>
            <a:off x="6510528" y="1828800"/>
            <a:ext cx="4846320" cy="274320"/>
          </a:xfrm>
          <a:prstGeom prst="rect">
            <a:avLst/>
          </a:prstGeom>
          <a:noFill/>
          <a:ln/>
        </p:spPr>
        <p:txBody>
          <a:bodyPr wrap="square" lIns="0" tIns="0" rIns="0" bIns="0" rtlCol="0" anchor="ctr"/>
          <a:lstStyle/>
          <a:p>
            <a:pPr indent="0" marL="0">
              <a:buNone/>
            </a:pPr>
            <a:r>
              <a:rPr lang="en-US" sz="1150" b="1" spc="200" kern="0" dirty="0">
                <a:solidFill>
                  <a:srgbClr val="1BAF7A"/>
                </a:solidFill>
              </a:rPr>
              <a:t>CHẠY LẠI BẰNG PYTHON</a:t>
            </a:r>
            <a:endParaRPr lang="en-US" sz="1150" dirty="0"/>
          </a:p>
        </p:txBody>
      </p:sp>
      <p:sp>
        <p:nvSpPr>
          <p:cNvPr id="10" name="Text 8"/>
          <p:cNvSpPr txBox="1"/>
          <p:nvPr/>
        </p:nvSpPr>
        <p:spPr>
          <a:xfrm>
            <a:off x="6510528" y="2139696"/>
            <a:ext cx="4846320" cy="822960"/>
          </a:xfrm>
          <a:prstGeom prst="rect">
            <a:avLst/>
          </a:prstGeom>
          <a:noFill/>
          <a:ln/>
        </p:spPr>
        <p:txBody>
          <a:bodyPr wrap="square" lIns="0" tIns="0" rIns="0" bIns="0" rtlCol="0" anchor="ctr"/>
          <a:lstStyle/>
          <a:p>
            <a:pPr indent="0" marL="0">
              <a:buNone/>
            </a:pPr>
            <a:r>
              <a:rPr lang="en-US" sz="5400" b="1" dirty="0">
                <a:solidFill>
                  <a:srgbClr val="1BAF7A"/>
                </a:solidFill>
                <a:latin typeface="Cambria" pitchFamily="34" charset="0"/>
                <a:ea typeface="Cambria" pitchFamily="34" charset="-122"/>
                <a:cs typeface="Cambria" pitchFamily="34" charset="-120"/>
              </a:rPr>
              <a:t>58,5%</a:t>
            </a:r>
            <a:endParaRPr lang="en-US" sz="5400" dirty="0"/>
          </a:p>
        </p:txBody>
      </p:sp>
      <p:sp>
        <p:nvSpPr>
          <p:cNvPr id="11" name="Text 9"/>
          <p:cNvSpPr txBox="1"/>
          <p:nvPr/>
        </p:nvSpPr>
        <p:spPr>
          <a:xfrm>
            <a:off x="6510528" y="2962656"/>
            <a:ext cx="4846320" cy="512064"/>
          </a:xfrm>
          <a:prstGeom prst="rect">
            <a:avLst/>
          </a:prstGeom>
          <a:noFill/>
          <a:ln/>
        </p:spPr>
        <p:txBody>
          <a:bodyPr wrap="square" lIns="0" tIns="0" rIns="0" bIns="0" rtlCol="0" anchor="ctr"/>
          <a:lstStyle/>
          <a:p>
            <a:pPr indent="0" marL="0">
              <a:lnSpc>
                <a:spcPts val="1400"/>
              </a:lnSpc>
              <a:buNone/>
            </a:pPr>
            <a:r>
              <a:rPr lang="en-US" sz="1200" dirty="0">
                <a:solidFill>
                  <a:srgbClr val="6D7A8C"/>
                </a:solidFill>
              </a:rPr>
              <a:t>Giá trị đúng. AI đã làm tròn hai lần: 58,549 → 58,55 → 58,6.</a:t>
            </a:r>
            <a:endParaRPr lang="en-US" sz="1200" dirty="0"/>
          </a:p>
        </p:txBody>
      </p:sp>
      <p:sp>
        <p:nvSpPr>
          <p:cNvPr id="12" name="c55"/>
          <p:cNvSpPr/>
          <p:nvPr/>
        </p:nvSpPr>
        <p:spPr>
          <a:xfrm>
            <a:off x="566928" y="3767328"/>
            <a:ext cx="11064240" cy="1389888"/>
          </a:xfrm>
          <a:prstGeom prst="roundRect">
            <a:avLst>
              <a:gd name="adj" fmla="val 6579"/>
            </a:avLst>
          </a:prstGeom>
          <a:solidFill>
            <a:srgbClr val="16213A"/>
          </a:solidFill>
          <a:ln/>
        </p:spPr>
      </p:sp>
      <p:sp>
        <p:nvSpPr>
          <p:cNvPr id="13" name="Text 11"/>
          <p:cNvSpPr txBox="1"/>
          <p:nvPr/>
        </p:nvSpPr>
        <p:spPr>
          <a:xfrm>
            <a:off x="932688" y="3931920"/>
            <a:ext cx="10332720" cy="1097280"/>
          </a:xfrm>
          <a:prstGeom prst="rect">
            <a:avLst/>
          </a:prstGeom>
          <a:noFill/>
          <a:ln/>
        </p:spPr>
        <p:txBody>
          <a:bodyPr wrap="square" lIns="0" tIns="0" rIns="0" bIns="0" rtlCol="0" anchor="ctr"/>
          <a:lstStyle/>
          <a:p>
            <a:pPr indent="0" marL="0">
              <a:lnSpc>
                <a:spcPts val="1600"/>
              </a:lnSpc>
              <a:buNone/>
            </a:pPr>
            <a:r>
              <a:rPr lang="en-US" sz="1250" dirty="0">
                <a:solidFill>
                  <a:srgbClr val="D7E5F0"/>
                </a:solidFill>
                <a:latin typeface="Consolas" pitchFamily="34" charset="0"/>
                <a:ea typeface="Consolas" pitchFamily="34" charset="-122"/>
                <a:cs typeface="Consolas" pitchFamily="34" charset="-120"/>
              </a:rPr>
              <a:t>&gt;&gt;&gt; 16336 / 27901 * 100</a:t>
            </a:r>
            <a:endParaRPr lang="en-US" sz="1250" dirty="0"/>
          </a:p>
          <a:p>
            <a:pPr indent="0" marL="0">
              <a:lnSpc>
                <a:spcPts val="1600"/>
              </a:lnSpc>
              <a:buNone/>
            </a:pPr>
            <a:r>
              <a:rPr lang="en-US" sz="1250" dirty="0">
                <a:solidFill>
                  <a:srgbClr val="D7E5F0"/>
                </a:solidFill>
                <a:latin typeface="Consolas" pitchFamily="34" charset="0"/>
                <a:ea typeface="Consolas" pitchFamily="34" charset="-122"/>
                <a:cs typeface="Consolas" pitchFamily="34" charset="-120"/>
              </a:rPr>
              <a:t>58.549872764417046</a:t>
            </a:r>
            <a:endParaRPr lang="en-US" sz="1250" dirty="0"/>
          </a:p>
          <a:p>
            <a:pPr indent="0" marL="0">
              <a:lnSpc>
                <a:spcPts val="1600"/>
              </a:lnSpc>
              <a:buNone/>
            </a:pPr>
            <a:endParaRPr lang="en-US" sz="1250" dirty="0"/>
          </a:p>
          <a:p>
            <a:pPr indent="0" marL="0">
              <a:lnSpc>
                <a:spcPts val="1600"/>
              </a:lnSpc>
              <a:buNone/>
            </a:pPr>
            <a:r>
              <a:rPr lang="en-US" sz="1250" dirty="0">
                <a:solidFill>
                  <a:srgbClr val="D7E5F0"/>
                </a:solidFill>
                <a:latin typeface="Consolas" pitchFamily="34" charset="0"/>
                <a:ea typeface="Consolas" pitchFamily="34" charset="-122"/>
                <a:cs typeface="Consolas" pitchFamily="34" charset="-120"/>
              </a:rPr>
              <a:t>&gt;&gt;&gt; f"{16336/27901*100:.1f}"</a:t>
            </a:r>
            <a:endParaRPr lang="en-US" sz="1250" dirty="0"/>
          </a:p>
          <a:p>
            <a:pPr indent="0" marL="0">
              <a:lnSpc>
                <a:spcPts val="1600"/>
              </a:lnSpc>
              <a:buNone/>
            </a:pPr>
            <a:r>
              <a:rPr lang="en-US" sz="1250" dirty="0">
                <a:solidFill>
                  <a:srgbClr val="D7E5F0"/>
                </a:solidFill>
                <a:latin typeface="Consolas" pitchFamily="34" charset="0"/>
                <a:ea typeface="Consolas" pitchFamily="34" charset="-122"/>
                <a:cs typeface="Consolas" pitchFamily="34" charset="-120"/>
              </a:rPr>
              <a:t>'58.5'</a:t>
            </a:r>
            <a:endParaRPr lang="en-US" sz="1250" dirty="0"/>
          </a:p>
        </p:txBody>
      </p:sp>
      <p:sp>
        <p:nvSpPr>
          <p:cNvPr id="14" name="c56"/>
          <p:cNvSpPr/>
          <p:nvPr/>
        </p:nvSpPr>
        <p:spPr>
          <a:xfrm>
            <a:off x="566928" y="5376672"/>
            <a:ext cx="11064240" cy="786384"/>
          </a:xfrm>
          <a:prstGeom prst="roundRect">
            <a:avLst>
              <a:gd name="adj" fmla="val 11628"/>
            </a:avLst>
          </a:prstGeom>
          <a:solidFill>
            <a:srgbClr val="EAF7F0"/>
          </a:solidFill>
          <a:ln/>
        </p:spPr>
      </p:sp>
      <p:sp>
        <p:nvSpPr>
          <p:cNvPr id="15" name="Text 13"/>
          <p:cNvSpPr txBox="1"/>
          <p:nvPr/>
        </p:nvSpPr>
        <p:spPr>
          <a:xfrm>
            <a:off x="841248" y="5504688"/>
            <a:ext cx="10515600" cy="548640"/>
          </a:xfrm>
          <a:prstGeom prst="rect">
            <a:avLst/>
          </a:prstGeom>
          <a:noFill/>
          <a:ln/>
        </p:spPr>
        <p:txBody>
          <a:bodyPr wrap="square" lIns="0" tIns="0" rIns="0" bIns="0" rtlCol="0" anchor="ctr"/>
          <a:lstStyle/>
          <a:p>
            <a:pPr indent="0" marL="0">
              <a:lnSpc>
                <a:spcPts val="1500"/>
              </a:lnSpc>
              <a:buNone/>
            </a:pPr>
            <a:r>
              <a:rPr lang="en-US" sz="1300" b="1" dirty="0">
                <a:solidFill>
                  <a:srgbClr val="0E7A52"/>
                </a:solidFill>
              </a:rPr>
              <a:t>Cách phòng:  </a:t>
            </a:r>
            <a:pPr indent="0" marL="0">
              <a:lnSpc>
                <a:spcPts val="1500"/>
              </a:lnSpc>
              <a:buNone/>
            </a:pPr>
            <a:r>
              <a:rPr lang="en-US" sz="1300" dirty="0">
                <a:solidFill>
                  <a:srgbClr val="16213A"/>
                </a:solidFill>
              </a:rPr>
              <a:t>viết một đoạn mã kiểm chứng in ra MỌI con số bạn định trích dẫn, rồi đối chiếu từng con số với bài viết trước khi nộp. Mất 10 phút, cứu cả bài.</a:t>
            </a:r>
            <a:endParaRPr lang="en-US" sz="130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800" b="1" dirty="0">
                <a:solidFill>
                  <a:srgbClr val="16213A"/>
                </a:solidFill>
              </a:rPr>
              <a:t>Bẫy 2 — Rò rỉ nhãn</a:t>
            </a:r>
            <a:endParaRPr lang="en-US" sz="28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algn="l" indent="0" marL="0">
              <a:buNone/>
            </a:pPr>
            <a:r>
              <a:rPr lang="en-US" sz="1400" b="1" dirty="0">
                <a:solidFill>
                  <a:srgbClr val="1C7293"/>
                </a:solidFill>
              </a:rPr>
              <a:t>Mô hình chính xác gần như tuyệt đối. Đáng mừng hay đáng ngờ?</a:t>
            </a:r>
            <a:endParaRPr lang="en-US" sz="1400" dirty="0"/>
          </a:p>
        </p:txBody>
      </p:sp>
      <p:sp>
        <p:nvSpPr>
          <p:cNvPr id="4" name="c57"/>
          <p:cNvSpPr/>
          <p:nvPr/>
        </p:nvSpPr>
        <p:spPr>
          <a:xfrm>
            <a:off x="566928" y="1627632"/>
            <a:ext cx="5943600" cy="2834640"/>
          </a:xfrm>
          <a:prstGeom prst="roundRect">
            <a:avLst>
              <a:gd name="adj" fmla="val 3226"/>
            </a:avLst>
          </a:prstGeom>
          <a:solidFill>
            <a:srgbClr val="EEF3F7"/>
          </a:solidFill>
          <a:ln/>
        </p:spPr>
      </p:sp>
      <p:sp>
        <p:nvSpPr>
          <p:cNvPr id="5" name="Text 3"/>
          <p:cNvSpPr txBox="1"/>
          <p:nvPr/>
        </p:nvSpPr>
        <p:spPr>
          <a:xfrm>
            <a:off x="841248" y="1792224"/>
            <a:ext cx="5394960" cy="274320"/>
          </a:xfrm>
          <a:prstGeom prst="rect">
            <a:avLst/>
          </a:prstGeom>
          <a:noFill/>
          <a:ln/>
        </p:spPr>
        <p:txBody>
          <a:bodyPr wrap="square" lIns="0" tIns="0" rIns="0" bIns="0" rtlCol="0" anchor="ctr"/>
          <a:lstStyle/>
          <a:p>
            <a:pPr indent="0" marL="0">
              <a:buNone/>
            </a:pPr>
            <a:r>
              <a:rPr lang="en-US" sz="1150" b="1" spc="150" kern="0" dirty="0">
                <a:solidFill>
                  <a:srgbClr val="065A82"/>
                </a:solidFill>
              </a:rPr>
              <a:t>BẢNG CHÉO: ĐIỂM SÀNG LỌC × NHÃN</a:t>
            </a:r>
            <a:endParaRPr lang="en-US" sz="1150" dirty="0"/>
          </a:p>
        </p:txBody>
      </p:sp>
      <p:sp>
        <p:nvSpPr>
          <p:cNvPr id="6" name="c58"/>
          <p:cNvSpPr/>
          <p:nvPr/>
        </p:nvSpPr>
        <p:spPr>
          <a:xfrm>
            <a:off x="841248" y="2157984"/>
            <a:ext cx="5394960" cy="914400"/>
          </a:xfrm>
          <a:prstGeom prst="roundRect">
            <a:avLst>
              <a:gd name="adj" fmla="val 10000"/>
            </a:avLst>
          </a:prstGeom>
          <a:solidFill>
            <a:srgbClr val="FFFFFF"/>
          </a:solidFill>
          <a:ln/>
        </p:spPr>
      </p:sp>
      <p:sp>
        <p:nvSpPr>
          <p:cNvPr id="7" name="Text 5"/>
          <p:cNvSpPr txBox="1"/>
          <p:nvPr/>
        </p:nvSpPr>
        <p:spPr>
          <a:xfrm>
            <a:off x="1042416" y="2249424"/>
            <a:ext cx="1737360" cy="310896"/>
          </a:xfrm>
          <a:prstGeom prst="rect">
            <a:avLst/>
          </a:prstGeom>
          <a:noFill/>
          <a:ln/>
        </p:spPr>
        <p:txBody>
          <a:bodyPr wrap="square" lIns="0" tIns="0" rIns="0" bIns="0" rtlCol="0" anchor="ctr"/>
          <a:lstStyle/>
          <a:p>
            <a:pPr indent="0" marL="0">
              <a:buNone/>
            </a:pPr>
            <a:r>
              <a:rPr lang="en-US" sz="1400" b="1" dirty="0">
                <a:solidFill>
                  <a:srgbClr val="1BAF7A"/>
                </a:solidFill>
              </a:rPr>
              <a:t>0 – 3 điểm</a:t>
            </a:r>
            <a:endParaRPr lang="en-US" sz="1400" dirty="0"/>
          </a:p>
        </p:txBody>
      </p:sp>
      <p:sp>
        <p:nvSpPr>
          <p:cNvPr id="8" name="Text 6"/>
          <p:cNvSpPr txBox="1"/>
          <p:nvPr/>
        </p:nvSpPr>
        <p:spPr>
          <a:xfrm>
            <a:off x="2852928" y="2249424"/>
            <a:ext cx="1280160" cy="310896"/>
          </a:xfrm>
          <a:prstGeom prst="rect">
            <a:avLst/>
          </a:prstGeom>
          <a:noFill/>
          <a:ln/>
        </p:spPr>
        <p:txBody>
          <a:bodyPr wrap="square" lIns="0" tIns="0" rIns="0" bIns="0" rtlCol="0" anchor="ctr"/>
          <a:lstStyle/>
          <a:p>
            <a:pPr indent="0" marL="0">
              <a:buNone/>
            </a:pPr>
            <a:r>
              <a:rPr lang="en-US" sz="1300" dirty="0">
                <a:solidFill>
                  <a:srgbClr val="6D7A8C"/>
                </a:solidFill>
              </a:rPr>
              <a:t>484 trẻ</a:t>
            </a:r>
            <a:endParaRPr lang="en-US" sz="1300" dirty="0"/>
          </a:p>
        </p:txBody>
      </p:sp>
      <p:sp>
        <p:nvSpPr>
          <p:cNvPr id="9" name="Text 7"/>
          <p:cNvSpPr txBox="1"/>
          <p:nvPr/>
        </p:nvSpPr>
        <p:spPr>
          <a:xfrm>
            <a:off x="1042416" y="2578608"/>
            <a:ext cx="5029200" cy="402336"/>
          </a:xfrm>
          <a:prstGeom prst="rect">
            <a:avLst/>
          </a:prstGeom>
          <a:noFill/>
          <a:ln/>
        </p:spPr>
        <p:txBody>
          <a:bodyPr wrap="square" lIns="0" tIns="0" rIns="0" bIns="0" rtlCol="0" anchor="ctr"/>
          <a:lstStyle/>
          <a:p>
            <a:pPr indent="0" marL="0">
              <a:lnSpc>
                <a:spcPts val="1400"/>
              </a:lnSpc>
              <a:buNone/>
            </a:pPr>
            <a:r>
              <a:rPr lang="en-US" sz="1200" dirty="0">
                <a:solidFill>
                  <a:srgbClr val="16213A"/>
                </a:solidFill>
              </a:rPr>
              <a:t>TOÀN BỘ mang nhãn “không có dấu hiệu”</a:t>
            </a:r>
            <a:endParaRPr lang="en-US" sz="1200" dirty="0"/>
          </a:p>
        </p:txBody>
      </p:sp>
      <p:sp>
        <p:nvSpPr>
          <p:cNvPr id="10" name="c59"/>
          <p:cNvSpPr/>
          <p:nvPr/>
        </p:nvSpPr>
        <p:spPr>
          <a:xfrm>
            <a:off x="841248" y="3200400"/>
            <a:ext cx="5394960" cy="914400"/>
          </a:xfrm>
          <a:prstGeom prst="roundRect">
            <a:avLst>
              <a:gd name="adj" fmla="val 10000"/>
            </a:avLst>
          </a:prstGeom>
          <a:solidFill>
            <a:srgbClr val="FFFFFF"/>
          </a:solidFill>
          <a:ln/>
        </p:spPr>
      </p:sp>
      <p:sp>
        <p:nvSpPr>
          <p:cNvPr id="11" name="Text 9"/>
          <p:cNvSpPr txBox="1"/>
          <p:nvPr/>
        </p:nvSpPr>
        <p:spPr>
          <a:xfrm>
            <a:off x="1042416" y="3291840"/>
            <a:ext cx="1737360" cy="310896"/>
          </a:xfrm>
          <a:prstGeom prst="rect">
            <a:avLst/>
          </a:prstGeom>
          <a:noFill/>
          <a:ln/>
        </p:spPr>
        <p:txBody>
          <a:bodyPr wrap="square" lIns="0" tIns="0" rIns="0" bIns="0" rtlCol="0" anchor="ctr"/>
          <a:lstStyle/>
          <a:p>
            <a:pPr indent="0" marL="0">
              <a:buNone/>
            </a:pPr>
            <a:r>
              <a:rPr lang="en-US" sz="1400" b="1" dirty="0">
                <a:solidFill>
                  <a:srgbClr val="D03B3B"/>
                </a:solidFill>
              </a:rPr>
              <a:t>4 – 10 điểm</a:t>
            </a:r>
            <a:endParaRPr lang="en-US" sz="1400" dirty="0"/>
          </a:p>
        </p:txBody>
      </p:sp>
      <p:sp>
        <p:nvSpPr>
          <p:cNvPr id="12" name="Text 10"/>
          <p:cNvSpPr txBox="1"/>
          <p:nvPr/>
        </p:nvSpPr>
        <p:spPr>
          <a:xfrm>
            <a:off x="2852928" y="3291840"/>
            <a:ext cx="1280160" cy="310896"/>
          </a:xfrm>
          <a:prstGeom prst="rect">
            <a:avLst/>
          </a:prstGeom>
          <a:noFill/>
          <a:ln/>
        </p:spPr>
        <p:txBody>
          <a:bodyPr wrap="square" lIns="0" tIns="0" rIns="0" bIns="0" rtlCol="0" anchor="ctr"/>
          <a:lstStyle/>
          <a:p>
            <a:pPr indent="0" marL="0">
              <a:buNone/>
            </a:pPr>
            <a:r>
              <a:rPr lang="en-US" sz="1300" dirty="0">
                <a:solidFill>
                  <a:srgbClr val="6D7A8C"/>
                </a:solidFill>
              </a:rPr>
              <a:t>724 trẻ</a:t>
            </a:r>
            <a:endParaRPr lang="en-US" sz="1300" dirty="0"/>
          </a:p>
        </p:txBody>
      </p:sp>
      <p:sp>
        <p:nvSpPr>
          <p:cNvPr id="13" name="Text 11"/>
          <p:cNvSpPr txBox="1"/>
          <p:nvPr/>
        </p:nvSpPr>
        <p:spPr>
          <a:xfrm>
            <a:off x="1042416" y="3621024"/>
            <a:ext cx="5029200" cy="402336"/>
          </a:xfrm>
          <a:prstGeom prst="rect">
            <a:avLst/>
          </a:prstGeom>
          <a:noFill/>
          <a:ln/>
        </p:spPr>
        <p:txBody>
          <a:bodyPr wrap="square" lIns="0" tIns="0" rIns="0" bIns="0" rtlCol="0" anchor="ctr"/>
          <a:lstStyle/>
          <a:p>
            <a:pPr indent="0" marL="0">
              <a:lnSpc>
                <a:spcPts val="1400"/>
              </a:lnSpc>
              <a:buNone/>
            </a:pPr>
            <a:r>
              <a:rPr lang="en-US" sz="1200" dirty="0">
                <a:solidFill>
                  <a:srgbClr val="16213A"/>
                </a:solidFill>
              </a:rPr>
              <a:t>TOÀN BỘ mang nhãn “có dấu hiệu”</a:t>
            </a:r>
            <a:endParaRPr lang="en-US" sz="1200" dirty="0"/>
          </a:p>
        </p:txBody>
      </p:sp>
      <p:sp>
        <p:nvSpPr>
          <p:cNvPr id="14" name="Text 12"/>
          <p:cNvSpPr txBox="1"/>
          <p:nvPr/>
        </p:nvSpPr>
        <p:spPr>
          <a:xfrm>
            <a:off x="841248" y="4187952"/>
            <a:ext cx="5394960" cy="256032"/>
          </a:xfrm>
          <a:prstGeom prst="rect">
            <a:avLst/>
          </a:prstGeom>
          <a:noFill/>
          <a:ln/>
        </p:spPr>
        <p:txBody>
          <a:bodyPr wrap="square" lIns="0" tIns="0" rIns="0" bIns="0" rtlCol="0" anchor="ctr"/>
          <a:lstStyle/>
          <a:p>
            <a:pPr indent="0" marL="0">
              <a:buNone/>
            </a:pPr>
            <a:r>
              <a:rPr lang="en-US" sz="1250" b="1" i="1" dirty="0">
                <a:solidFill>
                  <a:srgbClr val="D03B3B"/>
                </a:solidFill>
              </a:rPr>
              <a:t>Không một ngoại lệ nào.</a:t>
            </a:r>
            <a:endParaRPr lang="en-US" sz="1250" dirty="0"/>
          </a:p>
        </p:txBody>
      </p:sp>
      <p:sp>
        <p:nvSpPr>
          <p:cNvPr id="15" name="c60"/>
          <p:cNvSpPr/>
          <p:nvPr/>
        </p:nvSpPr>
        <p:spPr>
          <a:xfrm>
            <a:off x="6784848" y="1627632"/>
            <a:ext cx="4828032" cy="2834640"/>
          </a:xfrm>
          <a:prstGeom prst="roundRect">
            <a:avLst>
              <a:gd name="adj" fmla="val 3226"/>
            </a:avLst>
          </a:prstGeom>
          <a:solidFill>
            <a:srgbClr val="16213A"/>
          </a:solidFill>
          <a:ln/>
        </p:spPr>
      </p:sp>
      <p:sp>
        <p:nvSpPr>
          <p:cNvPr id="16" name="Text 14"/>
          <p:cNvSpPr txBox="1"/>
          <p:nvPr/>
        </p:nvSpPr>
        <p:spPr>
          <a:xfrm>
            <a:off x="7059168" y="1810512"/>
            <a:ext cx="4297680" cy="274320"/>
          </a:xfrm>
          <a:prstGeom prst="rect">
            <a:avLst/>
          </a:prstGeom>
          <a:noFill/>
          <a:ln/>
        </p:spPr>
        <p:txBody>
          <a:bodyPr wrap="square" lIns="0" tIns="0" rIns="0" bIns="0" rtlCol="0" anchor="ctr"/>
          <a:lstStyle/>
          <a:p>
            <a:pPr indent="0" marL="0">
              <a:buNone/>
            </a:pPr>
            <a:r>
              <a:rPr lang="en-US" sz="1150" b="1" spc="200" kern="0" dirty="0">
                <a:solidFill>
                  <a:srgbClr val="9FD2E8"/>
                </a:solidFill>
              </a:rPr>
              <a:t>NGUYÊN NHÂN</a:t>
            </a:r>
            <a:endParaRPr lang="en-US" sz="1150" dirty="0"/>
          </a:p>
        </p:txBody>
      </p:sp>
      <p:sp>
        <p:nvSpPr>
          <p:cNvPr id="17" name="Text 15"/>
          <p:cNvSpPr txBox="1"/>
          <p:nvPr/>
        </p:nvSpPr>
        <p:spPr>
          <a:xfrm>
            <a:off x="7059168" y="2157984"/>
            <a:ext cx="4297680" cy="1280160"/>
          </a:xfrm>
          <a:prstGeom prst="rect">
            <a:avLst/>
          </a:prstGeom>
          <a:noFill/>
          <a:ln/>
        </p:spPr>
        <p:txBody>
          <a:bodyPr wrap="square" lIns="0" tIns="0" rIns="0" bIns="0" rtlCol="0" anchor="ctr"/>
          <a:lstStyle/>
          <a:p>
            <a:pPr indent="0" marL="0">
              <a:lnSpc>
                <a:spcPts val="1600"/>
              </a:lnSpc>
              <a:buNone/>
            </a:pPr>
            <a:r>
              <a:rPr lang="en-US" sz="1300" dirty="0">
                <a:solidFill>
                  <a:srgbClr val="D7E5F0"/>
                </a:solidFill>
              </a:rPr>
              <a:t>Nhãn không phải chẩn đoán độc lập của bác sĩ. Nó chính là đầu ra của công thức chấm điểm: ai đạt từ 4 điểm trở lên thì bị gán nhãn “có dấu hiệu”.</a:t>
            </a:r>
            <a:endParaRPr lang="en-US" sz="1300" dirty="0"/>
          </a:p>
        </p:txBody>
      </p:sp>
      <p:sp>
        <p:nvSpPr>
          <p:cNvPr id="18" name="Text 16"/>
          <p:cNvSpPr txBox="1"/>
          <p:nvPr/>
        </p:nvSpPr>
        <p:spPr>
          <a:xfrm>
            <a:off x="7059168" y="3529584"/>
            <a:ext cx="4297680" cy="768096"/>
          </a:xfrm>
          <a:prstGeom prst="rect">
            <a:avLst/>
          </a:prstGeom>
          <a:noFill/>
          <a:ln/>
        </p:spPr>
        <p:txBody>
          <a:bodyPr wrap="square" lIns="0" tIns="0" rIns="0" bIns="0" rtlCol="0" anchor="ctr"/>
          <a:lstStyle/>
          <a:p>
            <a:pPr indent="0" marL="0">
              <a:lnSpc>
                <a:spcPts val="1600"/>
              </a:lnSpc>
              <a:buNone/>
            </a:pPr>
            <a:r>
              <a:rPr lang="en-US" sz="1300" b="1" i="1" dirty="0">
                <a:solidFill>
                  <a:srgbClr val="FFFFFF"/>
                </a:solidFill>
              </a:rPr>
              <a:t>Dùng A1–A10 để dự báo nhãn chẳng khác nào lấy đáp án đi dự đoán đáp án.</a:t>
            </a:r>
            <a:endParaRPr lang="en-US" sz="1300" dirty="0"/>
          </a:p>
        </p:txBody>
      </p:sp>
      <p:sp>
        <p:nvSpPr>
          <p:cNvPr id="19" name="c61"/>
          <p:cNvSpPr/>
          <p:nvPr/>
        </p:nvSpPr>
        <p:spPr>
          <a:xfrm>
            <a:off x="566928" y="4663440"/>
            <a:ext cx="11064240" cy="731520"/>
          </a:xfrm>
          <a:prstGeom prst="roundRect">
            <a:avLst>
              <a:gd name="adj" fmla="val 12500"/>
            </a:avLst>
          </a:prstGeom>
          <a:solidFill>
            <a:srgbClr val="FDF3E0"/>
          </a:solidFill>
          <a:ln/>
        </p:spPr>
      </p:sp>
      <p:sp>
        <p:nvSpPr>
          <p:cNvPr id="20" name="Text 18"/>
          <p:cNvSpPr txBox="1"/>
          <p:nvPr/>
        </p:nvSpPr>
        <p:spPr>
          <a:xfrm>
            <a:off x="841248" y="4791456"/>
            <a:ext cx="10515600" cy="475488"/>
          </a:xfrm>
          <a:prstGeom prst="rect">
            <a:avLst/>
          </a:prstGeom>
          <a:noFill/>
          <a:ln/>
        </p:spPr>
        <p:txBody>
          <a:bodyPr wrap="square" lIns="0" tIns="0" rIns="0" bIns="0" rtlCol="0" anchor="ctr"/>
          <a:lstStyle/>
          <a:p>
            <a:pPr indent="0" marL="0">
              <a:buNone/>
            </a:pPr>
            <a:r>
              <a:rPr lang="en-US" sz="1300" b="1" dirty="0">
                <a:solidFill>
                  <a:srgbClr val="A86F00"/>
                </a:solidFill>
              </a:rPr>
              <a:t>Dấu hiệu nhận biết:  </a:t>
            </a:r>
            <a:pPr indent="0" marL="0">
              <a:buNone/>
            </a:pPr>
            <a:r>
              <a:rPr lang="en-US" sz="1300" dirty="0">
                <a:solidFill>
                  <a:srgbClr val="16213A"/>
                </a:solidFill>
              </a:rPr>
              <a:t>mô hình chính xác bất thường — trên 95% — trong một bài toán vốn khó.</a:t>
            </a:r>
            <a:endParaRPr lang="en-US" sz="1300" dirty="0"/>
          </a:p>
        </p:txBody>
      </p:sp>
      <p:sp>
        <p:nvSpPr>
          <p:cNvPr id="21" name="c62"/>
          <p:cNvSpPr/>
          <p:nvPr/>
        </p:nvSpPr>
        <p:spPr>
          <a:xfrm>
            <a:off x="566928" y="5541264"/>
            <a:ext cx="11064240" cy="731520"/>
          </a:xfrm>
          <a:prstGeom prst="roundRect">
            <a:avLst>
              <a:gd name="adj" fmla="val 12500"/>
            </a:avLst>
          </a:prstGeom>
          <a:solidFill>
            <a:srgbClr val="EAF7F0"/>
          </a:solidFill>
          <a:ln/>
        </p:spPr>
      </p:sp>
      <p:sp>
        <p:nvSpPr>
          <p:cNvPr id="22" name="Text 20"/>
          <p:cNvSpPr txBox="1"/>
          <p:nvPr/>
        </p:nvSpPr>
        <p:spPr>
          <a:xfrm>
            <a:off x="841248" y="5669280"/>
            <a:ext cx="10515600" cy="475488"/>
          </a:xfrm>
          <a:prstGeom prst="rect">
            <a:avLst/>
          </a:prstGeom>
          <a:noFill/>
          <a:ln/>
        </p:spPr>
        <p:txBody>
          <a:bodyPr wrap="square" lIns="0" tIns="0" rIns="0" bIns="0" rtlCol="0" anchor="ctr"/>
          <a:lstStyle/>
          <a:p>
            <a:pPr indent="0" marL="0">
              <a:buNone/>
            </a:pPr>
            <a:r>
              <a:rPr lang="en-US" sz="1300" b="1" dirty="0">
                <a:solidFill>
                  <a:srgbClr val="0E7A52"/>
                </a:solidFill>
              </a:rPr>
              <a:t>Cách phòng:  </a:t>
            </a:r>
            <a:pPr indent="0" marL="0">
              <a:buNone/>
            </a:pPr>
            <a:r>
              <a:rPr lang="en-US" sz="1300" dirty="0">
                <a:solidFill>
                  <a:srgbClr val="16213A"/>
                </a:solidFill>
              </a:rPr>
              <a:t>khi mô hình cho kết quả đẹp bất ngờ, đừng mừng — hãy nghi ngờ. Lập bảng chéo giữa biến dự báo và nhãn để xem có quan hệ xác định hay không.</a:t>
            </a:r>
            <a:endParaRPr lang="en-US" sz="130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800" b="1" dirty="0">
                <a:solidFill>
                  <a:srgbClr val="16213A"/>
                </a:solidFill>
              </a:rPr>
              <a:t>Bẫy 3 — Biến nhân bản</a:t>
            </a:r>
            <a:endParaRPr lang="en-US" sz="28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algn="l" indent="0" marL="0">
              <a:buNone/>
            </a:pPr>
            <a:r>
              <a:rPr lang="en-US" sz="1400" b="1" dirty="0">
                <a:solidFill>
                  <a:srgbClr val="1C7293"/>
                </a:solidFill>
              </a:rPr>
              <a:t>Bảy cột bệnh đi kèm trông như mỏ vàng để phân tích</a:t>
            </a:r>
            <a:endParaRPr lang="en-US" sz="1400" dirty="0"/>
          </a:p>
        </p:txBody>
      </p:sp>
      <p:sp>
        <p:nvSpPr>
          <p:cNvPr id="4" name="c63"/>
          <p:cNvSpPr/>
          <p:nvPr/>
        </p:nvSpPr>
        <p:spPr>
          <a:xfrm>
            <a:off x="566928" y="1627632"/>
            <a:ext cx="5120640" cy="2103120"/>
          </a:xfrm>
          <a:prstGeom prst="roundRect">
            <a:avLst>
              <a:gd name="adj" fmla="val 4348"/>
            </a:avLst>
          </a:prstGeom>
          <a:solidFill>
            <a:srgbClr val="EEF3F7"/>
          </a:solidFill>
          <a:ln/>
        </p:spPr>
      </p:sp>
      <p:sp>
        <p:nvSpPr>
          <p:cNvPr id="5" name="Text 3"/>
          <p:cNvSpPr txBox="1"/>
          <p:nvPr/>
        </p:nvSpPr>
        <p:spPr>
          <a:xfrm>
            <a:off x="841248" y="1792224"/>
            <a:ext cx="4572000" cy="274320"/>
          </a:xfrm>
          <a:prstGeom prst="rect">
            <a:avLst/>
          </a:prstGeom>
          <a:noFill/>
          <a:ln/>
        </p:spPr>
        <p:txBody>
          <a:bodyPr wrap="square" lIns="0" tIns="0" rIns="0" bIns="0" rtlCol="0" anchor="ctr"/>
          <a:lstStyle/>
          <a:p>
            <a:pPr indent="0" marL="0">
              <a:buNone/>
            </a:pPr>
            <a:r>
              <a:rPr lang="en-US" sz="1150" b="1" spc="150" kern="0" dirty="0">
                <a:solidFill>
                  <a:srgbClr val="065A82"/>
                </a:solidFill>
              </a:rPr>
              <a:t>BẢY CỘT TRONG DỮ LIỆU</a:t>
            </a:r>
            <a:endParaRPr lang="en-US" sz="1150" dirty="0"/>
          </a:p>
        </p:txBody>
      </p:sp>
      <p:sp>
        <p:nvSpPr>
          <p:cNvPr id="6" name="Text 4"/>
          <p:cNvSpPr txBox="1"/>
          <p:nvPr/>
        </p:nvSpPr>
        <p:spPr>
          <a:xfrm>
            <a:off x="841248" y="2139696"/>
            <a:ext cx="4572000" cy="1371600"/>
          </a:xfrm>
          <a:prstGeom prst="rect">
            <a:avLst/>
          </a:prstGeom>
          <a:noFill/>
          <a:ln/>
        </p:spPr>
        <p:txBody>
          <a:bodyPr wrap="square" lIns="0" tIns="0" rIns="0" bIns="0" rtlCol="0" anchor="ctr"/>
          <a:lstStyle/>
          <a:p>
            <a:pPr indent="0" marL="0">
              <a:lnSpc>
                <a:spcPts val="1700"/>
              </a:lnSpc>
              <a:buNone/>
            </a:pPr>
            <a:r>
              <a:rPr lang="en-US" sz="1350" dirty="0">
                <a:solidFill>
                  <a:srgbClr val="16213A"/>
                </a:solidFill>
              </a:rPr>
              <a:t>Chậm nói · Khó học · Chậm phát triển trí tuệ · Vấn đề hành vi · Lo âu · Trầm cảm · Rối loạn gen</a:t>
            </a:r>
            <a:endParaRPr lang="en-US" sz="1350" dirty="0"/>
          </a:p>
        </p:txBody>
      </p:sp>
      <p:sp>
        <p:nvSpPr>
          <p:cNvPr id="7" name="c64"/>
          <p:cNvSpPr/>
          <p:nvPr/>
        </p:nvSpPr>
        <p:spPr>
          <a:xfrm>
            <a:off x="5961888" y="1627632"/>
            <a:ext cx="5650992" cy="2103120"/>
          </a:xfrm>
          <a:prstGeom prst="roundRect">
            <a:avLst>
              <a:gd name="adj" fmla="val 4348"/>
            </a:avLst>
          </a:prstGeom>
          <a:solidFill>
            <a:srgbClr val="16213A"/>
          </a:solidFill>
          <a:ln/>
        </p:spPr>
      </p:sp>
      <p:sp>
        <p:nvSpPr>
          <p:cNvPr id="8" name="Text 6"/>
          <p:cNvSpPr txBox="1"/>
          <p:nvPr/>
        </p:nvSpPr>
        <p:spPr>
          <a:xfrm>
            <a:off x="6236208" y="1792224"/>
            <a:ext cx="5120640" cy="274320"/>
          </a:xfrm>
          <a:prstGeom prst="rect">
            <a:avLst/>
          </a:prstGeom>
          <a:noFill/>
          <a:ln/>
        </p:spPr>
        <p:txBody>
          <a:bodyPr wrap="square" lIns="0" tIns="0" rIns="0" bIns="0" rtlCol="0" anchor="ctr"/>
          <a:lstStyle/>
          <a:p>
            <a:pPr indent="0" marL="0">
              <a:buNone/>
            </a:pPr>
            <a:r>
              <a:rPr lang="en-US" sz="1150" b="1" spc="150" kern="0" dirty="0">
                <a:solidFill>
                  <a:srgbClr val="9FD2E8"/>
                </a:solidFill>
              </a:rPr>
              <a:t>NHƯNG TÍNH TƯƠNG QUAN RA</a:t>
            </a:r>
            <a:endParaRPr lang="en-US" sz="1150" dirty="0"/>
          </a:p>
        </p:txBody>
      </p:sp>
      <p:sp>
        <p:nvSpPr>
          <p:cNvPr id="9" name="Text 7"/>
          <p:cNvSpPr txBox="1"/>
          <p:nvPr/>
        </p:nvSpPr>
        <p:spPr>
          <a:xfrm>
            <a:off x="6236208" y="2157984"/>
            <a:ext cx="1737360" cy="38404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0,88 – 1,00</a:t>
            </a:r>
            <a:endParaRPr lang="en-US" sz="1700" dirty="0"/>
          </a:p>
        </p:txBody>
      </p:sp>
      <p:sp>
        <p:nvSpPr>
          <p:cNvPr id="10" name="Text 8"/>
          <p:cNvSpPr txBox="1"/>
          <p:nvPr/>
        </p:nvSpPr>
        <p:spPr>
          <a:xfrm>
            <a:off x="8065008" y="2157984"/>
            <a:ext cx="3383280" cy="384048"/>
          </a:xfrm>
          <a:prstGeom prst="rect">
            <a:avLst/>
          </a:prstGeom>
          <a:noFill/>
          <a:ln/>
        </p:spPr>
        <p:txBody>
          <a:bodyPr wrap="square" lIns="0" tIns="0" rIns="0" bIns="0" rtlCol="0" anchor="ctr"/>
          <a:lstStyle/>
          <a:p>
            <a:pPr indent="0" marL="0">
              <a:buNone/>
            </a:pPr>
            <a:r>
              <a:rPr lang="en-US" sz="1200" dirty="0">
                <a:solidFill>
                  <a:srgbClr val="A8C2D8"/>
                </a:solidFill>
              </a:rPr>
              <a:t>tương quan giữa các cặp</a:t>
            </a:r>
            <a:endParaRPr lang="en-US" sz="1200" dirty="0"/>
          </a:p>
        </p:txBody>
      </p:sp>
      <p:sp>
        <p:nvSpPr>
          <p:cNvPr id="11" name="Text 9"/>
          <p:cNvSpPr txBox="1"/>
          <p:nvPr/>
        </p:nvSpPr>
        <p:spPr>
          <a:xfrm>
            <a:off x="6236208" y="2660904"/>
            <a:ext cx="1737360" cy="38404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95,6 – 99,9%</a:t>
            </a:r>
            <a:endParaRPr lang="en-US" sz="1700" dirty="0"/>
          </a:p>
        </p:txBody>
      </p:sp>
      <p:sp>
        <p:nvSpPr>
          <p:cNvPr id="12" name="Text 10"/>
          <p:cNvSpPr txBox="1"/>
          <p:nvPr/>
        </p:nvSpPr>
        <p:spPr>
          <a:xfrm>
            <a:off x="8065008" y="2660904"/>
            <a:ext cx="3383280" cy="384048"/>
          </a:xfrm>
          <a:prstGeom prst="rect">
            <a:avLst/>
          </a:prstGeom>
          <a:noFill/>
          <a:ln/>
        </p:spPr>
        <p:txBody>
          <a:bodyPr wrap="square" lIns="0" tIns="0" rIns="0" bIns="0" rtlCol="0" anchor="ctr"/>
          <a:lstStyle/>
          <a:p>
            <a:pPr indent="0" marL="0">
              <a:buNone/>
            </a:pPr>
            <a:r>
              <a:rPr lang="en-US" sz="1200" dirty="0">
                <a:solidFill>
                  <a:srgbClr val="A8C2D8"/>
                </a:solidFill>
              </a:rPr>
              <a:t>trùng khớp từng cặp</a:t>
            </a:r>
            <a:endParaRPr lang="en-US" sz="1200" dirty="0"/>
          </a:p>
        </p:txBody>
      </p:sp>
      <p:sp>
        <p:nvSpPr>
          <p:cNvPr id="13" name="Text 11"/>
          <p:cNvSpPr txBox="1"/>
          <p:nvPr/>
        </p:nvSpPr>
        <p:spPr>
          <a:xfrm>
            <a:off x="6236208" y="3163824"/>
            <a:ext cx="1737360" cy="38404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95,3%</a:t>
            </a:r>
            <a:endParaRPr lang="en-US" sz="1700" dirty="0"/>
          </a:p>
        </p:txBody>
      </p:sp>
      <p:sp>
        <p:nvSpPr>
          <p:cNvPr id="14" name="Text 12"/>
          <p:cNvSpPr txBox="1"/>
          <p:nvPr/>
        </p:nvSpPr>
        <p:spPr>
          <a:xfrm>
            <a:off x="8065008" y="3163824"/>
            <a:ext cx="3383280" cy="384048"/>
          </a:xfrm>
          <a:prstGeom prst="rect">
            <a:avLst/>
          </a:prstGeom>
          <a:noFill/>
          <a:ln/>
        </p:spPr>
        <p:txBody>
          <a:bodyPr wrap="square" lIns="0" tIns="0" rIns="0" bIns="0" rtlCol="0" anchor="ctr"/>
          <a:lstStyle/>
          <a:p>
            <a:pPr indent="0" marL="0">
              <a:buNone/>
            </a:pPr>
            <a:r>
              <a:rPr lang="en-US" sz="1200" dirty="0">
                <a:solidFill>
                  <a:srgbClr val="A8C2D8"/>
                </a:solidFill>
              </a:rPr>
              <a:t>trẻ có cả bảy hoặc không có cái nào</a:t>
            </a:r>
            <a:endParaRPr lang="en-US" sz="1200" dirty="0"/>
          </a:p>
        </p:txBody>
      </p:sp>
      <p:sp>
        <p:nvSpPr>
          <p:cNvPr id="15" name="c65"/>
          <p:cNvSpPr/>
          <p:nvPr/>
        </p:nvSpPr>
        <p:spPr>
          <a:xfrm>
            <a:off x="566928" y="3931920"/>
            <a:ext cx="11064240" cy="1371600"/>
          </a:xfrm>
          <a:prstGeom prst="roundRect">
            <a:avLst>
              <a:gd name="adj" fmla="val 6667"/>
            </a:avLst>
          </a:prstGeom>
          <a:solidFill>
            <a:srgbClr val="EEF3F7"/>
          </a:solidFill>
          <a:ln/>
        </p:spPr>
      </p:sp>
      <p:sp>
        <p:nvSpPr>
          <p:cNvPr id="16" name="Text 14"/>
          <p:cNvSpPr txBox="1"/>
          <p:nvPr/>
        </p:nvSpPr>
        <p:spPr>
          <a:xfrm>
            <a:off x="841248" y="4078224"/>
            <a:ext cx="10515600" cy="384048"/>
          </a:xfrm>
          <a:prstGeom prst="rect">
            <a:avLst/>
          </a:prstGeom>
          <a:noFill/>
          <a:ln/>
        </p:spPr>
        <p:txBody>
          <a:bodyPr wrap="square" lIns="0" tIns="0" rIns="0" bIns="0" rtlCol="0" anchor="ctr"/>
          <a:lstStyle/>
          <a:p>
            <a:pPr indent="0" marL="0">
              <a:buNone/>
            </a:pPr>
            <a:r>
              <a:rPr lang="en-US" sz="1700" b="1" dirty="0">
                <a:solidFill>
                  <a:srgbClr val="16213A"/>
                </a:solidFill>
              </a:rPr>
              <a:t>Bảy chẩn đoán lâm sàng độc lập không bao giờ trùng nhau tới 99,9%</a:t>
            </a:r>
            <a:endParaRPr lang="en-US" sz="1700" dirty="0"/>
          </a:p>
        </p:txBody>
      </p:sp>
      <p:sp>
        <p:nvSpPr>
          <p:cNvPr id="17" name="Text 15"/>
          <p:cNvSpPr txBox="1"/>
          <p:nvPr/>
        </p:nvSpPr>
        <p:spPr>
          <a:xfrm>
            <a:off x="841248" y="4498848"/>
            <a:ext cx="10515600" cy="713232"/>
          </a:xfrm>
          <a:prstGeom prst="rect">
            <a:avLst/>
          </a:prstGeom>
          <a:noFill/>
          <a:ln/>
        </p:spPr>
        <p:txBody>
          <a:bodyPr wrap="square" lIns="0" tIns="0" rIns="0" bIns="0" rtlCol="0" anchor="ctr"/>
          <a:lstStyle/>
          <a:p>
            <a:pPr indent="0" marL="0">
              <a:lnSpc>
                <a:spcPts val="1500"/>
              </a:lnSpc>
              <a:buNone/>
            </a:pPr>
            <a:r>
              <a:rPr lang="en-US" sz="1250" dirty="0">
                <a:solidFill>
                  <a:srgbClr val="6D7A8C"/>
                </a:solidFill>
              </a:rPr>
              <a:t>Chậm nói và rối loạn gen là hai thứ hoàn toàn khác nhau, tỷ lệ mắc khác nhau. Kết luận: bảy cột này thực chất là MỘT biến được sao chép bảy lần, có thêm chút nhiễu. Mọi kết luận kiểu “85,8% trẻ tự kỷ có chậm phát triển trí tuệ” rút ra từ đây đều vô giá trị.</a:t>
            </a:r>
            <a:endParaRPr lang="en-US" sz="1250" dirty="0"/>
          </a:p>
        </p:txBody>
      </p:sp>
      <p:sp>
        <p:nvSpPr>
          <p:cNvPr id="18" name="c66"/>
          <p:cNvSpPr/>
          <p:nvPr/>
        </p:nvSpPr>
        <p:spPr>
          <a:xfrm>
            <a:off x="566928" y="5504688"/>
            <a:ext cx="11064240" cy="731520"/>
          </a:xfrm>
          <a:prstGeom prst="roundRect">
            <a:avLst>
              <a:gd name="adj" fmla="val 12500"/>
            </a:avLst>
          </a:prstGeom>
          <a:solidFill>
            <a:srgbClr val="EAF7F0"/>
          </a:solidFill>
          <a:ln/>
        </p:spPr>
      </p:sp>
      <p:sp>
        <p:nvSpPr>
          <p:cNvPr id="19" name="Text 17"/>
          <p:cNvSpPr txBox="1"/>
          <p:nvPr/>
        </p:nvSpPr>
        <p:spPr>
          <a:xfrm>
            <a:off x="841248" y="5632704"/>
            <a:ext cx="10515600" cy="475488"/>
          </a:xfrm>
          <a:prstGeom prst="rect">
            <a:avLst/>
          </a:prstGeom>
          <a:noFill/>
          <a:ln/>
        </p:spPr>
        <p:txBody>
          <a:bodyPr wrap="square" lIns="0" tIns="0" rIns="0" bIns="0" rtlCol="0" anchor="ctr"/>
          <a:lstStyle/>
          <a:p>
            <a:pPr indent="0" marL="0">
              <a:buNone/>
            </a:pPr>
            <a:r>
              <a:rPr lang="en-US" sz="1300" b="1" dirty="0">
                <a:solidFill>
                  <a:srgbClr val="0E7A52"/>
                </a:solidFill>
              </a:rPr>
              <a:t>Cách phòng:  </a:t>
            </a:r>
            <a:pPr indent="0" marL="0">
              <a:buNone/>
            </a:pPr>
            <a:r>
              <a:rPr lang="en-US" sz="1300" dirty="0">
                <a:solidFill>
                  <a:srgbClr val="16213A"/>
                </a:solidFill>
              </a:rPr>
              <a:t>trước khi phân tích, luôn in ma trận tương quan giữa các biến. Cặp nào có hệ số trên 0,95 thì phải kiểm tra xem có phải bản sao không.</a:t>
            </a:r>
            <a:endParaRPr lang="en-US" sz="130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800" b="1" dirty="0">
                <a:solidFill>
                  <a:srgbClr val="16213A"/>
                </a:solidFill>
              </a:rPr>
              <a:t>Danh sách kiểm tra trước khi tin AI</a:t>
            </a:r>
            <a:endParaRPr lang="en-US" sz="28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algn="l" indent="0" marL="0">
              <a:buNone/>
            </a:pPr>
            <a:r>
              <a:rPr lang="en-US" sz="1400" b="1" dirty="0">
                <a:solidFill>
                  <a:srgbClr val="1C7293"/>
                </a:solidFill>
              </a:rPr>
              <a:t>Dùng cho mọi kết quả AI đưa ra, trước khi đưa vào báo cáo</a:t>
            </a:r>
            <a:endParaRPr lang="en-US" sz="1400" dirty="0"/>
          </a:p>
        </p:txBody>
      </p:sp>
      <p:sp>
        <p:nvSpPr>
          <p:cNvPr id="4" name="c67"/>
          <p:cNvSpPr/>
          <p:nvPr/>
        </p:nvSpPr>
        <p:spPr>
          <a:xfrm>
            <a:off x="566928" y="1609344"/>
            <a:ext cx="11064240" cy="566928"/>
          </a:xfrm>
          <a:prstGeom prst="roundRect">
            <a:avLst>
              <a:gd name="adj" fmla="val 16129"/>
            </a:avLst>
          </a:prstGeom>
          <a:solidFill>
            <a:srgbClr val="EEF3F7"/>
          </a:solidFill>
          <a:ln/>
        </p:spPr>
      </p:sp>
      <p:sp>
        <p:nvSpPr>
          <p:cNvPr id="5" name="d22"/>
          <p:cNvSpPr/>
          <p:nvPr/>
        </p:nvSpPr>
        <p:spPr>
          <a:xfrm>
            <a:off x="768096" y="1700784"/>
            <a:ext cx="384048" cy="384048"/>
          </a:xfrm>
          <a:prstGeom prst="ellipse">
            <a:avLst/>
          </a:prstGeom>
          <a:solidFill>
            <a:srgbClr val="065A82"/>
          </a:solidFill>
          <a:ln/>
        </p:spPr>
      </p:sp>
      <p:sp>
        <p:nvSpPr>
          <p:cNvPr id="6" name="Text 4"/>
          <p:cNvSpPr txBox="1"/>
          <p:nvPr/>
        </p:nvSpPr>
        <p:spPr>
          <a:xfrm>
            <a:off x="768096" y="17007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5"/>
          <p:cNvSpPr txBox="1"/>
          <p:nvPr/>
        </p:nvSpPr>
        <p:spPr>
          <a:xfrm>
            <a:off x="1298448" y="1645920"/>
            <a:ext cx="5029200" cy="493776"/>
          </a:xfrm>
          <a:prstGeom prst="rect">
            <a:avLst/>
          </a:prstGeom>
          <a:noFill/>
          <a:ln/>
        </p:spPr>
        <p:txBody>
          <a:bodyPr wrap="square" lIns="0" tIns="0" rIns="0" bIns="0" rtlCol="0" anchor="ctr"/>
          <a:lstStyle/>
          <a:p>
            <a:pPr indent="0" marL="0">
              <a:buNone/>
            </a:pPr>
            <a:r>
              <a:rPr lang="en-US" sz="1300" b="1" dirty="0">
                <a:solidFill>
                  <a:srgbClr val="16213A"/>
                </a:solidFill>
              </a:rPr>
              <a:t>Con số đã được chạy lại chưa?</a:t>
            </a:r>
            <a:endParaRPr lang="en-US" sz="1300" dirty="0"/>
          </a:p>
        </p:txBody>
      </p:sp>
      <p:sp>
        <p:nvSpPr>
          <p:cNvPr id="8" name="Text 6"/>
          <p:cNvSpPr txBox="1"/>
          <p:nvPr/>
        </p:nvSpPr>
        <p:spPr>
          <a:xfrm>
            <a:off x="6419088" y="1645920"/>
            <a:ext cx="4937760" cy="493776"/>
          </a:xfrm>
          <a:prstGeom prst="rect">
            <a:avLst/>
          </a:prstGeom>
          <a:noFill/>
          <a:ln/>
        </p:spPr>
        <p:txBody>
          <a:bodyPr wrap="square" lIns="0" tIns="0" rIns="0" bIns="0" rtlCol="0" anchor="ctr"/>
          <a:lstStyle/>
          <a:p>
            <a:pPr indent="0" marL="0">
              <a:buNone/>
            </a:pPr>
            <a:r>
              <a:rPr lang="en-US" sz="1150" dirty="0">
                <a:solidFill>
                  <a:srgbClr val="6D7A8C"/>
                </a:solidFill>
              </a:rPr>
              <a:t>Mọi số trong bài phải do mã của bạn tạo ra.</a:t>
            </a:r>
            <a:endParaRPr lang="en-US" sz="1150" dirty="0"/>
          </a:p>
        </p:txBody>
      </p:sp>
      <p:sp>
        <p:nvSpPr>
          <p:cNvPr id="9" name="c68"/>
          <p:cNvSpPr/>
          <p:nvPr/>
        </p:nvSpPr>
        <p:spPr>
          <a:xfrm>
            <a:off x="566928" y="2276856"/>
            <a:ext cx="11064240" cy="566928"/>
          </a:xfrm>
          <a:prstGeom prst="roundRect">
            <a:avLst>
              <a:gd name="adj" fmla="val 16129"/>
            </a:avLst>
          </a:prstGeom>
          <a:solidFill>
            <a:srgbClr val="FFFFFF"/>
          </a:solidFill>
          <a:ln/>
        </p:spPr>
      </p:sp>
      <p:sp>
        <p:nvSpPr>
          <p:cNvPr id="10" name="d23"/>
          <p:cNvSpPr/>
          <p:nvPr/>
        </p:nvSpPr>
        <p:spPr>
          <a:xfrm>
            <a:off x="768096" y="2368296"/>
            <a:ext cx="384048" cy="384048"/>
          </a:xfrm>
          <a:prstGeom prst="ellipse">
            <a:avLst/>
          </a:prstGeom>
          <a:solidFill>
            <a:srgbClr val="D03B3B"/>
          </a:solidFill>
          <a:ln/>
        </p:spPr>
      </p:sp>
      <p:sp>
        <p:nvSpPr>
          <p:cNvPr id="11" name="Text 9"/>
          <p:cNvSpPr txBox="1"/>
          <p:nvPr/>
        </p:nvSpPr>
        <p:spPr>
          <a:xfrm>
            <a:off x="768096" y="23682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Text 10"/>
          <p:cNvSpPr txBox="1"/>
          <p:nvPr/>
        </p:nvSpPr>
        <p:spPr>
          <a:xfrm>
            <a:off x="1298448" y="2313432"/>
            <a:ext cx="5029200" cy="493776"/>
          </a:xfrm>
          <a:prstGeom prst="rect">
            <a:avLst/>
          </a:prstGeom>
          <a:noFill/>
          <a:ln/>
        </p:spPr>
        <p:txBody>
          <a:bodyPr wrap="square" lIns="0" tIns="0" rIns="0" bIns="0" rtlCol="0" anchor="ctr"/>
          <a:lstStyle/>
          <a:p>
            <a:pPr indent="0" marL="0">
              <a:buNone/>
            </a:pPr>
            <a:r>
              <a:rPr lang="en-US" sz="1300" b="1" dirty="0">
                <a:solidFill>
                  <a:srgbClr val="16213A"/>
                </a:solidFill>
              </a:rPr>
              <a:t>Kết quả có đẹp bất thường không?</a:t>
            </a:r>
            <a:endParaRPr lang="en-US" sz="1300" dirty="0"/>
          </a:p>
        </p:txBody>
      </p:sp>
      <p:sp>
        <p:nvSpPr>
          <p:cNvPr id="13" name="Text 11"/>
          <p:cNvSpPr txBox="1"/>
          <p:nvPr/>
        </p:nvSpPr>
        <p:spPr>
          <a:xfrm>
            <a:off x="6419088" y="2313432"/>
            <a:ext cx="4937760" cy="493776"/>
          </a:xfrm>
          <a:prstGeom prst="rect">
            <a:avLst/>
          </a:prstGeom>
          <a:noFill/>
          <a:ln/>
        </p:spPr>
        <p:txBody>
          <a:bodyPr wrap="square" lIns="0" tIns="0" rIns="0" bIns="0" rtlCol="0" anchor="ctr"/>
          <a:lstStyle/>
          <a:p>
            <a:pPr indent="0" marL="0">
              <a:buNone/>
            </a:pPr>
            <a:r>
              <a:rPr lang="en-US" sz="1150" dirty="0">
                <a:solidFill>
                  <a:srgbClr val="6D7A8C"/>
                </a:solidFill>
              </a:rPr>
              <a:t>Trên 95% trong bài toán khó = nghi rò rỉ nhãn.</a:t>
            </a:r>
            <a:endParaRPr lang="en-US" sz="1150" dirty="0"/>
          </a:p>
        </p:txBody>
      </p:sp>
      <p:sp>
        <p:nvSpPr>
          <p:cNvPr id="14" name="c69"/>
          <p:cNvSpPr/>
          <p:nvPr/>
        </p:nvSpPr>
        <p:spPr>
          <a:xfrm>
            <a:off x="566928" y="2944368"/>
            <a:ext cx="11064240" cy="566928"/>
          </a:xfrm>
          <a:prstGeom prst="roundRect">
            <a:avLst>
              <a:gd name="adj" fmla="val 16129"/>
            </a:avLst>
          </a:prstGeom>
          <a:solidFill>
            <a:srgbClr val="EEF3F7"/>
          </a:solidFill>
          <a:ln/>
        </p:spPr>
      </p:sp>
      <p:sp>
        <p:nvSpPr>
          <p:cNvPr id="15" name="d24"/>
          <p:cNvSpPr/>
          <p:nvPr/>
        </p:nvSpPr>
        <p:spPr>
          <a:xfrm>
            <a:off x="768096" y="3035808"/>
            <a:ext cx="384048" cy="384048"/>
          </a:xfrm>
          <a:prstGeom prst="ellipse">
            <a:avLst/>
          </a:prstGeom>
          <a:solidFill>
            <a:srgbClr val="1C7293"/>
          </a:solidFill>
          <a:ln/>
        </p:spPr>
      </p:sp>
      <p:sp>
        <p:nvSpPr>
          <p:cNvPr id="16" name="Text 14"/>
          <p:cNvSpPr txBox="1"/>
          <p:nvPr/>
        </p:nvSpPr>
        <p:spPr>
          <a:xfrm>
            <a:off x="768096" y="30358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Text 15"/>
          <p:cNvSpPr txBox="1"/>
          <p:nvPr/>
        </p:nvSpPr>
        <p:spPr>
          <a:xfrm>
            <a:off x="1298448" y="2980944"/>
            <a:ext cx="5029200" cy="493776"/>
          </a:xfrm>
          <a:prstGeom prst="rect">
            <a:avLst/>
          </a:prstGeom>
          <a:noFill/>
          <a:ln/>
        </p:spPr>
        <p:txBody>
          <a:bodyPr wrap="square" lIns="0" tIns="0" rIns="0" bIns="0" rtlCol="0" anchor="ctr"/>
          <a:lstStyle/>
          <a:p>
            <a:pPr indent="0" marL="0">
              <a:buNone/>
            </a:pPr>
            <a:r>
              <a:rPr lang="en-US" sz="1300" b="1" dirty="0">
                <a:solidFill>
                  <a:srgbClr val="16213A"/>
                </a:solidFill>
              </a:rPr>
              <a:t>Các biến có bị trùng nhau không?</a:t>
            </a:r>
            <a:endParaRPr lang="en-US" sz="1300" dirty="0"/>
          </a:p>
        </p:txBody>
      </p:sp>
      <p:sp>
        <p:nvSpPr>
          <p:cNvPr id="18" name="Text 16"/>
          <p:cNvSpPr txBox="1"/>
          <p:nvPr/>
        </p:nvSpPr>
        <p:spPr>
          <a:xfrm>
            <a:off x="6419088" y="2980944"/>
            <a:ext cx="4937760" cy="493776"/>
          </a:xfrm>
          <a:prstGeom prst="rect">
            <a:avLst/>
          </a:prstGeom>
          <a:noFill/>
          <a:ln/>
        </p:spPr>
        <p:txBody>
          <a:bodyPr wrap="square" lIns="0" tIns="0" rIns="0" bIns="0" rtlCol="0" anchor="ctr"/>
          <a:lstStyle/>
          <a:p>
            <a:pPr indent="0" marL="0">
              <a:buNone/>
            </a:pPr>
            <a:r>
              <a:rPr lang="en-US" sz="1150" dirty="0">
                <a:solidFill>
                  <a:srgbClr val="6D7A8C"/>
                </a:solidFill>
              </a:rPr>
              <a:t>In ma trận tương quan, soi cặp trên 0,95.</a:t>
            </a:r>
            <a:endParaRPr lang="en-US" sz="1150" dirty="0"/>
          </a:p>
        </p:txBody>
      </p:sp>
      <p:sp>
        <p:nvSpPr>
          <p:cNvPr id="19" name="c70"/>
          <p:cNvSpPr/>
          <p:nvPr/>
        </p:nvSpPr>
        <p:spPr>
          <a:xfrm>
            <a:off x="566928" y="3611880"/>
            <a:ext cx="11064240" cy="566928"/>
          </a:xfrm>
          <a:prstGeom prst="roundRect">
            <a:avLst>
              <a:gd name="adj" fmla="val 16129"/>
            </a:avLst>
          </a:prstGeom>
          <a:solidFill>
            <a:srgbClr val="FFFFFF"/>
          </a:solidFill>
          <a:ln/>
        </p:spPr>
      </p:sp>
      <p:sp>
        <p:nvSpPr>
          <p:cNvPr id="20" name="d25"/>
          <p:cNvSpPr/>
          <p:nvPr/>
        </p:nvSpPr>
        <p:spPr>
          <a:xfrm>
            <a:off x="768096" y="3703320"/>
            <a:ext cx="384048" cy="384048"/>
          </a:xfrm>
          <a:prstGeom prst="ellipse">
            <a:avLst/>
          </a:prstGeom>
          <a:solidFill>
            <a:srgbClr val="EDA100"/>
          </a:solidFill>
          <a:ln/>
        </p:spPr>
      </p:sp>
      <p:sp>
        <p:nvSpPr>
          <p:cNvPr id="21" name="Text 19"/>
          <p:cNvSpPr txBox="1"/>
          <p:nvPr/>
        </p:nvSpPr>
        <p:spPr>
          <a:xfrm>
            <a:off x="768096" y="3703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2" name="Text 20"/>
          <p:cNvSpPr txBox="1"/>
          <p:nvPr/>
        </p:nvSpPr>
        <p:spPr>
          <a:xfrm>
            <a:off x="1298448" y="3648456"/>
            <a:ext cx="5029200" cy="493776"/>
          </a:xfrm>
          <a:prstGeom prst="rect">
            <a:avLst/>
          </a:prstGeom>
          <a:noFill/>
          <a:ln/>
        </p:spPr>
        <p:txBody>
          <a:bodyPr wrap="square" lIns="0" tIns="0" rIns="0" bIns="0" rtlCol="0" anchor="ctr"/>
          <a:lstStyle/>
          <a:p>
            <a:pPr indent="0" marL="0">
              <a:buNone/>
            </a:pPr>
            <a:r>
              <a:rPr lang="en-US" sz="1300" b="1" dirty="0">
                <a:solidFill>
                  <a:srgbClr val="16213A"/>
                </a:solidFill>
              </a:rPr>
              <a:t>Có dùng từ chỉ nhân quả không?</a:t>
            </a:r>
            <a:endParaRPr lang="en-US" sz="1300" dirty="0"/>
          </a:p>
        </p:txBody>
      </p:sp>
      <p:sp>
        <p:nvSpPr>
          <p:cNvPr id="23" name="Text 21"/>
          <p:cNvSpPr txBox="1"/>
          <p:nvPr/>
        </p:nvSpPr>
        <p:spPr>
          <a:xfrm>
            <a:off x="6419088" y="3648456"/>
            <a:ext cx="4937760" cy="493776"/>
          </a:xfrm>
          <a:prstGeom prst="rect">
            <a:avLst/>
          </a:prstGeom>
          <a:noFill/>
          <a:ln/>
        </p:spPr>
        <p:txBody>
          <a:bodyPr wrap="square" lIns="0" tIns="0" rIns="0" bIns="0" rtlCol="0" anchor="ctr"/>
          <a:lstStyle/>
          <a:p>
            <a:pPr indent="0" marL="0">
              <a:buNone/>
            </a:pPr>
            <a:r>
              <a:rPr lang="en-US" sz="1150" dirty="0">
                <a:solidFill>
                  <a:srgbClr val="6D7A8C"/>
                </a:solidFill>
              </a:rPr>
              <a:t>Đổi “gây ra” thành “liên quan đến”.</a:t>
            </a:r>
            <a:endParaRPr lang="en-US" sz="1150" dirty="0"/>
          </a:p>
        </p:txBody>
      </p:sp>
      <p:sp>
        <p:nvSpPr>
          <p:cNvPr id="24" name="c71"/>
          <p:cNvSpPr/>
          <p:nvPr/>
        </p:nvSpPr>
        <p:spPr>
          <a:xfrm>
            <a:off x="566928" y="4279392"/>
            <a:ext cx="11064240" cy="566928"/>
          </a:xfrm>
          <a:prstGeom prst="roundRect">
            <a:avLst>
              <a:gd name="adj" fmla="val 16129"/>
            </a:avLst>
          </a:prstGeom>
          <a:solidFill>
            <a:srgbClr val="EEF3F7"/>
          </a:solidFill>
          <a:ln/>
        </p:spPr>
      </p:sp>
      <p:sp>
        <p:nvSpPr>
          <p:cNvPr id="25" name="d26"/>
          <p:cNvSpPr/>
          <p:nvPr/>
        </p:nvSpPr>
        <p:spPr>
          <a:xfrm>
            <a:off x="768096" y="4370832"/>
            <a:ext cx="384048" cy="384048"/>
          </a:xfrm>
          <a:prstGeom prst="ellipse">
            <a:avLst/>
          </a:prstGeom>
          <a:solidFill>
            <a:srgbClr val="2A78D6"/>
          </a:solidFill>
          <a:ln/>
        </p:spPr>
      </p:sp>
      <p:sp>
        <p:nvSpPr>
          <p:cNvPr id="26" name="Text 24"/>
          <p:cNvSpPr txBox="1"/>
          <p:nvPr/>
        </p:nvSpPr>
        <p:spPr>
          <a:xfrm>
            <a:off x="768096" y="43708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7" name="Text 25"/>
          <p:cNvSpPr txBox="1"/>
          <p:nvPr/>
        </p:nvSpPr>
        <p:spPr>
          <a:xfrm>
            <a:off x="1298448" y="4315968"/>
            <a:ext cx="5029200" cy="493776"/>
          </a:xfrm>
          <a:prstGeom prst="rect">
            <a:avLst/>
          </a:prstGeom>
          <a:noFill/>
          <a:ln/>
        </p:spPr>
        <p:txBody>
          <a:bodyPr wrap="square" lIns="0" tIns="0" rIns="0" bIns="0" rtlCol="0" anchor="ctr"/>
          <a:lstStyle/>
          <a:p>
            <a:pPr indent="0" marL="0">
              <a:buNone/>
            </a:pPr>
            <a:r>
              <a:rPr lang="en-US" sz="1300" b="1" dirty="0">
                <a:solidFill>
                  <a:srgbClr val="16213A"/>
                </a:solidFill>
              </a:rPr>
              <a:t>Cỡ mẫu từng nhóm có đủ lớn không?</a:t>
            </a:r>
            <a:endParaRPr lang="en-US" sz="1300" dirty="0"/>
          </a:p>
        </p:txBody>
      </p:sp>
      <p:sp>
        <p:nvSpPr>
          <p:cNvPr id="28" name="Text 26"/>
          <p:cNvSpPr txBox="1"/>
          <p:nvPr/>
        </p:nvSpPr>
        <p:spPr>
          <a:xfrm>
            <a:off x="6419088" y="4315968"/>
            <a:ext cx="4937760" cy="493776"/>
          </a:xfrm>
          <a:prstGeom prst="rect">
            <a:avLst/>
          </a:prstGeom>
          <a:noFill/>
          <a:ln/>
        </p:spPr>
        <p:txBody>
          <a:bodyPr wrap="square" lIns="0" tIns="0" rIns="0" bIns="0" rtlCol="0" anchor="ctr"/>
          <a:lstStyle/>
          <a:p>
            <a:pPr indent="0" marL="0">
              <a:buNone/>
            </a:pPr>
            <a:r>
              <a:rPr lang="en-US" sz="1150" dirty="0">
                <a:solidFill>
                  <a:srgbClr val="6D7A8C"/>
                </a:solidFill>
              </a:rPr>
              <a:t>Nhóm dưới 30 quan sát thì kết luận rất yếu.</a:t>
            </a:r>
            <a:endParaRPr lang="en-US" sz="1150" dirty="0"/>
          </a:p>
        </p:txBody>
      </p:sp>
      <p:sp>
        <p:nvSpPr>
          <p:cNvPr id="29" name="c72"/>
          <p:cNvSpPr/>
          <p:nvPr/>
        </p:nvSpPr>
        <p:spPr>
          <a:xfrm>
            <a:off x="566928" y="4946904"/>
            <a:ext cx="11064240" cy="566928"/>
          </a:xfrm>
          <a:prstGeom prst="roundRect">
            <a:avLst>
              <a:gd name="adj" fmla="val 16129"/>
            </a:avLst>
          </a:prstGeom>
          <a:solidFill>
            <a:srgbClr val="FFFFFF"/>
          </a:solidFill>
          <a:ln/>
        </p:spPr>
      </p:sp>
      <p:sp>
        <p:nvSpPr>
          <p:cNvPr id="30" name="d27"/>
          <p:cNvSpPr/>
          <p:nvPr/>
        </p:nvSpPr>
        <p:spPr>
          <a:xfrm>
            <a:off x="768096" y="5038344"/>
            <a:ext cx="384048" cy="384048"/>
          </a:xfrm>
          <a:prstGeom prst="ellipse">
            <a:avLst/>
          </a:prstGeom>
          <a:solidFill>
            <a:srgbClr val="1BAF7A"/>
          </a:solidFill>
          <a:ln/>
        </p:spPr>
      </p:sp>
      <p:sp>
        <p:nvSpPr>
          <p:cNvPr id="31" name="Text 29"/>
          <p:cNvSpPr txBox="1"/>
          <p:nvPr/>
        </p:nvSpPr>
        <p:spPr>
          <a:xfrm>
            <a:off x="768096" y="50383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2" name="Text 30"/>
          <p:cNvSpPr txBox="1"/>
          <p:nvPr/>
        </p:nvSpPr>
        <p:spPr>
          <a:xfrm>
            <a:off x="1298448" y="4983480"/>
            <a:ext cx="5029200" cy="493776"/>
          </a:xfrm>
          <a:prstGeom prst="rect">
            <a:avLst/>
          </a:prstGeom>
          <a:noFill/>
          <a:ln/>
        </p:spPr>
        <p:txBody>
          <a:bodyPr wrap="square" lIns="0" tIns="0" rIns="0" bIns="0" rtlCol="0" anchor="ctr"/>
          <a:lstStyle/>
          <a:p>
            <a:pPr indent="0" marL="0">
              <a:buNone/>
            </a:pPr>
            <a:r>
              <a:rPr lang="en-US" sz="1300" b="1" dirty="0">
                <a:solidFill>
                  <a:srgbClr val="16213A"/>
                </a:solidFill>
              </a:rPr>
              <a:t>Tỷ lệ nền có hợp lý không?</a:t>
            </a:r>
            <a:endParaRPr lang="en-US" sz="1300" dirty="0"/>
          </a:p>
        </p:txBody>
      </p:sp>
      <p:sp>
        <p:nvSpPr>
          <p:cNvPr id="33" name="Text 31"/>
          <p:cNvSpPr txBox="1"/>
          <p:nvPr/>
        </p:nvSpPr>
        <p:spPr>
          <a:xfrm>
            <a:off x="6419088" y="4983480"/>
            <a:ext cx="4937760" cy="493776"/>
          </a:xfrm>
          <a:prstGeom prst="rect">
            <a:avLst/>
          </a:prstGeom>
          <a:noFill/>
          <a:ln/>
        </p:spPr>
        <p:txBody>
          <a:bodyPr wrap="square" lIns="0" tIns="0" rIns="0" bIns="0" rtlCol="0" anchor="ctr"/>
          <a:lstStyle/>
          <a:p>
            <a:pPr indent="0" marL="0">
              <a:buNone/>
            </a:pPr>
            <a:r>
              <a:rPr lang="en-US" sz="1150" dirty="0">
                <a:solidFill>
                  <a:srgbClr val="6D7A8C"/>
                </a:solidFill>
              </a:rPr>
              <a:t>Vàng da sơ sinh 92% là bất thường.</a:t>
            </a:r>
            <a:endParaRPr lang="en-US" sz="1150" dirty="0"/>
          </a:p>
        </p:txBody>
      </p:sp>
      <p:sp>
        <p:nvSpPr>
          <p:cNvPr id="34" name="c73"/>
          <p:cNvSpPr/>
          <p:nvPr/>
        </p:nvSpPr>
        <p:spPr>
          <a:xfrm>
            <a:off x="566928" y="5614416"/>
            <a:ext cx="11064240" cy="566928"/>
          </a:xfrm>
          <a:prstGeom prst="roundRect">
            <a:avLst>
              <a:gd name="adj" fmla="val 16129"/>
            </a:avLst>
          </a:prstGeom>
          <a:solidFill>
            <a:srgbClr val="EEF3F7"/>
          </a:solidFill>
          <a:ln/>
        </p:spPr>
      </p:sp>
      <p:sp>
        <p:nvSpPr>
          <p:cNvPr id="35" name="d28"/>
          <p:cNvSpPr/>
          <p:nvPr/>
        </p:nvSpPr>
        <p:spPr>
          <a:xfrm>
            <a:off x="768096" y="5705856"/>
            <a:ext cx="384048" cy="384048"/>
          </a:xfrm>
          <a:prstGeom prst="ellipse">
            <a:avLst/>
          </a:prstGeom>
          <a:solidFill>
            <a:srgbClr val="1C7293"/>
          </a:solidFill>
          <a:ln/>
        </p:spPr>
      </p:sp>
      <p:sp>
        <p:nvSpPr>
          <p:cNvPr id="36" name="Text 34"/>
          <p:cNvSpPr txBox="1"/>
          <p:nvPr/>
        </p:nvSpPr>
        <p:spPr>
          <a:xfrm>
            <a:off x="768096" y="57058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37" name="Text 35"/>
          <p:cNvSpPr txBox="1"/>
          <p:nvPr/>
        </p:nvSpPr>
        <p:spPr>
          <a:xfrm>
            <a:off x="1298448" y="5650992"/>
            <a:ext cx="5029200" cy="493776"/>
          </a:xfrm>
          <a:prstGeom prst="rect">
            <a:avLst/>
          </a:prstGeom>
          <a:noFill/>
          <a:ln/>
        </p:spPr>
        <p:txBody>
          <a:bodyPr wrap="square" lIns="0" tIns="0" rIns="0" bIns="0" rtlCol="0" anchor="ctr"/>
          <a:lstStyle/>
          <a:p>
            <a:pPr indent="0" marL="0">
              <a:buNone/>
            </a:pPr>
            <a:r>
              <a:rPr lang="en-US" sz="1300" b="1" dirty="0">
                <a:solidFill>
                  <a:srgbClr val="16213A"/>
                </a:solidFill>
              </a:rPr>
              <a:t>AI có bỏ sót cách giải thích khác?</a:t>
            </a:r>
            <a:endParaRPr lang="en-US" sz="1300" dirty="0"/>
          </a:p>
        </p:txBody>
      </p:sp>
      <p:sp>
        <p:nvSpPr>
          <p:cNvPr id="38" name="Text 36"/>
          <p:cNvSpPr txBox="1"/>
          <p:nvPr/>
        </p:nvSpPr>
        <p:spPr>
          <a:xfrm>
            <a:off x="6419088" y="5650992"/>
            <a:ext cx="4937760" cy="493776"/>
          </a:xfrm>
          <a:prstGeom prst="rect">
            <a:avLst/>
          </a:prstGeom>
          <a:noFill/>
          <a:ln/>
        </p:spPr>
        <p:txBody>
          <a:bodyPr wrap="square" lIns="0" tIns="0" rIns="0" bIns="0" rtlCol="0" anchor="ctr"/>
          <a:lstStyle/>
          <a:p>
            <a:pPr indent="0" marL="0">
              <a:buNone/>
            </a:pPr>
            <a:r>
              <a:rPr lang="en-US" sz="1150" dirty="0">
                <a:solidFill>
                  <a:srgbClr val="6D7A8C"/>
                </a:solidFill>
              </a:rPr>
              <a:t>Hỏi thẳng: “Có cách giải thích nào khác không?”</a:t>
            </a:r>
            <a:endParaRPr lang="en-US" sz="115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ph idx="100" type="body" hasCustomPrompt="1"/>
          </p:nvPr>
        </p:nvSpPr>
        <p:spPr>
          <a:xfrm>
            <a:off x="841248" y="2560320"/>
            <a:ext cx="10424160" cy="411480"/>
          </a:xfrm>
          <a:prstGeom prst="rect">
            <a:avLst/>
          </a:prstGeom>
          <a:noFill/>
          <a:ln/>
        </p:spPr>
        <p:txBody>
          <a:bodyPr wrap="square" rtlCol="0"/>
          <a:lstStyle/>
          <a:p>
            <a:pPr algn="l" indent="0" marL="0">
              <a:buNone/>
            </a:pPr>
            <a:r>
              <a:rPr lang="en-US" sz="1600" b="1" spc="300" kern="0" dirty="0">
                <a:solidFill>
                  <a:srgbClr val="9FD2E8"/>
                </a:solidFill>
              </a:rPr>
              <a:t>BƯỚC 5</a:t>
            </a:r>
            <a:endParaRPr lang="en-US" sz="1600" dirty="0"/>
          </a:p>
        </p:txBody>
      </p:sp>
      <p:sp>
        <p:nvSpPr>
          <p:cNvPr id="3" name="Text 0"/>
          <p:cNvSpPr txBox="1"/>
          <p:nvPr>
            <p:ph idx="101" type="title" hasCustomPrompt="1"/>
          </p:nvPr>
        </p:nvSpPr>
        <p:spPr>
          <a:xfrm>
            <a:off x="841248" y="3017520"/>
            <a:ext cx="10424160" cy="1005840"/>
          </a:xfrm>
          <a:prstGeom prst="rect">
            <a:avLst/>
          </a:prstGeom>
          <a:noFill/>
          <a:ln/>
        </p:spPr>
        <p:txBody>
          <a:bodyPr wrap="square" rtlCol="0"/>
          <a:lstStyle/>
          <a:p>
            <a:pPr algn="l" indent="0" marL="0">
              <a:buNone/>
            </a:pPr>
            <a:r>
              <a:rPr lang="en-US" sz="3600" b="1" dirty="0">
                <a:solidFill>
                  <a:srgbClr val="FFFFFF"/>
                </a:solidFill>
              </a:rPr>
              <a:t>Trình bày kết quả và đạo đức</a:t>
            </a:r>
            <a:endParaRPr lang="en-US" sz="3600" dirty="0"/>
          </a:p>
        </p:txBody>
      </p:sp>
      <p:sp>
        <p:nvSpPr>
          <p:cNvPr id="4" name="Text 0"/>
          <p:cNvSpPr txBox="1"/>
          <p:nvPr>
            <p:ph idx="102" type="body" hasCustomPrompt="1"/>
          </p:nvPr>
        </p:nvSpPr>
        <p:spPr>
          <a:xfrm>
            <a:off x="841248" y="4069080"/>
            <a:ext cx="10424160" cy="822960"/>
          </a:xfrm>
          <a:prstGeom prst="rect">
            <a:avLst/>
          </a:prstGeom>
          <a:noFill/>
          <a:ln/>
        </p:spPr>
        <p:txBody>
          <a:bodyPr wrap="square" rtlCol="0"/>
          <a:lstStyle/>
          <a:p>
            <a:pPr algn="l" indent="0" marL="0">
              <a:buNone/>
            </a:pPr>
            <a:r>
              <a:rPr lang="en-US" sz="1500" dirty="0">
                <a:solidFill>
                  <a:srgbClr val="C9E4F2"/>
                </a:solidFill>
              </a:rPr>
              <a:t>Phân tích xuất sắc mà trình bày kém thì người nghe không nhận được gì</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800" b="1" dirty="0">
                <a:solidFill>
                  <a:srgbClr val="16213A"/>
                </a:solidFill>
              </a:rPr>
              <a:t>Nêu hạn chế là phần làm bài mạnh lên, không yếu đi</a:t>
            </a:r>
            <a:endParaRPr lang="en-US" sz="28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algn="l" indent="0" marL="0">
              <a:buNone/>
            </a:pPr>
            <a:r>
              <a:rPr lang="en-US" sz="1400" b="1" dirty="0">
                <a:solidFill>
                  <a:srgbClr val="1C7293"/>
                </a:solidFill>
              </a:rPr>
              <a:t>Bốn hạn chế gần như luôn phải nêu với dữ liệu khảo sát</a:t>
            </a:r>
            <a:endParaRPr lang="en-US" sz="1400" dirty="0"/>
          </a:p>
        </p:txBody>
      </p:sp>
      <p:sp>
        <p:nvSpPr>
          <p:cNvPr id="4" name="c74"/>
          <p:cNvSpPr/>
          <p:nvPr/>
        </p:nvSpPr>
        <p:spPr>
          <a:xfrm>
            <a:off x="566928" y="1645920"/>
            <a:ext cx="5394960" cy="1691640"/>
          </a:xfrm>
          <a:prstGeom prst="roundRect">
            <a:avLst>
              <a:gd name="adj" fmla="val 5405"/>
            </a:avLst>
          </a:prstGeom>
          <a:solidFill>
            <a:srgbClr val="EEF3F7"/>
          </a:solidFill>
          <a:ln/>
        </p:spPr>
      </p:sp>
      <p:sp>
        <p:nvSpPr>
          <p:cNvPr id="5" name="d29"/>
          <p:cNvSpPr/>
          <p:nvPr/>
        </p:nvSpPr>
        <p:spPr>
          <a:xfrm>
            <a:off x="786384" y="1847088"/>
            <a:ext cx="420624" cy="420624"/>
          </a:xfrm>
          <a:prstGeom prst="ellipse">
            <a:avLst/>
          </a:prstGeom>
          <a:solidFill>
            <a:srgbClr val="065A82"/>
          </a:solidFill>
          <a:ln/>
        </p:spPr>
      </p:sp>
      <p:sp>
        <p:nvSpPr>
          <p:cNvPr id="6" name="Text 4"/>
          <p:cNvSpPr txBox="1"/>
          <p:nvPr/>
        </p:nvSpPr>
        <p:spPr>
          <a:xfrm>
            <a:off x="786384" y="18470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5"/>
          <p:cNvSpPr txBox="1"/>
          <p:nvPr/>
        </p:nvSpPr>
        <p:spPr>
          <a:xfrm>
            <a:off x="1316736" y="1828800"/>
            <a:ext cx="4425696" cy="457200"/>
          </a:xfrm>
          <a:prstGeom prst="rect">
            <a:avLst/>
          </a:prstGeom>
          <a:noFill/>
          <a:ln/>
        </p:spPr>
        <p:txBody>
          <a:bodyPr wrap="square" lIns="0" tIns="0" rIns="0" bIns="0" rtlCol="0" anchor="ctr"/>
          <a:lstStyle/>
          <a:p>
            <a:pPr indent="0" marL="0">
              <a:lnSpc>
                <a:spcPts val="1500"/>
              </a:lnSpc>
              <a:buNone/>
            </a:pPr>
            <a:r>
              <a:rPr lang="en-US" sz="1350" b="1" dirty="0">
                <a:solidFill>
                  <a:srgbClr val="16213A"/>
                </a:solidFill>
              </a:rPr>
              <a:t>Thiết kế cắt ngang</a:t>
            </a:r>
            <a:endParaRPr lang="en-US" sz="1350" dirty="0"/>
          </a:p>
        </p:txBody>
      </p:sp>
      <p:sp>
        <p:nvSpPr>
          <p:cNvPr id="8" name="Text 6"/>
          <p:cNvSpPr txBox="1"/>
          <p:nvPr/>
        </p:nvSpPr>
        <p:spPr>
          <a:xfrm>
            <a:off x="786384" y="2377440"/>
            <a:ext cx="4956048" cy="79552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Dữ liệu thu tại một thời điểm → không kết luận được chiều nhân quả.</a:t>
            </a:r>
            <a:endParaRPr lang="en-US" sz="1050" dirty="0"/>
          </a:p>
        </p:txBody>
      </p:sp>
      <p:sp>
        <p:nvSpPr>
          <p:cNvPr id="9" name="c75"/>
          <p:cNvSpPr/>
          <p:nvPr/>
        </p:nvSpPr>
        <p:spPr>
          <a:xfrm>
            <a:off x="6236208" y="1645920"/>
            <a:ext cx="5394960" cy="1691640"/>
          </a:xfrm>
          <a:prstGeom prst="roundRect">
            <a:avLst>
              <a:gd name="adj" fmla="val 5405"/>
            </a:avLst>
          </a:prstGeom>
          <a:solidFill>
            <a:srgbClr val="EEF3F7"/>
          </a:solidFill>
          <a:ln/>
        </p:spPr>
      </p:sp>
      <p:sp>
        <p:nvSpPr>
          <p:cNvPr id="10" name="d30"/>
          <p:cNvSpPr/>
          <p:nvPr/>
        </p:nvSpPr>
        <p:spPr>
          <a:xfrm>
            <a:off x="6455664" y="1847088"/>
            <a:ext cx="420624" cy="420624"/>
          </a:xfrm>
          <a:prstGeom prst="ellipse">
            <a:avLst/>
          </a:prstGeom>
          <a:solidFill>
            <a:srgbClr val="1C7293"/>
          </a:solidFill>
          <a:ln/>
        </p:spPr>
      </p:sp>
      <p:sp>
        <p:nvSpPr>
          <p:cNvPr id="11" name="Text 9"/>
          <p:cNvSpPr txBox="1"/>
          <p:nvPr/>
        </p:nvSpPr>
        <p:spPr>
          <a:xfrm>
            <a:off x="6455664" y="18470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Text 10"/>
          <p:cNvSpPr txBox="1"/>
          <p:nvPr/>
        </p:nvSpPr>
        <p:spPr>
          <a:xfrm>
            <a:off x="6986016" y="1828800"/>
            <a:ext cx="4425696" cy="457200"/>
          </a:xfrm>
          <a:prstGeom prst="rect">
            <a:avLst/>
          </a:prstGeom>
          <a:noFill/>
          <a:ln/>
        </p:spPr>
        <p:txBody>
          <a:bodyPr wrap="square" lIns="0" tIns="0" rIns="0" bIns="0" rtlCol="0" anchor="ctr"/>
          <a:lstStyle/>
          <a:p>
            <a:pPr indent="0" marL="0">
              <a:lnSpc>
                <a:spcPts val="1500"/>
              </a:lnSpc>
              <a:buNone/>
            </a:pPr>
            <a:r>
              <a:rPr lang="en-US" sz="1350" b="1" dirty="0">
                <a:solidFill>
                  <a:srgbClr val="16213A"/>
                </a:solidFill>
              </a:rPr>
              <a:t>Dữ liệu tự báo cáo</a:t>
            </a:r>
            <a:endParaRPr lang="en-US" sz="1350" dirty="0"/>
          </a:p>
        </p:txBody>
      </p:sp>
      <p:sp>
        <p:nvSpPr>
          <p:cNvPr id="13" name="Text 11"/>
          <p:cNvSpPr txBox="1"/>
          <p:nvPr/>
        </p:nvSpPr>
        <p:spPr>
          <a:xfrm>
            <a:off x="6455664" y="2377440"/>
            <a:ext cx="4956048" cy="79552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Người trả lời tự đánh giá → có thể lệch. Không phải chẩn đoán lâm sàng.</a:t>
            </a:r>
            <a:endParaRPr lang="en-US" sz="1050" dirty="0"/>
          </a:p>
        </p:txBody>
      </p:sp>
      <p:sp>
        <p:nvSpPr>
          <p:cNvPr id="14" name="c76"/>
          <p:cNvSpPr/>
          <p:nvPr/>
        </p:nvSpPr>
        <p:spPr>
          <a:xfrm>
            <a:off x="566928" y="3648456"/>
            <a:ext cx="5394960" cy="1691640"/>
          </a:xfrm>
          <a:prstGeom prst="roundRect">
            <a:avLst>
              <a:gd name="adj" fmla="val 5405"/>
            </a:avLst>
          </a:prstGeom>
          <a:solidFill>
            <a:srgbClr val="EEF3F7"/>
          </a:solidFill>
          <a:ln/>
        </p:spPr>
      </p:sp>
      <p:sp>
        <p:nvSpPr>
          <p:cNvPr id="15" name="d31"/>
          <p:cNvSpPr/>
          <p:nvPr/>
        </p:nvSpPr>
        <p:spPr>
          <a:xfrm>
            <a:off x="786384" y="3849624"/>
            <a:ext cx="420624" cy="420624"/>
          </a:xfrm>
          <a:prstGeom prst="ellipse">
            <a:avLst/>
          </a:prstGeom>
          <a:solidFill>
            <a:srgbClr val="EDA100"/>
          </a:solidFill>
          <a:ln/>
        </p:spPr>
      </p:sp>
      <p:sp>
        <p:nvSpPr>
          <p:cNvPr id="16" name="Text 14"/>
          <p:cNvSpPr txBox="1"/>
          <p:nvPr/>
        </p:nvSpPr>
        <p:spPr>
          <a:xfrm>
            <a:off x="786384" y="38496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Text 15"/>
          <p:cNvSpPr txBox="1"/>
          <p:nvPr/>
        </p:nvSpPr>
        <p:spPr>
          <a:xfrm>
            <a:off x="1316736" y="3831336"/>
            <a:ext cx="4425696" cy="457200"/>
          </a:xfrm>
          <a:prstGeom prst="rect">
            <a:avLst/>
          </a:prstGeom>
          <a:noFill/>
          <a:ln/>
        </p:spPr>
        <p:txBody>
          <a:bodyPr wrap="square" lIns="0" tIns="0" rIns="0" bIns="0" rtlCol="0" anchor="ctr"/>
          <a:lstStyle/>
          <a:p>
            <a:pPr indent="0" marL="0">
              <a:lnSpc>
                <a:spcPts val="1500"/>
              </a:lnSpc>
              <a:buNone/>
            </a:pPr>
            <a:r>
              <a:rPr lang="en-US" sz="1350" b="1" dirty="0">
                <a:solidFill>
                  <a:srgbClr val="16213A"/>
                </a:solidFill>
              </a:rPr>
              <a:t>Mẫu không đại diện</a:t>
            </a:r>
            <a:endParaRPr lang="en-US" sz="1350" dirty="0"/>
          </a:p>
        </p:txBody>
      </p:sp>
      <p:sp>
        <p:nvSpPr>
          <p:cNvPr id="18" name="Text 16"/>
          <p:cNvSpPr txBox="1"/>
          <p:nvPr/>
        </p:nvSpPr>
        <p:spPr>
          <a:xfrm>
            <a:off x="786384" y="4379976"/>
            <a:ext cx="4956048" cy="79552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Mẫu đến khám, mẫu tình nguyện → tỷ lệ trong mẫu không phải tỷ lệ dân số.</a:t>
            </a:r>
            <a:endParaRPr lang="en-US" sz="1050" dirty="0"/>
          </a:p>
        </p:txBody>
      </p:sp>
      <p:sp>
        <p:nvSpPr>
          <p:cNvPr id="19" name="c77"/>
          <p:cNvSpPr/>
          <p:nvPr/>
        </p:nvSpPr>
        <p:spPr>
          <a:xfrm>
            <a:off x="6236208" y="3648456"/>
            <a:ext cx="5394960" cy="1691640"/>
          </a:xfrm>
          <a:prstGeom prst="roundRect">
            <a:avLst>
              <a:gd name="adj" fmla="val 5405"/>
            </a:avLst>
          </a:prstGeom>
          <a:solidFill>
            <a:srgbClr val="EEF3F7"/>
          </a:solidFill>
          <a:ln/>
        </p:spPr>
      </p:sp>
      <p:sp>
        <p:nvSpPr>
          <p:cNvPr id="20" name="d32"/>
          <p:cNvSpPr/>
          <p:nvPr/>
        </p:nvSpPr>
        <p:spPr>
          <a:xfrm>
            <a:off x="6455664" y="3849624"/>
            <a:ext cx="420624" cy="420624"/>
          </a:xfrm>
          <a:prstGeom prst="ellipse">
            <a:avLst/>
          </a:prstGeom>
          <a:solidFill>
            <a:srgbClr val="D03B3B"/>
          </a:solidFill>
          <a:ln/>
        </p:spPr>
      </p:sp>
      <p:sp>
        <p:nvSpPr>
          <p:cNvPr id="21" name="Text 19"/>
          <p:cNvSpPr txBox="1"/>
          <p:nvPr/>
        </p:nvSpPr>
        <p:spPr>
          <a:xfrm>
            <a:off x="6455664" y="38496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2" name="Text 20"/>
          <p:cNvSpPr txBox="1"/>
          <p:nvPr/>
        </p:nvSpPr>
        <p:spPr>
          <a:xfrm>
            <a:off x="6986016" y="3831336"/>
            <a:ext cx="4425696" cy="457200"/>
          </a:xfrm>
          <a:prstGeom prst="rect">
            <a:avLst/>
          </a:prstGeom>
          <a:noFill/>
          <a:ln/>
        </p:spPr>
        <p:txBody>
          <a:bodyPr wrap="square" lIns="0" tIns="0" rIns="0" bIns="0" rtlCol="0" anchor="ctr"/>
          <a:lstStyle/>
          <a:p>
            <a:pPr indent="0" marL="0">
              <a:lnSpc>
                <a:spcPts val="1500"/>
              </a:lnSpc>
              <a:buNone/>
            </a:pPr>
            <a:r>
              <a:rPr lang="en-US" sz="1350" b="1" dirty="0">
                <a:solidFill>
                  <a:srgbClr val="16213A"/>
                </a:solidFill>
              </a:rPr>
              <a:t>Giới hạn bối cảnh</a:t>
            </a:r>
            <a:endParaRPr lang="en-US" sz="1350" dirty="0"/>
          </a:p>
        </p:txBody>
      </p:sp>
      <p:sp>
        <p:nvSpPr>
          <p:cNvPr id="23" name="Text 21"/>
          <p:cNvSpPr txBox="1"/>
          <p:nvPr/>
        </p:nvSpPr>
        <p:spPr>
          <a:xfrm>
            <a:off x="6455664" y="4379976"/>
            <a:ext cx="4956048" cy="795528"/>
          </a:xfrm>
          <a:prstGeom prst="rect">
            <a:avLst/>
          </a:prstGeom>
          <a:noFill/>
          <a:ln/>
        </p:spPr>
        <p:txBody>
          <a:bodyPr wrap="square" lIns="0" tIns="0" rIns="0" bIns="0" rtlCol="0" anchor="ctr"/>
          <a:lstStyle/>
          <a:p>
            <a:pPr indent="0" marL="0">
              <a:lnSpc>
                <a:spcPts val="1250"/>
              </a:lnSpc>
              <a:buNone/>
            </a:pPr>
            <a:r>
              <a:rPr lang="en-US" sz="1050" dirty="0">
                <a:solidFill>
                  <a:srgbClr val="6D7A8C"/>
                </a:solidFill>
              </a:rPr>
              <a:t>Khảo sát ở nước khác, thời điểm khác → không suy rộng cho Việt Nam.</a:t>
            </a:r>
            <a:endParaRPr lang="en-US" sz="1050" dirty="0"/>
          </a:p>
        </p:txBody>
      </p:sp>
      <p:sp>
        <p:nvSpPr>
          <p:cNvPr id="24" name="c78"/>
          <p:cNvSpPr/>
          <p:nvPr/>
        </p:nvSpPr>
        <p:spPr>
          <a:xfrm>
            <a:off x="566928" y="5266944"/>
            <a:ext cx="11064240" cy="914400"/>
          </a:xfrm>
          <a:prstGeom prst="roundRect">
            <a:avLst>
              <a:gd name="adj" fmla="val 10000"/>
            </a:avLst>
          </a:prstGeom>
          <a:solidFill>
            <a:srgbClr val="16213A"/>
          </a:solidFill>
          <a:ln/>
        </p:spPr>
      </p:sp>
      <p:sp>
        <p:nvSpPr>
          <p:cNvPr id="25" name="Text 23"/>
          <p:cNvSpPr txBox="1"/>
          <p:nvPr/>
        </p:nvSpPr>
        <p:spPr>
          <a:xfrm>
            <a:off x="932688" y="5431536"/>
            <a:ext cx="10332720" cy="621792"/>
          </a:xfrm>
          <a:prstGeom prst="rect">
            <a:avLst/>
          </a:prstGeom>
          <a:noFill/>
          <a:ln/>
        </p:spPr>
        <p:txBody>
          <a:bodyPr wrap="square" lIns="0" tIns="0" rIns="0" bIns="0" rtlCol="0" anchor="ctr"/>
          <a:lstStyle/>
          <a:p>
            <a:pPr indent="0" marL="0">
              <a:lnSpc>
                <a:spcPts val="1700"/>
              </a:lnSpc>
              <a:buNone/>
            </a:pPr>
            <a:r>
              <a:rPr lang="en-US" sz="1350" b="1" dirty="0">
                <a:solidFill>
                  <a:srgbClr val="9FD2E8"/>
                </a:solidFill>
              </a:rPr>
              <a:t>Mẹo:  </a:t>
            </a:r>
            <a:pPr indent="0" marL="0">
              <a:lnSpc>
                <a:spcPts val="1700"/>
              </a:lnSpc>
              <a:buNone/>
            </a:pPr>
            <a:r>
              <a:rPr lang="en-US" sz="1350" dirty="0">
                <a:solidFill>
                  <a:srgbClr val="D7E5F0"/>
                </a:solidFill>
              </a:rPr>
              <a:t>nếu giảng viên hỏi được một câu khiến bạn lúng túng, rất có thể đó chính là hạn chế lẽ ra bạn nên tự nêu trước. Nêu trước thì đó là sự cẩn trọng; để người khác chỉ ra thì đó là lỗ hổng.</a:t>
            </a:r>
            <a:endParaRPr lang="en-US" sz="135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ph idx="100" type="title" hasCustomPrompt="1"/>
          </p:nvPr>
        </p:nvSpPr>
        <p:spPr>
          <a:xfrm>
            <a:off x="566928" y="384048"/>
            <a:ext cx="11064240" cy="658368"/>
          </a:xfrm>
          <a:prstGeom prst="rect">
            <a:avLst/>
          </a:prstGeom>
          <a:noFill/>
          <a:ln/>
        </p:spPr>
        <p:txBody>
          <a:bodyPr wrap="square" rtlCol="0" anchor="ctr"/>
          <a:lstStyle/>
          <a:p>
            <a:pPr algn="l" indent="0" marL="0">
              <a:buNone/>
            </a:pPr>
            <a:r>
              <a:rPr lang="en-US" sz="2800" b="1" dirty="0">
                <a:solidFill>
                  <a:srgbClr val="16213A"/>
                </a:solidFill>
              </a:rPr>
              <a:t>Đạo đức và liêm chính học thuật</a:t>
            </a:r>
            <a:endParaRPr lang="en-US" sz="2800" dirty="0"/>
          </a:p>
        </p:txBody>
      </p:sp>
      <p:sp>
        <p:nvSpPr>
          <p:cNvPr id="3" name="Text 0"/>
          <p:cNvSpPr txBox="1"/>
          <p:nvPr>
            <p:ph idx="101" type="body" hasCustomPrompt="1"/>
          </p:nvPr>
        </p:nvSpPr>
        <p:spPr>
          <a:xfrm>
            <a:off x="566928" y="1042416"/>
            <a:ext cx="11064240" cy="384048"/>
          </a:xfrm>
          <a:prstGeom prst="rect">
            <a:avLst/>
          </a:prstGeom>
          <a:noFill/>
          <a:ln/>
        </p:spPr>
        <p:txBody>
          <a:bodyPr wrap="square" rtlCol="0" anchor="ctr"/>
          <a:lstStyle/>
          <a:p>
            <a:pPr algn="l" indent="0" marL="0">
              <a:buNone/>
            </a:pPr>
            <a:r>
              <a:rPr lang="en-US" sz="1400" b="1" dirty="0">
                <a:solidFill>
                  <a:srgbClr val="1C7293"/>
                </a:solidFill>
              </a:rPr>
              <a:t>Đằng sau mỗi dòng dữ liệu là một con người</a:t>
            </a:r>
            <a:endParaRPr lang="en-US" sz="1400" dirty="0"/>
          </a:p>
        </p:txBody>
      </p:sp>
      <p:sp>
        <p:nvSpPr>
          <p:cNvPr id="4" name="c79"/>
          <p:cNvSpPr/>
          <p:nvPr/>
        </p:nvSpPr>
        <p:spPr>
          <a:xfrm>
            <a:off x="566928" y="1627632"/>
            <a:ext cx="5394960" cy="4206240"/>
          </a:xfrm>
          <a:prstGeom prst="roundRect">
            <a:avLst>
              <a:gd name="adj" fmla="val 2174"/>
            </a:avLst>
          </a:prstGeom>
          <a:solidFill>
            <a:srgbClr val="EEF3F7"/>
          </a:solidFill>
          <a:ln/>
        </p:spPr>
      </p:sp>
      <p:sp>
        <p:nvSpPr>
          <p:cNvPr id="5" name="Text 3"/>
          <p:cNvSpPr txBox="1"/>
          <p:nvPr/>
        </p:nvSpPr>
        <p:spPr>
          <a:xfrm>
            <a:off x="841248" y="1810512"/>
            <a:ext cx="4846320" cy="274320"/>
          </a:xfrm>
          <a:prstGeom prst="rect">
            <a:avLst/>
          </a:prstGeom>
          <a:noFill/>
          <a:ln/>
        </p:spPr>
        <p:txBody>
          <a:bodyPr wrap="square" lIns="0" tIns="0" rIns="0" bIns="0" rtlCol="0" anchor="ctr"/>
          <a:lstStyle/>
          <a:p>
            <a:pPr indent="0" marL="0">
              <a:buNone/>
            </a:pPr>
            <a:r>
              <a:rPr lang="en-US" sz="1150" b="1" spc="200" kern="0" dirty="0">
                <a:solidFill>
                  <a:srgbClr val="D03B3B"/>
                </a:solidFill>
              </a:rPr>
              <a:t>VỚI DỮ LIỆU TÂM LÝ</a:t>
            </a:r>
            <a:endParaRPr lang="en-US" sz="1150" dirty="0"/>
          </a:p>
        </p:txBody>
      </p:sp>
      <p:sp>
        <p:nvSpPr>
          <p:cNvPr id="6" name="Text 4"/>
          <p:cNvSpPr txBox="1"/>
          <p:nvPr/>
        </p:nvSpPr>
        <p:spPr>
          <a:xfrm>
            <a:off x="841248" y="2194560"/>
            <a:ext cx="4846320" cy="3474720"/>
          </a:xfrm>
          <a:prstGeom prst="rect">
            <a:avLst/>
          </a:prstGeom>
          <a:noFill/>
          <a:ln/>
        </p:spPr>
        <p:txBody>
          <a:bodyPr wrap="square" lIns="0" tIns="0" rIns="0" bIns="0" rtlCol="0" anchor="ctr"/>
          <a:lstStyle/>
          <a:p>
            <a:pPr marL="342900" indent="-342900">
              <a:lnSpc>
                <a:spcPts val="1500"/>
              </a:lnSpc>
              <a:spcAft>
                <a:spcPts val="1100"/>
              </a:spcAft>
              <a:buSzPct val="100000"/>
              <a:buChar char="▪"/>
            </a:pPr>
            <a:r>
              <a:rPr lang="en-US" sz="1250" dirty="0">
                <a:solidFill>
                  <a:srgbClr val="16213A"/>
                </a:solidFill>
              </a:rPr>
              <a:t>Không bao giờ coi kết quả sàng lọc là chẩn đoán</a:t>
            </a:r>
            <a:endParaRPr lang="en-US" sz="1250" dirty="0"/>
          </a:p>
          <a:p>
            <a:pPr marL="342900" indent="-342900">
              <a:lnSpc>
                <a:spcPts val="1500"/>
              </a:lnSpc>
              <a:spcAft>
                <a:spcPts val="1100"/>
              </a:spcAft>
              <a:buSzPct val="100000"/>
              <a:buChar char="▪"/>
            </a:pPr>
            <a:r>
              <a:rPr lang="en-US" sz="1250" dirty="0">
                <a:solidFill>
                  <a:srgbClr val="16213A"/>
                </a:solidFill>
              </a:rPr>
              <a:t>Không nêu danh tính — ghép nhiều biến vẫn có thể truy ra cá nhân</a:t>
            </a:r>
            <a:endParaRPr lang="en-US" sz="1250" dirty="0"/>
          </a:p>
          <a:p>
            <a:pPr marL="342900" indent="-342900">
              <a:lnSpc>
                <a:spcPts val="1500"/>
              </a:lnSpc>
              <a:spcAft>
                <a:spcPts val="1100"/>
              </a:spcAft>
              <a:buSzPct val="100000"/>
              <a:buChar char="▪"/>
            </a:pPr>
            <a:r>
              <a:rPr lang="en-US" sz="1250" dirty="0">
                <a:solidFill>
                  <a:srgbClr val="16213A"/>
                </a:solidFill>
              </a:rPr>
              <a:t>Báo cáo về ý định tự tử một cách điềm tĩnh, không giật gân</a:t>
            </a:r>
            <a:endParaRPr lang="en-US" sz="1250" dirty="0"/>
          </a:p>
          <a:p>
            <a:pPr marL="342900" indent="-342900">
              <a:lnSpc>
                <a:spcPts val="1500"/>
              </a:lnSpc>
              <a:spcAft>
                <a:spcPts val="1100"/>
              </a:spcAft>
              <a:buSzPct val="100000"/>
              <a:buChar char="▪"/>
            </a:pPr>
            <a:r>
              <a:rPr lang="en-US" sz="1250" dirty="0">
                <a:solidFill>
                  <a:srgbClr val="16213A"/>
                </a:solidFill>
              </a:rPr>
              <a:t>Phân tích nhóm không áp dụng được cho một người cụ thể</a:t>
            </a:r>
            <a:endParaRPr lang="en-US" sz="1250" dirty="0"/>
          </a:p>
          <a:p>
            <a:pPr marL="342900" indent="-342900">
              <a:lnSpc>
                <a:spcPts val="1500"/>
              </a:lnSpc>
              <a:spcAft>
                <a:spcPts val="1100"/>
              </a:spcAft>
              <a:buSzPct val="100000"/>
              <a:buChar char="▪"/>
            </a:pPr>
            <a:r>
              <a:rPr lang="en-US" sz="1250" dirty="0">
                <a:solidFill>
                  <a:srgbClr val="16213A"/>
                </a:solidFill>
              </a:rPr>
              <a:t>Gặp trường hợp nguy cấp thì chuyển ngay cho chuyên gia</a:t>
            </a:r>
            <a:endParaRPr lang="en-US" sz="1250" dirty="0"/>
          </a:p>
        </p:txBody>
      </p:sp>
      <p:sp>
        <p:nvSpPr>
          <p:cNvPr id="7" name="c80"/>
          <p:cNvSpPr/>
          <p:nvPr/>
        </p:nvSpPr>
        <p:spPr>
          <a:xfrm>
            <a:off x="6236208" y="1627632"/>
            <a:ext cx="5376672" cy="4206240"/>
          </a:xfrm>
          <a:prstGeom prst="roundRect">
            <a:avLst>
              <a:gd name="adj" fmla="val 2174"/>
            </a:avLst>
          </a:prstGeom>
          <a:solidFill>
            <a:srgbClr val="EEF3F7"/>
          </a:solidFill>
          <a:ln/>
        </p:spPr>
      </p:sp>
      <p:sp>
        <p:nvSpPr>
          <p:cNvPr id="8" name="Text 6"/>
          <p:cNvSpPr txBox="1"/>
          <p:nvPr/>
        </p:nvSpPr>
        <p:spPr>
          <a:xfrm>
            <a:off x="6510528" y="1810512"/>
            <a:ext cx="4846320" cy="274320"/>
          </a:xfrm>
          <a:prstGeom prst="rect">
            <a:avLst/>
          </a:prstGeom>
          <a:noFill/>
          <a:ln/>
        </p:spPr>
        <p:txBody>
          <a:bodyPr wrap="square" lIns="0" tIns="0" rIns="0" bIns="0" rtlCol="0" anchor="ctr"/>
          <a:lstStyle/>
          <a:p>
            <a:pPr indent="0" marL="0">
              <a:buNone/>
            </a:pPr>
            <a:r>
              <a:rPr lang="en-US" sz="1150" b="1" spc="200" kern="0" dirty="0">
                <a:solidFill>
                  <a:srgbClr val="1C7293"/>
                </a:solidFill>
              </a:rPr>
              <a:t>KHI DÙNG AI</a:t>
            </a:r>
            <a:endParaRPr lang="en-US" sz="1150" dirty="0"/>
          </a:p>
        </p:txBody>
      </p:sp>
      <p:sp>
        <p:nvSpPr>
          <p:cNvPr id="9" name="z0"/>
          <p:cNvSpPr/>
          <p:nvPr/>
        </p:nvSpPr>
        <p:spPr>
          <a:xfrm>
            <a:off x="6510528" y="2276856"/>
            <a:ext cx="182880" cy="182880"/>
          </a:xfrm>
          <a:prstGeom prst="ellipse">
            <a:avLst/>
          </a:prstGeom>
          <a:solidFill>
            <a:srgbClr val="1BAF7A"/>
          </a:solidFill>
          <a:ln/>
        </p:spPr>
      </p:sp>
      <p:sp>
        <p:nvSpPr>
          <p:cNvPr id="10" name="Text 8"/>
          <p:cNvSpPr txBox="1"/>
          <p:nvPr/>
        </p:nvSpPr>
        <p:spPr>
          <a:xfrm>
            <a:off x="6803136" y="2212848"/>
            <a:ext cx="4480560" cy="274320"/>
          </a:xfrm>
          <a:prstGeom prst="rect">
            <a:avLst/>
          </a:prstGeom>
          <a:noFill/>
          <a:ln/>
        </p:spPr>
        <p:txBody>
          <a:bodyPr wrap="square" lIns="0" tIns="0" rIns="0" bIns="0" rtlCol="0" anchor="ctr"/>
          <a:lstStyle/>
          <a:p>
            <a:pPr indent="0" marL="0">
              <a:buNone/>
            </a:pPr>
            <a:r>
              <a:rPr lang="en-US" sz="1300" b="1" dirty="0">
                <a:solidFill>
                  <a:srgbClr val="16213A"/>
                </a:solidFill>
              </a:rPr>
              <a:t>Được khuyến khích</a:t>
            </a:r>
            <a:endParaRPr lang="en-US" sz="1300" dirty="0"/>
          </a:p>
        </p:txBody>
      </p:sp>
      <p:sp>
        <p:nvSpPr>
          <p:cNvPr id="11" name="Text 9"/>
          <p:cNvSpPr txBox="1"/>
          <p:nvPr/>
        </p:nvSpPr>
        <p:spPr>
          <a:xfrm>
            <a:off x="6803136" y="2505456"/>
            <a:ext cx="4572000" cy="768096"/>
          </a:xfrm>
          <a:prstGeom prst="rect">
            <a:avLst/>
          </a:prstGeom>
          <a:noFill/>
          <a:ln/>
        </p:spPr>
        <p:txBody>
          <a:bodyPr wrap="square" lIns="0" tIns="0" rIns="0" bIns="0" rtlCol="0" anchor="ctr"/>
          <a:lstStyle/>
          <a:p>
            <a:pPr indent="0" marL="0">
              <a:lnSpc>
                <a:spcPts val="1350"/>
              </a:lnSpc>
              <a:buNone/>
            </a:pPr>
            <a:r>
              <a:rPr lang="en-US" sz="1150" dirty="0">
                <a:solidFill>
                  <a:srgbClr val="6D7A8C"/>
                </a:solidFill>
              </a:rPr>
              <a:t>Khám phá dữ liệu, sinh mã, gợi ý hướng, soát lỗi diễn đạt — nêu rõ trong báo cáo.</a:t>
            </a:r>
            <a:endParaRPr lang="en-US" sz="1150" dirty="0"/>
          </a:p>
        </p:txBody>
      </p:sp>
      <p:sp>
        <p:nvSpPr>
          <p:cNvPr id="12" name="z1"/>
          <p:cNvSpPr/>
          <p:nvPr/>
        </p:nvSpPr>
        <p:spPr>
          <a:xfrm>
            <a:off x="6510528" y="3465576"/>
            <a:ext cx="182880" cy="182880"/>
          </a:xfrm>
          <a:prstGeom prst="ellipse">
            <a:avLst/>
          </a:prstGeom>
          <a:solidFill>
            <a:srgbClr val="EDA100"/>
          </a:solidFill>
          <a:ln/>
        </p:spPr>
      </p:sp>
      <p:sp>
        <p:nvSpPr>
          <p:cNvPr id="13" name="Text 11"/>
          <p:cNvSpPr txBox="1"/>
          <p:nvPr/>
        </p:nvSpPr>
        <p:spPr>
          <a:xfrm>
            <a:off x="6803136" y="3401568"/>
            <a:ext cx="4480560" cy="274320"/>
          </a:xfrm>
          <a:prstGeom prst="rect">
            <a:avLst/>
          </a:prstGeom>
          <a:noFill/>
          <a:ln/>
        </p:spPr>
        <p:txBody>
          <a:bodyPr wrap="square" lIns="0" tIns="0" rIns="0" bIns="0" rtlCol="0" anchor="ctr"/>
          <a:lstStyle/>
          <a:p>
            <a:pPr indent="0" marL="0">
              <a:buNone/>
            </a:pPr>
            <a:r>
              <a:rPr lang="en-US" sz="1300" b="1" dirty="0">
                <a:solidFill>
                  <a:srgbClr val="16213A"/>
                </a:solidFill>
              </a:rPr>
              <a:t>Phải thận trọng</a:t>
            </a:r>
            <a:endParaRPr lang="en-US" sz="1300" dirty="0"/>
          </a:p>
        </p:txBody>
      </p:sp>
      <p:sp>
        <p:nvSpPr>
          <p:cNvPr id="14" name="Text 12"/>
          <p:cNvSpPr txBox="1"/>
          <p:nvPr/>
        </p:nvSpPr>
        <p:spPr>
          <a:xfrm>
            <a:off x="6803136" y="3694176"/>
            <a:ext cx="4572000" cy="768096"/>
          </a:xfrm>
          <a:prstGeom prst="rect">
            <a:avLst/>
          </a:prstGeom>
          <a:noFill/>
          <a:ln/>
        </p:spPr>
        <p:txBody>
          <a:bodyPr wrap="square" lIns="0" tIns="0" rIns="0" bIns="0" rtlCol="0" anchor="ctr"/>
          <a:lstStyle/>
          <a:p>
            <a:pPr indent="0" marL="0">
              <a:lnSpc>
                <a:spcPts val="1350"/>
              </a:lnSpc>
              <a:buNone/>
            </a:pPr>
            <a:r>
              <a:rPr lang="en-US" sz="1150" dirty="0">
                <a:solidFill>
                  <a:srgbClr val="6D7A8C"/>
                </a:solidFill>
              </a:rPr>
              <a:t>Để AI viết đoạn diễn giải — phải kiểm chứng và viết lại bằng lời của mình.</a:t>
            </a:r>
            <a:endParaRPr lang="en-US" sz="1150" dirty="0"/>
          </a:p>
        </p:txBody>
      </p:sp>
      <p:sp>
        <p:nvSpPr>
          <p:cNvPr id="15" name="z2"/>
          <p:cNvSpPr/>
          <p:nvPr/>
        </p:nvSpPr>
        <p:spPr>
          <a:xfrm>
            <a:off x="6510528" y="4654296"/>
            <a:ext cx="182880" cy="182880"/>
          </a:xfrm>
          <a:prstGeom prst="ellipse">
            <a:avLst/>
          </a:prstGeom>
          <a:solidFill>
            <a:srgbClr val="D03B3B"/>
          </a:solidFill>
          <a:ln/>
        </p:spPr>
      </p:sp>
      <p:sp>
        <p:nvSpPr>
          <p:cNvPr id="16" name="Text 14"/>
          <p:cNvSpPr txBox="1"/>
          <p:nvPr/>
        </p:nvSpPr>
        <p:spPr>
          <a:xfrm>
            <a:off x="6803136" y="4590288"/>
            <a:ext cx="4480560" cy="274320"/>
          </a:xfrm>
          <a:prstGeom prst="rect">
            <a:avLst/>
          </a:prstGeom>
          <a:noFill/>
          <a:ln/>
        </p:spPr>
        <p:txBody>
          <a:bodyPr wrap="square" lIns="0" tIns="0" rIns="0" bIns="0" rtlCol="0" anchor="ctr"/>
          <a:lstStyle/>
          <a:p>
            <a:pPr indent="0" marL="0">
              <a:buNone/>
            </a:pPr>
            <a:r>
              <a:rPr lang="en-US" sz="1300" b="1" dirty="0">
                <a:solidFill>
                  <a:srgbClr val="16213A"/>
                </a:solidFill>
              </a:rPr>
              <a:t>Không chấp nhận</a:t>
            </a:r>
            <a:endParaRPr lang="en-US" sz="1300" dirty="0"/>
          </a:p>
        </p:txBody>
      </p:sp>
      <p:sp>
        <p:nvSpPr>
          <p:cNvPr id="17" name="Text 15"/>
          <p:cNvSpPr txBox="1"/>
          <p:nvPr/>
        </p:nvSpPr>
        <p:spPr>
          <a:xfrm>
            <a:off x="6803136" y="4882896"/>
            <a:ext cx="4572000" cy="768096"/>
          </a:xfrm>
          <a:prstGeom prst="rect">
            <a:avLst/>
          </a:prstGeom>
          <a:noFill/>
          <a:ln/>
        </p:spPr>
        <p:txBody>
          <a:bodyPr wrap="square" lIns="0" tIns="0" rIns="0" bIns="0" rtlCol="0" anchor="ctr"/>
          <a:lstStyle/>
          <a:p>
            <a:pPr indent="0" marL="0">
              <a:lnSpc>
                <a:spcPts val="1350"/>
              </a:lnSpc>
              <a:buNone/>
            </a:pPr>
            <a:r>
              <a:rPr lang="en-US" sz="1150" dirty="0">
                <a:solidFill>
                  <a:srgbClr val="6D7A8C"/>
                </a:solidFill>
              </a:rPr>
              <a:t>Chép nguyên bài AI viết; trích số liệu AI đưa mà chưa chạy lại.</a:t>
            </a:r>
            <a:endParaRPr lang="en-US" sz="1150" dirty="0"/>
          </a:p>
        </p:txBody>
      </p:sp>
      <p:sp>
        <p:nvSpPr>
          <p:cNvPr id="18" name="c81"/>
          <p:cNvSpPr/>
          <p:nvPr/>
        </p:nvSpPr>
        <p:spPr>
          <a:xfrm>
            <a:off x="566928" y="5998464"/>
            <a:ext cx="11064240" cy="566928"/>
          </a:xfrm>
          <a:prstGeom prst="roundRect">
            <a:avLst>
              <a:gd name="adj" fmla="val 16129"/>
            </a:avLst>
          </a:prstGeom>
          <a:solidFill>
            <a:srgbClr val="EAF7F0"/>
          </a:solidFill>
          <a:ln/>
        </p:spPr>
      </p:sp>
      <p:sp>
        <p:nvSpPr>
          <p:cNvPr id="19" name="Text 17"/>
          <p:cNvSpPr txBox="1"/>
          <p:nvPr/>
        </p:nvSpPr>
        <p:spPr>
          <a:xfrm>
            <a:off x="841248" y="6071616"/>
            <a:ext cx="10515600" cy="420624"/>
          </a:xfrm>
          <a:prstGeom prst="rect">
            <a:avLst/>
          </a:prstGeom>
          <a:noFill/>
          <a:ln/>
        </p:spPr>
        <p:txBody>
          <a:bodyPr wrap="square" lIns="0" tIns="0" rIns="0" bIns="0" rtlCol="0" anchor="ctr"/>
          <a:lstStyle/>
          <a:p>
            <a:pPr indent="0" marL="0">
              <a:buNone/>
            </a:pPr>
            <a:r>
              <a:rPr lang="en-US" sz="1250" b="1" dirty="0">
                <a:solidFill>
                  <a:srgbClr val="0E7A52"/>
                </a:solidFill>
              </a:rPr>
              <a:t>Phép thử: giảng viên chỉ vào một dòng bất kỳ và hỏi “em lấy con số này ở đâu?” — trả lời được nghĩa là bạn đã dùng AI đúng cách.</a:t>
            </a:r>
            <a:endParaRPr lang="en-US" sz="1250" dirty="0"/>
          </a:p>
        </p:txBody>
      </p:sp>
      <p:sp>
        <p:nvSpPr>
          <p:cNvPr id="25" name="Slide Number Placeholder 0"/>
          <p:cNvSpPr>
            <a:spLocks noGrp="1"/>
          </p:cNvSpPr>
          <p:nvPr>
            <p:ph type="sldNum" sz="quarter" idx="4294967295"/>
          </p:nvPr>
        </p:nvSpPr>
        <p:spPr>
          <a:xfrm>
            <a:off x="11247120" y="632764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D7A8C"/>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ph idx="100" type="body" hasCustomPrompt="1"/>
          </p:nvPr>
        </p:nvSpPr>
        <p:spPr>
          <a:xfrm>
            <a:off x="841248" y="1737360"/>
            <a:ext cx="10424160" cy="384048"/>
          </a:xfrm>
          <a:prstGeom prst="rect">
            <a:avLst/>
          </a:prstGeom>
          <a:noFill/>
          <a:ln/>
        </p:spPr>
        <p:txBody>
          <a:bodyPr wrap="square" rtlCol="0"/>
          <a:lstStyle/>
          <a:p>
            <a:pPr algn="l" indent="0" marL="0">
              <a:buNone/>
            </a:pPr>
            <a:r>
              <a:rPr lang="en-US" sz="1500" b="1" spc="300" kern="0" dirty="0">
                <a:solidFill>
                  <a:srgbClr val="8FB8D4"/>
                </a:solidFill>
              </a:rPr>
              <a:t>TỔNG KẾT KHÓA HỌC</a:t>
            </a:r>
            <a:endParaRPr lang="en-US" sz="1500" dirty="0"/>
          </a:p>
        </p:txBody>
      </p:sp>
      <p:sp>
        <p:nvSpPr>
          <p:cNvPr id="3" name="Text 0"/>
          <p:cNvSpPr txBox="1"/>
          <p:nvPr>
            <p:ph idx="101" type="title" hasCustomPrompt="1"/>
          </p:nvPr>
        </p:nvSpPr>
        <p:spPr>
          <a:xfrm>
            <a:off x="841248" y="2194560"/>
            <a:ext cx="10424160" cy="1737360"/>
          </a:xfrm>
          <a:prstGeom prst="rect">
            <a:avLst/>
          </a:prstGeom>
          <a:noFill/>
          <a:ln/>
        </p:spPr>
        <p:txBody>
          <a:bodyPr wrap="square" rtlCol="0" anchor="t"/>
          <a:lstStyle/>
          <a:p>
            <a:pPr algn="l" indent="0" marL="0">
              <a:buNone/>
            </a:pPr>
            <a:r>
              <a:rPr lang="en-US" sz="4000" b="1" dirty="0">
                <a:solidFill>
                  <a:srgbClr val="FFFFFF"/>
                </a:solidFill>
              </a:rPr>
              <a:t>AI gợi ý — bạn kiểm chứng</a:t>
            </a:r>
            <a:endParaRPr lang="en-US" sz="4000" dirty="0"/>
          </a:p>
        </p:txBody>
      </p:sp>
      <p:sp>
        <p:nvSpPr>
          <p:cNvPr id="4" name="Text 0"/>
          <p:cNvSpPr txBox="1"/>
          <p:nvPr>
            <p:ph idx="102" type="body" hasCustomPrompt="1"/>
          </p:nvPr>
        </p:nvSpPr>
        <p:spPr>
          <a:xfrm>
            <a:off x="841248" y="4069080"/>
            <a:ext cx="10424160" cy="2011680"/>
          </a:xfrm>
          <a:prstGeom prst="rect">
            <a:avLst/>
          </a:prstGeom>
          <a:noFill/>
          <a:ln/>
        </p:spPr>
        <p:txBody>
          <a:bodyPr wrap="square" rtlCol="0" anchor="t"/>
          <a:lstStyle/>
          <a:p>
            <a:pPr algn="l" indent="0" marL="0">
              <a:buNone/>
            </a:pPr>
            <a:r>
              <a:rPr lang="en-US" sz="1600" b="1" dirty="0">
                <a:solidFill>
                  <a:srgbClr val="FFFFFF"/>
                </a:solidFill>
              </a:rPr>
              <a:t>Ba điều mang về</a:t>
            </a:r>
            <a:endParaRPr lang="en-US" sz="1500" dirty="0"/>
          </a:p>
          <a:p>
            <a:pPr algn="l" indent="0" marL="0">
              <a:buNone/>
            </a:pPr>
            <a:r>
              <a:rPr lang="en-US" sz="1500" dirty="0">
                <a:solidFill>
                  <a:srgbClr val="C9DAE8"/>
                </a:solidFill>
              </a:rPr>
              <a:t>• Mọi con số trong bài phải do bạn chạy mã tạo ra, không phải do AI đọc hộ</a:t>
            </a:r>
            <a:endParaRPr lang="en-US" sz="1500" dirty="0"/>
          </a:p>
          <a:p>
            <a:pPr algn="l" indent="0" marL="0">
              <a:buNone/>
            </a:pPr>
            <a:r>
              <a:rPr lang="en-US" sz="1500" dirty="0">
                <a:solidFill>
                  <a:srgbClr val="C9DAE8"/>
                </a:solidFill>
              </a:rPr>
              <a:t>• Kết quả đẹp bất ngờ là dấu hiệu đáng ngờ, không phải đáng mừng</a:t>
            </a:r>
            <a:endParaRPr lang="en-US" sz="1500" dirty="0"/>
          </a:p>
          <a:p>
            <a:pPr algn="l" indent="0" marL="0">
              <a:buNone/>
            </a:pPr>
            <a:r>
              <a:rPr lang="en-US" sz="1500" dirty="0">
                <a:solidFill>
                  <a:srgbClr val="C9DAE8"/>
                </a:solidFill>
              </a:rPr>
              <a:t>• Nêu hạn chế làm bài mạnh lên, không yếu đi</a:t>
            </a:r>
            <a:endParaRPr lang="en-US" sz="1500" dirty="0"/>
          </a:p>
          <a:p>
            <a:pPr algn="l" indent="0" marL="0">
              <a:buNone/>
            </a:pPr>
            <a:r>
              <a:rPr lang="en-US" sz="800" dirty="0">
                <a:solidFill>
                  <a:srgbClr val="C9DAE8"/>
                </a:solidFill>
              </a:rPr>
              <a:t> </a:t>
            </a:r>
            <a:endParaRPr lang="en-US" sz="1500" dirty="0"/>
          </a:p>
          <a:p>
            <a:pPr algn="l" indent="0" marL="0">
              <a:buNone/>
            </a:pPr>
            <a:r>
              <a:rPr lang="en-US" sz="1300" dirty="0">
                <a:solidFill>
                  <a:srgbClr val="8FB8D4"/>
                </a:solidFill>
              </a:rPr>
              <a:t>Tài liệu đi kèm: giáo trình 28 trang, 6 chương, 30 bài tập phân cấp Dễ / TB / Khó</a:t>
            </a:r>
            <a:endParaRPr lang="en-US" sz="1500" dirty="0"/>
          </a:p>
        </p:txBody>
      </p:sp>
    </p:spTree>
  </p:cSld>
  <p:clrMapOvr>
    <a:masterClrMapping/>
  </p:clrMapOvr>
</p:sld>
</file>

<file path=ppt/theme/theme1.xml><?xml version="1.0" encoding="utf-8"?>
<a:theme xmlns:a="http://schemas.openxmlformats.org/drawingml/2006/main" name="Bai giang AI">
  <a:themeElements>
    <a:clrScheme name="Bai giang AI">
      <a:dk1>
        <a:srgbClr val="16213A"/>
      </a:dk1>
      <a:lt1>
        <a:srgbClr val="FFFFFF"/>
      </a:lt1>
      <a:dk2>
        <a:srgbClr val="21295C"/>
      </a:dk2>
      <a:lt2>
        <a:srgbClr val="EEF3F7"/>
      </a:lt2>
      <a:accent1>
        <a:srgbClr val="065A82"/>
      </a:accent1>
      <a:accent2>
        <a:srgbClr val="1C7293"/>
      </a:accent2>
      <a:accent3>
        <a:srgbClr val="D03B3B"/>
      </a:accent3>
      <a:accent4>
        <a:srgbClr val="1BAF7A"/>
      </a:accent4>
      <a:accent5>
        <a:srgbClr val="2A78D6"/>
      </a:accent5>
      <a:accent6>
        <a:srgbClr val="EDA100"/>
      </a:accent6>
      <a:hlink>
        <a:srgbClr val="1C7293"/>
      </a:hlink>
      <a:folHlink>
        <a:srgbClr val="6D7A8C"/>
      </a:folHlink>
    </a:clrScheme>
    <a:fontScheme name="Bai giang 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Bai giang: Ung dung AI trong phan tich du lieu</dc:title>
  <dc:subject>PptxGenJS Presentation</dc:subject>
  <dc:creator>Tai lieu giang day</dc:creator>
  <cp:lastModifiedBy>Tai lieu giang day</cp:lastModifiedBy>
  <cp:revision>1</cp:revision>
  <dcterms:created xsi:type="dcterms:W3CDTF">2026-10-10T05:32:44Z</dcterms:created>
  <dcterms:modified xsi:type="dcterms:W3CDTF">2026-10-10T05:32:44Z</dcterms:modified>
</cp:coreProperties>
</file>