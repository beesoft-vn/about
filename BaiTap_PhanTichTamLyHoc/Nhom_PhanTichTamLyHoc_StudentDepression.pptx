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5081d77-6a1e-35be-a9a5-d0e465c30208}">
          <p14:sldIdLst>
            <p14:sldId id="256"/>
            <p14:sldId id="257"/>
          </p14:sldIdLst>
        </p14:section>
        <p14:section name="Bộ dữ liệu" id="{24c1a471-2754-bbce-7406-df7803f60760}">
          <p14:sldIdLst>
            <p14:sldId id="258"/>
            <p14:sldId id="259"/>
          </p14:sldIdLst>
        </p14:section>
        <p14:section name="Tiền xử lý" id="{66124c5c-44c3-0045-f168-1b2d084a8e62}">
          <p14:sldIdLst>
            <p14:sldId id="260"/>
            <p14:sldId id="261"/>
            <p14:sldId id="262"/>
          </p14:sldIdLst>
        </p14:section>
        <p14:section name="Kết quả phân tích" id="{29213a28-9579-12f9-1075-e3d2285d30fb}">
          <p14:sldIdLst>
            <p14:sldId id="263"/>
            <p14:sldId id="264"/>
            <p14:sldId id="265"/>
            <p14:sldId id="266"/>
            <p14:sldId id="267"/>
            <p14:sldId id="268"/>
            <p14:sldId id="269"/>
            <p14:sldId id="270"/>
          </p14:sldIdLst>
        </p14:section>
        <p14:section name="Nhận định &amp; Đề xuất" id="{b8646b70-46c4-02a9-d3a6-ad7079c15ef0}">
          <p14:sldIdLst>
            <p14:sldId id="271"/>
            <p14:sldId id="272"/>
            <p14:sldId id="273"/>
            <p14:sldId id="274"/>
          </p14:sldIdLst>
        </p14:section>
        <p14:section name="Kết thúc" id="{4e1f097e-7116-9b02-7140-27ea456576f3}">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Nhóm em trình bày đề tài phân tích Student Depression Dataset — bộ dữ liệu khảo sát 27.901 sinh viên. Câu hỏi trung tâm: trong rất nhiều yếu tố học tập, tài chính và lối sống, yếu tố nào thực sự liên quan đến trầm cảm? Thời lượng trình bày khoảng 13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Em sẽ dành nhiều thời gian nhất cho phần 3 và phần 4 — tiền xử lý và kết quả phân tích — vì đây là phần thể hiện rõ nhất quá trình làm việc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lấy từ Kaggle, khảo sát 27.901 sinh viên tại Ấn Độ với 18 biến, chia thành 4 nhóm: nhân khẩu học, học tập, lối sống và tâm lý xã hội. Biến mục tiêu Depression là nhị phân. Điểm thuận lợi: gần như không có ô khuyết và không có bản ghi trùng. Tỷ lệ 58,5% – 41,5% là mất cân bằng nhẹ, tỷ lệ 1,41:1, nên nhóm không cần kỹ thuật lấy mẫu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xác định rõ vai trò của AI: AI giúp khám phá nhanh và gợi ý, nhưng mọi con số đưa vào báo cáo đều được nhóm chạy lại bằng Python để đối chiếu. Điều này quan trọng vì trợ lý AI có thể đưa ra số liệu không chính xác khi đọc tệp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tiền xử lý. Đây là phần nhóm thấy thú vị nhất, vì nhìn qua thì bộ dữ liệu rất sạch.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rà soát từng cột. Hai phát hiện quan trọng nhất: Thứ nhất, ba cột gần như hằng số — vì 99,9% người trả lời là sinh viên nên hai biến về công việc gần như toàn số 0, giữ lại chỉ làm nhiễu mô hình. Thứ hai, cột Thành phố chứa 26 giá trị là tên người và mã bằng cấp — dấu hiệu điển hình của lỗi lệch cột khi nhập liệu. Chi tiết này AI phát hiện giúp nhóm khi được yêu cầu liệt kê các giá trị hiếm.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của nhóm: không xóa bản ghi nào. Vì tỷ lệ giá trị lỗi rất thấp, chỉ khoảng 0,02% tổng số ô, nên nhóm chọn sửa giá trị sai thành khuyết rồi điền lại bằng trung vị hoặc mốt, thay vì loại bỏ cả dòng. Kết quả: giữ nguyên 27.901 bản ghi, còn 14 cột gốc cộng 5 biến mã hóa mới, tổng 19 cột, không còn ô khuyết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4 là kết quả phân tích, trình bày qua 6 biểu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biểu đồ này cho thấy quan hệ đơn điệu rất rõ. Áp lực học tập: từ mức 1 lên mức 5, tỷ lệ trầm cảm tăng từ 19,4% lên 86,1% — chênh 67 điểm phần trăm. Áp lực tài chính cũng cùng xu hướng, từ 31,9% lên 81,3%. Đáng chú ý là ngay cả nhóm áp lực tài chính thấp nhất vẫn có gần 32% có dấu hiệu trầm cảm, cho thấy còn nhiều yếu tố khác cùng tác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biểu đồ tổng hợp quan trọng nhất của phần phân tích. Ba yếu tố dẫn đầu là ý định tự tử, áp lực học tập và áp lực tài chính. Nhưng điều bất ngờ nằm ở cuối bảng: điểm CGPA gần như không liên quan, hệ số chỉ 0,022; và giới tính hoàn toàn không có khác biệt, p bằng 0,76. Hai phát hiện này đi ngược lại giả định thông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lối sống: chế độ ăn có quan hệ tăng đều, chênh lệch 25,3 điểm phần trăm giữa nhóm ăn lành mạnh và kém lành mạnh. Giấc ngủ thì khác — quan hệ không tuyến tính: nhóm ngủ dưới 5 giờ cao nhất với 64,5%, nhưng nhóm ngủ 7-8 giờ lại cao hơn nhóm ngủ 5-6 giờ. Nhóm lưu ý đây là dữ liệu tự báo cáo tại một thời điểm, nên không thể kết luận chiều nhân quả: ăn uống kém có thể là nguyên nhân, mà cũng có thể là biểu hiện của trầm cảm.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Tuổi là yếu tố bảo vệ: nhóm 18-20 tuổi có tỷ lệ 72,3%, giảm dần còn 40,9% ở nhóm từ 31 tuổi trở lên. Chênh lệch hơn 31 điểm phần trăm. Về cường độ học, nhóm học 10-12 giờ mỗi ngày có tỷ lệ 69%, so với 41,6% ở nhóm học dưới 3 giờ. Đây là phát hiện có giá trị ứng dụng trực tiếp: sinh viên năm nhất, năm hai cần được ưu tiên hỗ trợ.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nhiệt này cho thấy hai yếu tố không chỉ cộng lại mà cộng hưởng với nhau. Ở ô góc trên bên trái — áp lực thấp và không có ý định tự tử — tỷ lệ chỉ 5,5%. Ở ô góc dưới bên phải — áp lực cao nhất kèm ý định tự tử — lên tới 94,5%. Riêng ý định tự tử làm tăng tỷ lệ thêm khoảng 34 điểm ở mức áp lực 1, nhưng chỉ thêm 36 điểm ở mức áp lực 5 vì đã gần chạm trần.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phát hiện trung tâm của nhóm. Nhóm đếm số yếu tố nguy cơ mà mỗi sinh viên cùng lúc mắc phải, gồm năm yếu tố: áp lực học tập cao, áp lực tài chính cao, ngủ dưới 5 giờ, ăn uống kém và có ý định tự tử. Kết quả tạo thành một đường tăng theo liều rất đẹp: không có yếu tố nào thì chỉ 4,5%, đủ cả năm yếu tố thì 98,6% — gấp gần 22 lần. Ý nghĩa thực tiễn rất lớn: nhà trường không cần công cụ phức tạp, chỉ cần đếm số yếu tố nguy cơ là đã phân tầng được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kiểm chứng, nhóm huấn luyện hai mô hình. Hồi quy Logistic đạt AUC 0,921 và độ chính xác 84,6%, với kiểm định chéo 5-fold cho kết quả gần như y hệt, nghĩa là mô hình ổn định, không bị quá khớp. Random Forest cho thứ hạng biến tương tự. Nhóm nhấn mạnh: mục đích không phải xây công cụ chẩn đoán, mà để xác nhận các mối liên hệ tìm được là nhất quán.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cuối: nhóm rút ra nhận định và đề xuất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nhận định chính. Em muốn nhấn mạnh ba điều đi ngược trực giác. Thứ nhất, hoàn cảnh quan trọng hơn di truyền — tiền sử gia đình chỉ có hệ số 0,053, yếu hơn rất nhiều so với áp lực học tập và tài chính. Thứ hai, học giỏi không bảo vệ sức khỏe tâm lý. Thứ ba, không có khác biệt giới tính trong bộ dữ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các phát hiện, nhóm đề xuất sáu ứng dụng. Đề xuất số 1 là quan trọng nhất và cũng dễ làm nhất: xây một bộ sàng lọc chỉ 5 câu hỏi, đếm số yếu tố nguy cơ để phân tầng sinh viên. Dựa trên dữ liệu, nhóm từ 4 yếu tố trở lên có tỷ lệ trên 94%, rõ ràng cần ưu tiên can thiệp.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cũng muốn nói rõ về hạn chế. Quan trọng nhất: đây là dữ liệu cắt ngang nên mọi mối quan hệ đều là tương quan, không phải nhân quả. Ngoài ra nhãn trầm cảm là tự báo cáo, không phải chẩn đoán lâm sàng, và mẫu khảo sát ở Ấn Độ nên chưa thể suy rộng cho sinh viên Việt Nam. Kết luận chung: trầm cảm ở đây gắn với hoàn cảnh nhiều hơn là đặc điểm cá nhân — nghĩa là nhà trường thực sự có thể tác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xin hết phần trình bày. Sản phẩm nộp kèm gồm tệp dữ liệu đã xử lý, mã Python và tệp trình bày này. Nhóm xin lắng nghe câu hỏi của thầy và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0" y="0"/>
            <a:ext cx="12188952" cy="6858000"/>
          </a:xfrm>
          <a:prstGeom prst="rect">
            <a:avLst/>
          </a:prstGeom>
          <a:solidFill>
            <a:srgbClr val="16213A"/>
          </a:solidFill>
          <a:ln/>
        </p:spPr>
        <p:txBody>
          <a:bodyPr wrap="square" rtlCol="0" anchor="ctr"/>
          <a:lstStyle/>
          <a:p>
            <a:pPr indent="0" marL="0">
              <a:buNone/>
            </a:pPr>
            <a:endParaRPr lang="en-US" dirty="0"/>
          </a:p>
        </p:txBody>
      </p:sp>
      <p:sp>
        <p:nvSpPr>
          <p:cNvPr id="3" name="Text 1"/>
          <p:cNvSpPr txBox="1"/>
          <p:nvPr>
            <p:ph idx="101" type="body" hasCustomPrompt="1"/>
          </p:nvPr>
        </p:nvSpPr>
        <p:spPr>
          <a:xfrm>
            <a:off x="841248" y="1325880"/>
            <a:ext cx="10424160" cy="384048"/>
          </a:xfrm>
          <a:prstGeom prst="rect">
            <a:avLst/>
          </a:prstGeom>
          <a:noFill/>
          <a:ln/>
        </p:spPr>
        <p:txBody>
          <a:bodyPr wrap="square" rtlCol="0"/>
          <a:lstStyle>
            <a:lvl1pPr indent="0" marL="0">
              <a:buNone/>
              <a:defRPr lang="en-US" sz="1500" b="1" spc="300" kern="0" dirty="0">
                <a:solidFill>
                  <a:srgbClr val="8FB8D4"/>
                </a:solidFill>
              </a:defRPr>
            </a:lvl1pPr>
          </a:lstStyle>
          <a:p>
            <a:pPr indent="0" marL="0">
              <a:buNone/>
            </a:pPr>
            <a:r>
              <a:rPr lang="en-US" sz="1500" b="1" spc="300" kern="0" dirty="0">
                <a:solidFill>
                  <a:srgbClr val="8FB8D4"/>
                </a:solidFill>
              </a:rPr>
              <a:t> </a:t>
            </a:r>
            <a:endParaRPr lang="en-US" sz="1500" dirty="0"/>
          </a:p>
        </p:txBody>
      </p:sp>
      <p:sp>
        <p:nvSpPr>
          <p:cNvPr id="4" name="Text 1"/>
          <p:cNvSpPr txBox="1"/>
          <p:nvPr>
            <p:ph idx="102" type="title" hasCustomPrompt="1"/>
          </p:nvPr>
        </p:nvSpPr>
        <p:spPr>
          <a:xfrm>
            <a:off x="841248" y="1783080"/>
            <a:ext cx="10424160" cy="1783080"/>
          </a:xfrm>
          <a:prstGeom prst="rect">
            <a:avLst/>
          </a:prstGeom>
          <a:noFill/>
          <a:ln/>
        </p:spPr>
        <p:txBody>
          <a:bodyPr wrap="square" rtlCol="0"/>
          <a:lstStyle>
            <a:lvl1pPr algn="l" indent="0" marL="0">
              <a:buNone/>
              <a:defRPr lang="en-US" sz="4200" b="1" dirty="0">
                <a:solidFill>
                  <a:srgbClr val="FFFFFF"/>
                </a:solidFill>
              </a:defRPr>
            </a:lvl1pPr>
          </a:lstStyle>
          <a:p>
            <a:pPr algn="l" indent="0" marL="0">
              <a:buNone/>
            </a:pPr>
            <a:r>
              <a:rPr lang="en-US" sz="4200" b="1" dirty="0">
                <a:solidFill>
                  <a:srgbClr val="FFFFFF"/>
                </a:solidFill>
              </a:rPr>
              <a:t> </a:t>
            </a:r>
            <a:endParaRPr lang="en-US" sz="4200" dirty="0"/>
          </a:p>
        </p:txBody>
      </p:sp>
      <p:sp>
        <p:nvSpPr>
          <p:cNvPr id="5" name="Text 1"/>
          <p:cNvSpPr txBox="1"/>
          <p:nvPr>
            <p:ph idx="103" type="body" hasCustomPrompt="1"/>
          </p:nvPr>
        </p:nvSpPr>
        <p:spPr>
          <a:xfrm>
            <a:off x="841248" y="3703320"/>
            <a:ext cx="10424160" cy="2194560"/>
          </a:xfrm>
          <a:prstGeom prst="rect">
            <a:avLst/>
          </a:prstGeom>
          <a:noFill/>
          <a:ln/>
        </p:spPr>
        <p:txBody>
          <a:bodyPr wrap="square" rtlCol="0"/>
          <a:lstStyle>
            <a:lvl1pPr indent="0" marL="0">
              <a:buNone/>
              <a:defRPr lang="en-US" sz="1500" dirty="0">
                <a:solidFill>
                  <a:srgbClr val="C9DAE8"/>
                </a:solidFill>
              </a:defRPr>
            </a:lvl1pPr>
          </a:lstStyle>
          <a:p>
            <a:pPr indent="0" marL="0">
              <a:buNone/>
            </a:pPr>
            <a:r>
              <a:rPr lang="en-US" sz="1500" dirty="0">
                <a:solidFill>
                  <a:srgbClr val="C9DAE8"/>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65A82"/>
        </a:solidFill>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14600"/>
            <a:ext cx="10424160" cy="411480"/>
          </a:xfrm>
          <a:prstGeom prst="rect">
            <a:avLst/>
          </a:prstGeom>
          <a:noFill/>
          <a:ln/>
        </p:spPr>
        <p:txBody>
          <a:bodyPr wrap="square" rtlCol="0"/>
          <a:lstStyle>
            <a:lvl1pPr indent="0" marL="0">
              <a:buNone/>
              <a:defRPr lang="en-US" sz="1600" b="1" spc="300" kern="0" dirty="0">
                <a:solidFill>
                  <a:srgbClr val="9FD2E8"/>
                </a:solidFill>
              </a:defRPr>
            </a:lvl1pPr>
          </a:lstStyle>
          <a:p>
            <a:pPr indent="0" marL="0">
              <a:buNone/>
            </a:pPr>
            <a:r>
              <a:rPr lang="en-US" sz="1600" b="1" spc="300" kern="0" dirty="0">
                <a:solidFill>
                  <a:srgbClr val="9FD2E8"/>
                </a:solidFill>
              </a:rPr>
              <a:t> </a:t>
            </a:r>
            <a:endParaRPr lang="en-US" sz="1600" dirty="0"/>
          </a:p>
        </p:txBody>
      </p:sp>
      <p:sp>
        <p:nvSpPr>
          <p:cNvPr id="3" name="Text 0"/>
          <p:cNvSpPr txBox="1"/>
          <p:nvPr>
            <p:ph idx="101" type="title" hasCustomPrompt="1"/>
          </p:nvPr>
        </p:nvSpPr>
        <p:spPr>
          <a:xfrm>
            <a:off x="841248" y="2971800"/>
            <a:ext cx="10424160" cy="100584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r>
              <a:rPr lang="en-US" sz="3800" b="1" dirty="0">
                <a:solidFill>
                  <a:srgbClr val="FFFFFF"/>
                </a:solidFill>
              </a:rPr>
              <a:t> </a:t>
            </a:r>
            <a:endParaRPr lang="en-US" sz="3800" dirty="0"/>
          </a:p>
        </p:txBody>
      </p:sp>
      <p:sp>
        <p:nvSpPr>
          <p:cNvPr id="4" name="Text 0"/>
          <p:cNvSpPr txBox="1"/>
          <p:nvPr>
            <p:ph idx="102" type="body" hasCustomPrompt="1"/>
          </p:nvPr>
        </p:nvSpPr>
        <p:spPr>
          <a:xfrm>
            <a:off x="841248" y="4023360"/>
            <a:ext cx="10424160" cy="822960"/>
          </a:xfrm>
          <a:prstGeom prst="rect">
            <a:avLst/>
          </a:prstGeom>
          <a:noFill/>
          <a:ln/>
        </p:spPr>
        <p:txBody>
          <a:bodyPr wrap="square" rtlCol="0"/>
          <a:lstStyle>
            <a:lvl1pPr indent="0" marL="0">
              <a:buNone/>
              <a:defRPr lang="en-US" sz="1500" dirty="0">
                <a:solidFill>
                  <a:srgbClr val="C9E4F2"/>
                </a:solidFill>
              </a:defRPr>
            </a:lvl1pPr>
          </a:lstStyle>
          <a:p>
            <a:pPr indent="0" marL="0">
              <a:buNone/>
            </a:pPr>
            <a:r>
              <a:rPr lang="en-US" sz="1500" dirty="0">
                <a:solidFill>
                  <a:srgbClr val="C9E4F2"/>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lstStyle>
            <a:lvl1pPr algn="l" indent="0" marL="0">
              <a:buNone/>
              <a:defRPr lang="en-US" sz="2900" b="1" dirty="0">
                <a:solidFill>
                  <a:srgbClr val="16213A"/>
                </a:solidFill>
              </a:defRPr>
            </a:lvl1pPr>
          </a:lstStyle>
          <a:p>
            <a:pPr algn="l" indent="0" marL="0">
              <a:buNone/>
            </a:pPr>
            <a:r>
              <a:rPr lang="en-US" sz="2900" b="1" dirty="0">
                <a:solidFill>
                  <a:srgbClr val="16213A"/>
                </a:solidFill>
              </a:rPr>
              <a:t> </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lstStyle>
            <a:lvl1pPr indent="0" marL="0">
              <a:buNone/>
              <a:defRPr lang="en-US" sz="1400" b="1" dirty="0">
                <a:solidFill>
                  <a:srgbClr val="1C7293"/>
                </a:solidFill>
              </a:defRPr>
            </a:lvl1pPr>
          </a:lstStyle>
          <a:p>
            <a:pPr indent="0" marL="0">
              <a:buNone/>
            </a:pPr>
            <a:r>
              <a:rPr lang="en-US" sz="1400" b="1" dirty="0">
                <a:solidFill>
                  <a:srgbClr val="1C7293"/>
                </a:solidFill>
              </a:rPr>
              <a:t> </a:t>
            </a:r>
            <a:endParaRPr lang="en-US" sz="1400" dirty="0"/>
          </a:p>
        </p:txBody>
      </p:sp>
      <p:sp>
        <p:nvSpPr>
          <p:cNvPr id="4" name="Text 0"/>
          <p:cNvSpPr txBox="1"/>
          <p:nvPr/>
        </p:nvSpPr>
        <p:spPr>
          <a:xfrm>
            <a:off x="566928" y="6327648"/>
            <a:ext cx="8595360" cy="292608"/>
          </a:xfrm>
          <a:prstGeom prst="rect">
            <a:avLst/>
          </a:prstGeom>
          <a:noFill/>
          <a:ln/>
        </p:spPr>
        <p:txBody>
          <a:bodyPr wrap="square" rtlCol="0" anchor="ctr"/>
          <a:lstStyle/>
          <a:p>
            <a:pPr indent="0" marL="0">
              <a:buNone/>
            </a:pPr>
            <a:r>
              <a:rPr lang="en-US" sz="1000" dirty="0">
                <a:solidFill>
                  <a:srgbClr val="6D7A8C"/>
                </a:solidFill>
              </a:rPr>
              <a:t>Phân tích dữ liệu tâm lý học sử dụng AI · Student Depression Dataset</a:t>
            </a:r>
            <a:endParaRPr lang="en-US" sz="10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
    <p:bg>
      <p:bgPr>
        <a:solidFill>
          <a:srgbClr val="FFFFFF"/>
        </a:solidFill>
      </p:bgPr>
    </p:bg>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lstStyle>
            <a:lvl1pPr algn="l" indent="0" marL="0">
              <a:buNone/>
              <a:defRPr lang="en-US" sz="2900" b="1" dirty="0">
                <a:solidFill>
                  <a:srgbClr val="16213A"/>
                </a:solidFill>
              </a:defRPr>
            </a:lvl1pPr>
          </a:lstStyle>
          <a:p>
            <a:pPr algn="l" indent="0" marL="0">
              <a:buNone/>
            </a:pPr>
            <a:r>
              <a:rPr lang="en-US" sz="2900" b="1" dirty="0">
                <a:solidFill>
                  <a:srgbClr val="16213A"/>
                </a:solidFill>
              </a:rPr>
              <a:t> </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lstStyle>
            <a:lvl1pPr indent="0" marL="0">
              <a:buNone/>
              <a:defRPr lang="en-US" sz="1400" b="1" dirty="0">
                <a:solidFill>
                  <a:srgbClr val="1C7293"/>
                </a:solidFill>
              </a:defRPr>
            </a:lvl1pPr>
          </a:lstStyle>
          <a:p>
            <a:pPr indent="0" marL="0">
              <a:buNone/>
            </a:pPr>
            <a:r>
              <a:rPr lang="en-US" sz="1400" b="1" dirty="0">
                <a:solidFill>
                  <a:srgbClr val="1C7293"/>
                </a:solidFill>
              </a:rPr>
              <a:t> </a:t>
            </a:r>
            <a:endParaRPr lang="en-US" sz="1400" dirty="0"/>
          </a:p>
        </p:txBody>
      </p:sp>
      <p:sp>
        <p:nvSpPr>
          <p:cNvPr id="4" name="Text 0"/>
          <p:cNvSpPr txBox="1"/>
          <p:nvPr/>
        </p:nvSpPr>
        <p:spPr>
          <a:xfrm>
            <a:off x="566928" y="6327648"/>
            <a:ext cx="8595360" cy="292608"/>
          </a:xfrm>
          <a:prstGeom prst="rect">
            <a:avLst/>
          </a:prstGeom>
          <a:noFill/>
          <a:ln/>
        </p:spPr>
        <p:txBody>
          <a:bodyPr wrap="square" rtlCol="0" anchor="ctr"/>
          <a:lstStyle/>
          <a:p>
            <a:pPr indent="0" marL="0">
              <a:buNone/>
            </a:pPr>
            <a:r>
              <a:rPr lang="en-US" sz="1000" dirty="0">
                <a:solidFill>
                  <a:srgbClr val="6D7A8C"/>
                </a:solidFill>
              </a:rPr>
              <a:t>Phân tích dữ liệu tâm lý học sử dụng AI · Student Depression Dataset</a:t>
            </a:r>
            <a:endParaRPr lang="en-US" sz="10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ph idx="101" type="body" hasCustomPrompt="1"/>
          </p:nvPr>
        </p:nvSpPr>
        <p:spPr>
          <a:xfrm>
            <a:off x="841248" y="1325880"/>
            <a:ext cx="10424160" cy="384048"/>
          </a:xfrm>
          <a:prstGeom prst="rect">
            <a:avLst/>
          </a:prstGeom>
          <a:noFill/>
          <a:ln/>
        </p:spPr>
        <p:txBody>
          <a:bodyPr wrap="square" rtlCol="0"/>
          <a:lstStyle/>
          <a:p>
            <a:pPr indent="0" marL="0">
              <a:buNone/>
            </a:pPr>
            <a:r>
              <a:rPr lang="en-US" sz="1500" b="1" spc="300" kern="0" dirty="0">
                <a:solidFill>
                  <a:srgbClr val="8FB8D4"/>
                </a:solidFill>
              </a:rPr>
              <a:t>PHÂN TÍCH DỮ LIỆU TÂM LÝ HỌC SỬ DỤNG AI</a:t>
            </a:r>
            <a:endParaRPr lang="en-US" sz="1500" dirty="0"/>
          </a:p>
        </p:txBody>
      </p:sp>
      <p:sp>
        <p:nvSpPr>
          <p:cNvPr id="3" name="Text 1"/>
          <p:cNvSpPr txBox="1"/>
          <p:nvPr>
            <p:ph idx="102" type="title" hasCustomPrompt="1"/>
          </p:nvPr>
        </p:nvSpPr>
        <p:spPr>
          <a:xfrm>
            <a:off x="841248" y="1783080"/>
            <a:ext cx="10424160" cy="1783080"/>
          </a:xfrm>
          <a:prstGeom prst="rect">
            <a:avLst/>
          </a:prstGeom>
          <a:noFill/>
          <a:ln/>
        </p:spPr>
        <p:txBody>
          <a:bodyPr wrap="square" rtlCol="0" anchor="t"/>
          <a:lstStyle/>
          <a:p>
            <a:pPr algn="l" indent="0" marL="0">
              <a:buNone/>
            </a:pPr>
            <a:r>
              <a:rPr lang="en-US" sz="4200" b="1" dirty="0">
                <a:solidFill>
                  <a:srgbClr val="FFFFFF"/>
                </a:solidFill>
              </a:rPr>
              <a:t>Điều gì thực sự dự báo trầm cảm ở sinh viên?</a:t>
            </a:r>
            <a:endParaRPr lang="en-US" sz="4200" dirty="0"/>
          </a:p>
        </p:txBody>
      </p:sp>
      <p:sp>
        <p:nvSpPr>
          <p:cNvPr id="4" name="Text 1"/>
          <p:cNvSpPr txBox="1"/>
          <p:nvPr>
            <p:ph idx="103" type="body" hasCustomPrompt="1"/>
          </p:nvPr>
        </p:nvSpPr>
        <p:spPr>
          <a:xfrm>
            <a:off x="841248" y="3703320"/>
            <a:ext cx="10424160" cy="2194560"/>
          </a:xfrm>
          <a:prstGeom prst="rect">
            <a:avLst/>
          </a:prstGeom>
          <a:noFill/>
          <a:ln/>
        </p:spPr>
        <p:txBody>
          <a:bodyPr wrap="square" rtlCol="0" anchor="t"/>
          <a:lstStyle/>
          <a:p>
            <a:pPr indent="0" marL="0">
              <a:buNone/>
            </a:pPr>
            <a:r>
              <a:rPr lang="en-US" sz="1600" b="1" dirty="0">
                <a:solidFill>
                  <a:srgbClr val="FFFFFF"/>
                </a:solidFill>
              </a:rPr>
              <a:t>Student Depression Dataset — 27.901 sinh viên · 18 biến khảo sát</a:t>
            </a:r>
            <a:endParaRPr lang="en-US" sz="1500" dirty="0"/>
          </a:p>
          <a:p>
            <a:pPr indent="0" marL="0">
              <a:buNone/>
            </a:pPr>
            <a:r>
              <a:rPr lang="en-US" sz="1400" dirty="0">
                <a:solidFill>
                  <a:srgbClr val="C9DAE8"/>
                </a:solidFill>
              </a:rPr>
              <a:t>Phân tích khám phá, tiền xử lý và mô hình hóa với sự hỗ trợ của AI</a:t>
            </a:r>
            <a:endParaRPr lang="en-US" sz="1500" dirty="0"/>
          </a:p>
        </p:txBody>
      </p:sp>
      <p:sp>
        <p:nvSpPr>
          <p:cNvPr id="5" name="card_1"/>
          <p:cNvSpPr/>
          <p:nvPr/>
        </p:nvSpPr>
        <p:spPr>
          <a:xfrm>
            <a:off x="841248" y="4800600"/>
            <a:ext cx="10424160" cy="1234440"/>
          </a:xfrm>
          <a:prstGeom prst="roundRect">
            <a:avLst>
              <a:gd name="adj" fmla="val 7407"/>
            </a:avLst>
          </a:prstGeom>
          <a:solidFill>
            <a:srgbClr val="1E2B4D"/>
          </a:solidFill>
          <a:ln/>
        </p:spPr>
      </p:sp>
      <p:sp>
        <p:nvSpPr>
          <p:cNvPr id="6" name="Text 4"/>
          <p:cNvSpPr txBox="1"/>
          <p:nvPr/>
        </p:nvSpPr>
        <p:spPr>
          <a:xfrm>
            <a:off x="1115568" y="4983480"/>
            <a:ext cx="2743200" cy="274320"/>
          </a:xfrm>
          <a:prstGeom prst="rect">
            <a:avLst/>
          </a:prstGeom>
          <a:noFill/>
          <a:ln/>
        </p:spPr>
        <p:txBody>
          <a:bodyPr wrap="square" lIns="0" tIns="0" rIns="0" bIns="0" rtlCol="0" anchor="ctr"/>
          <a:lstStyle/>
          <a:p>
            <a:pPr indent="0" marL="0">
              <a:buNone/>
            </a:pPr>
            <a:r>
              <a:rPr lang="en-US" sz="1100" b="1" spc="200" kern="0" dirty="0">
                <a:solidFill>
                  <a:srgbClr val="8FB8D4"/>
                </a:solidFill>
              </a:rPr>
              <a:t>NHÓM THỰC HIỆN</a:t>
            </a:r>
            <a:endParaRPr lang="en-US" sz="1100" dirty="0"/>
          </a:p>
        </p:txBody>
      </p:sp>
      <p:sp>
        <p:nvSpPr>
          <p:cNvPr id="7" name="Text 5"/>
          <p:cNvSpPr txBox="1"/>
          <p:nvPr/>
        </p:nvSpPr>
        <p:spPr>
          <a:xfrm>
            <a:off x="1115568" y="5285232"/>
            <a:ext cx="9875520" cy="658368"/>
          </a:xfrm>
          <a:prstGeom prst="rect">
            <a:avLst/>
          </a:prstGeom>
          <a:noFill/>
          <a:ln/>
        </p:spPr>
        <p:txBody>
          <a:bodyPr wrap="square" lIns="0" tIns="0" rIns="0" bIns="0" rtlCol="0" anchor="ctr"/>
          <a:lstStyle/>
          <a:p>
            <a:pPr indent="0" marL="0">
              <a:lnSpc>
                <a:spcPts val="1900"/>
              </a:lnSpc>
              <a:buNone/>
            </a:pPr>
            <a:r>
              <a:rPr lang="en-US" sz="1300" b="1" dirty="0">
                <a:solidFill>
                  <a:srgbClr val="FFFFFF"/>
                </a:solidFill>
              </a:rPr>
              <a:t>Nhóm …  ·  Lớp …  ·  Giảng viên hướng dẫn: …</a:t>
            </a:r>
            <a:endParaRPr lang="en-US" sz="1300" dirty="0"/>
          </a:p>
          <a:p>
            <a:pPr indent="0" marL="0">
              <a:lnSpc>
                <a:spcPts val="1900"/>
              </a:lnSpc>
              <a:buNone/>
            </a:pPr>
            <a:r>
              <a:rPr lang="en-US" sz="1300" dirty="0">
                <a:solidFill>
                  <a:srgbClr val="C9DAE8"/>
                </a:solidFill>
              </a:rPr>
              <a:t>Thành viên: Họ tên 1 · Họ tên 2 · Họ tên 3 · Họ tên 4 · Họ tên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Nội dung trình bày</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5 phần · khoảng 13 phút</a:t>
            </a:r>
            <a:endParaRPr lang="en-US" sz="1400" dirty="0"/>
          </a:p>
        </p:txBody>
      </p:sp>
      <p:sp>
        <p:nvSpPr>
          <p:cNvPr id="4" name="card_2"/>
          <p:cNvSpPr/>
          <p:nvPr/>
        </p:nvSpPr>
        <p:spPr>
          <a:xfrm>
            <a:off x="566928" y="1627632"/>
            <a:ext cx="11064240" cy="786384"/>
          </a:xfrm>
          <a:prstGeom prst="roundRect">
            <a:avLst>
              <a:gd name="adj" fmla="val 11628"/>
            </a:avLst>
          </a:prstGeom>
          <a:solidFill>
            <a:srgbClr val="EEF3F7"/>
          </a:solidFill>
          <a:ln/>
        </p:spPr>
      </p:sp>
      <p:sp>
        <p:nvSpPr>
          <p:cNvPr id="5" name="dot_1"/>
          <p:cNvSpPr/>
          <p:nvPr/>
        </p:nvSpPr>
        <p:spPr>
          <a:xfrm>
            <a:off x="841248" y="1801368"/>
            <a:ext cx="438912" cy="438912"/>
          </a:xfrm>
          <a:prstGeom prst="ellipse">
            <a:avLst/>
          </a:prstGeom>
          <a:solidFill>
            <a:srgbClr val="065A82"/>
          </a:solidFill>
          <a:ln/>
        </p:spPr>
      </p:sp>
      <p:sp>
        <p:nvSpPr>
          <p:cNvPr id="6" name="Text 4"/>
          <p:cNvSpPr txBox="1"/>
          <p:nvPr/>
        </p:nvSpPr>
        <p:spPr>
          <a:xfrm>
            <a:off x="841248" y="1801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463040" y="1719072"/>
            <a:ext cx="3931920" cy="310896"/>
          </a:xfrm>
          <a:prstGeom prst="rect">
            <a:avLst/>
          </a:prstGeom>
          <a:noFill/>
          <a:ln/>
        </p:spPr>
        <p:txBody>
          <a:bodyPr wrap="square" lIns="0" tIns="0" rIns="0" bIns="0" rtlCol="0" anchor="ctr"/>
          <a:lstStyle/>
          <a:p>
            <a:pPr indent="0" marL="0">
              <a:buNone/>
            </a:pPr>
            <a:r>
              <a:rPr lang="en-US" sz="1600" b="1" dirty="0">
                <a:solidFill>
                  <a:srgbClr val="16213A"/>
                </a:solidFill>
              </a:rPr>
              <a:t>Giới thiệu bộ dữ liệu</a:t>
            </a:r>
            <a:endParaRPr lang="en-US" sz="1600" dirty="0"/>
          </a:p>
        </p:txBody>
      </p:sp>
      <p:sp>
        <p:nvSpPr>
          <p:cNvPr id="8" name="Text 6"/>
          <p:cNvSpPr txBox="1"/>
          <p:nvPr/>
        </p:nvSpPr>
        <p:spPr>
          <a:xfrm>
            <a:off x="1463040" y="2039112"/>
            <a:ext cx="9692640" cy="292608"/>
          </a:xfrm>
          <a:prstGeom prst="rect">
            <a:avLst/>
          </a:prstGeom>
          <a:noFill/>
          <a:ln/>
        </p:spPr>
        <p:txBody>
          <a:bodyPr wrap="square" lIns="0" tIns="0" rIns="0" bIns="0" rtlCol="0" anchor="ctr"/>
          <a:lstStyle/>
          <a:p>
            <a:pPr indent="0" marL="0">
              <a:buNone/>
            </a:pPr>
            <a:r>
              <a:rPr lang="en-US" sz="1250" dirty="0">
                <a:solidFill>
                  <a:srgbClr val="6D7A8C"/>
                </a:solidFill>
              </a:rPr>
              <a:t>Nguồn, quy mô, cấu trúc 18 biến và biến mục tiêu</a:t>
            </a:r>
            <a:endParaRPr lang="en-US" sz="1250" dirty="0"/>
          </a:p>
        </p:txBody>
      </p:sp>
      <p:sp>
        <p:nvSpPr>
          <p:cNvPr id="9" name="card_3"/>
          <p:cNvSpPr/>
          <p:nvPr/>
        </p:nvSpPr>
        <p:spPr>
          <a:xfrm>
            <a:off x="566928" y="2560320"/>
            <a:ext cx="11064240" cy="786384"/>
          </a:xfrm>
          <a:prstGeom prst="roundRect">
            <a:avLst>
              <a:gd name="adj" fmla="val 11628"/>
            </a:avLst>
          </a:prstGeom>
          <a:solidFill>
            <a:srgbClr val="EEF3F7"/>
          </a:solidFill>
          <a:ln/>
        </p:spPr>
      </p:sp>
      <p:sp>
        <p:nvSpPr>
          <p:cNvPr id="10" name="dot_2"/>
          <p:cNvSpPr/>
          <p:nvPr/>
        </p:nvSpPr>
        <p:spPr>
          <a:xfrm>
            <a:off x="841248" y="2734056"/>
            <a:ext cx="438912" cy="438912"/>
          </a:xfrm>
          <a:prstGeom prst="ellipse">
            <a:avLst/>
          </a:prstGeom>
          <a:solidFill>
            <a:srgbClr val="1C7293"/>
          </a:solidFill>
          <a:ln/>
        </p:spPr>
      </p:sp>
      <p:sp>
        <p:nvSpPr>
          <p:cNvPr id="11" name="Text 9"/>
          <p:cNvSpPr txBox="1"/>
          <p:nvPr/>
        </p:nvSpPr>
        <p:spPr>
          <a:xfrm>
            <a:off x="841248" y="27340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1463040" y="2651760"/>
            <a:ext cx="3931920" cy="310896"/>
          </a:xfrm>
          <a:prstGeom prst="rect">
            <a:avLst/>
          </a:prstGeom>
          <a:noFill/>
          <a:ln/>
        </p:spPr>
        <p:txBody>
          <a:bodyPr wrap="square" lIns="0" tIns="0" rIns="0" bIns="0" rtlCol="0" anchor="ctr"/>
          <a:lstStyle/>
          <a:p>
            <a:pPr indent="0" marL="0">
              <a:buNone/>
            </a:pPr>
            <a:r>
              <a:rPr lang="en-US" sz="1600" b="1" dirty="0">
                <a:solidFill>
                  <a:srgbClr val="16213A"/>
                </a:solidFill>
              </a:rPr>
              <a:t>Công cụ AI &amp; quy trình</a:t>
            </a:r>
            <a:endParaRPr lang="en-US" sz="1600" dirty="0"/>
          </a:p>
        </p:txBody>
      </p:sp>
      <p:sp>
        <p:nvSpPr>
          <p:cNvPr id="13" name="Text 11"/>
          <p:cNvSpPr txBox="1"/>
          <p:nvPr/>
        </p:nvSpPr>
        <p:spPr>
          <a:xfrm>
            <a:off x="1463040" y="2971800"/>
            <a:ext cx="9692640" cy="292608"/>
          </a:xfrm>
          <a:prstGeom prst="rect">
            <a:avLst/>
          </a:prstGeom>
          <a:noFill/>
          <a:ln/>
        </p:spPr>
        <p:txBody>
          <a:bodyPr wrap="square" lIns="0" tIns="0" rIns="0" bIns="0" rtlCol="0" anchor="ctr"/>
          <a:lstStyle/>
          <a:p>
            <a:pPr indent="0" marL="0">
              <a:buNone/>
            </a:pPr>
            <a:r>
              <a:rPr lang="en-US" sz="1250" dirty="0">
                <a:solidFill>
                  <a:srgbClr val="6D7A8C"/>
                </a:solidFill>
              </a:rPr>
              <a:t>Cách nhóm dùng AI trong từng bước phân tích</a:t>
            </a:r>
            <a:endParaRPr lang="en-US" sz="1250" dirty="0"/>
          </a:p>
        </p:txBody>
      </p:sp>
      <p:sp>
        <p:nvSpPr>
          <p:cNvPr id="14" name="card_4"/>
          <p:cNvSpPr/>
          <p:nvPr/>
        </p:nvSpPr>
        <p:spPr>
          <a:xfrm>
            <a:off x="566928" y="3493008"/>
            <a:ext cx="11064240" cy="786384"/>
          </a:xfrm>
          <a:prstGeom prst="roundRect">
            <a:avLst>
              <a:gd name="adj" fmla="val 11628"/>
            </a:avLst>
          </a:prstGeom>
          <a:solidFill>
            <a:srgbClr val="EEF3F7"/>
          </a:solidFill>
          <a:ln/>
        </p:spPr>
      </p:sp>
      <p:sp>
        <p:nvSpPr>
          <p:cNvPr id="15" name="dot_3"/>
          <p:cNvSpPr/>
          <p:nvPr/>
        </p:nvSpPr>
        <p:spPr>
          <a:xfrm>
            <a:off x="841248" y="3666744"/>
            <a:ext cx="438912" cy="438912"/>
          </a:xfrm>
          <a:prstGeom prst="ellipse">
            <a:avLst/>
          </a:prstGeom>
          <a:solidFill>
            <a:srgbClr val="EDA100"/>
          </a:solidFill>
          <a:ln/>
        </p:spPr>
      </p:sp>
      <p:sp>
        <p:nvSpPr>
          <p:cNvPr id="16" name="Text 14"/>
          <p:cNvSpPr txBox="1"/>
          <p:nvPr/>
        </p:nvSpPr>
        <p:spPr>
          <a:xfrm>
            <a:off x="841248" y="36667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463040" y="3584448"/>
            <a:ext cx="3931920" cy="310896"/>
          </a:xfrm>
          <a:prstGeom prst="rect">
            <a:avLst/>
          </a:prstGeom>
          <a:noFill/>
          <a:ln/>
        </p:spPr>
        <p:txBody>
          <a:bodyPr wrap="square" lIns="0" tIns="0" rIns="0" bIns="0" rtlCol="0" anchor="ctr"/>
          <a:lstStyle/>
          <a:p>
            <a:pPr indent="0" marL="0">
              <a:buNone/>
            </a:pPr>
            <a:r>
              <a:rPr lang="en-US" sz="1600" b="1" dirty="0">
                <a:solidFill>
                  <a:srgbClr val="16213A"/>
                </a:solidFill>
              </a:rPr>
              <a:t>Tiền xử lý dữ liệu</a:t>
            </a:r>
            <a:endParaRPr lang="en-US" sz="1600" dirty="0"/>
          </a:p>
        </p:txBody>
      </p:sp>
      <p:sp>
        <p:nvSpPr>
          <p:cNvPr id="18" name="Text 16"/>
          <p:cNvSpPr txBox="1"/>
          <p:nvPr/>
        </p:nvSpPr>
        <p:spPr>
          <a:xfrm>
            <a:off x="1463040" y="3904488"/>
            <a:ext cx="9692640" cy="292608"/>
          </a:xfrm>
          <a:prstGeom prst="rect">
            <a:avLst/>
          </a:prstGeom>
          <a:noFill/>
          <a:ln/>
        </p:spPr>
        <p:txBody>
          <a:bodyPr wrap="square" lIns="0" tIns="0" rIns="0" bIns="0" rtlCol="0" anchor="ctr"/>
          <a:lstStyle/>
          <a:p>
            <a:pPr indent="0" marL="0">
              <a:buNone/>
            </a:pPr>
            <a:r>
              <a:rPr lang="en-US" sz="1250" dirty="0">
                <a:solidFill>
                  <a:srgbClr val="6D7A8C"/>
                </a:solidFill>
              </a:rPr>
              <a:t>7 vấn đề chất lượng phát hiện được và cách khắc phục</a:t>
            </a:r>
            <a:endParaRPr lang="en-US" sz="1250" dirty="0"/>
          </a:p>
        </p:txBody>
      </p:sp>
      <p:sp>
        <p:nvSpPr>
          <p:cNvPr id="19" name="card_5"/>
          <p:cNvSpPr/>
          <p:nvPr/>
        </p:nvSpPr>
        <p:spPr>
          <a:xfrm>
            <a:off x="566928" y="4425696"/>
            <a:ext cx="11064240" cy="786384"/>
          </a:xfrm>
          <a:prstGeom prst="roundRect">
            <a:avLst>
              <a:gd name="adj" fmla="val 11628"/>
            </a:avLst>
          </a:prstGeom>
          <a:solidFill>
            <a:srgbClr val="EEF3F7"/>
          </a:solidFill>
          <a:ln/>
        </p:spPr>
      </p:sp>
      <p:sp>
        <p:nvSpPr>
          <p:cNvPr id="20" name="dot_4"/>
          <p:cNvSpPr/>
          <p:nvPr/>
        </p:nvSpPr>
        <p:spPr>
          <a:xfrm>
            <a:off x="841248" y="4599432"/>
            <a:ext cx="438912" cy="438912"/>
          </a:xfrm>
          <a:prstGeom prst="ellipse">
            <a:avLst/>
          </a:prstGeom>
          <a:solidFill>
            <a:srgbClr val="2A78D6"/>
          </a:solidFill>
          <a:ln/>
        </p:spPr>
      </p:sp>
      <p:sp>
        <p:nvSpPr>
          <p:cNvPr id="21" name="Text 19"/>
          <p:cNvSpPr txBox="1"/>
          <p:nvPr/>
        </p:nvSpPr>
        <p:spPr>
          <a:xfrm>
            <a:off x="841248" y="45994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463040" y="4517136"/>
            <a:ext cx="3931920" cy="310896"/>
          </a:xfrm>
          <a:prstGeom prst="rect">
            <a:avLst/>
          </a:prstGeom>
          <a:noFill/>
          <a:ln/>
        </p:spPr>
        <p:txBody>
          <a:bodyPr wrap="square" lIns="0" tIns="0" rIns="0" bIns="0" rtlCol="0" anchor="ctr"/>
          <a:lstStyle/>
          <a:p>
            <a:pPr indent="0" marL="0">
              <a:buNone/>
            </a:pPr>
            <a:r>
              <a:rPr lang="en-US" sz="1600" b="1" dirty="0">
                <a:solidFill>
                  <a:srgbClr val="16213A"/>
                </a:solidFill>
              </a:rPr>
              <a:t>Kết quả phân tích</a:t>
            </a:r>
            <a:endParaRPr lang="en-US" sz="1600" dirty="0"/>
          </a:p>
        </p:txBody>
      </p:sp>
      <p:sp>
        <p:nvSpPr>
          <p:cNvPr id="23" name="Text 21"/>
          <p:cNvSpPr txBox="1"/>
          <p:nvPr/>
        </p:nvSpPr>
        <p:spPr>
          <a:xfrm>
            <a:off x="1463040" y="4837176"/>
            <a:ext cx="9692640" cy="292608"/>
          </a:xfrm>
          <a:prstGeom prst="rect">
            <a:avLst/>
          </a:prstGeom>
          <a:noFill/>
          <a:ln/>
        </p:spPr>
        <p:txBody>
          <a:bodyPr wrap="square" lIns="0" tIns="0" rIns="0" bIns="0" rtlCol="0" anchor="ctr"/>
          <a:lstStyle/>
          <a:p>
            <a:pPr indent="0" marL="0">
              <a:buNone/>
            </a:pPr>
            <a:r>
              <a:rPr lang="en-US" sz="1250" dirty="0">
                <a:solidFill>
                  <a:srgbClr val="6D7A8C"/>
                </a:solidFill>
              </a:rPr>
              <a:t>6 biểu đồ trả lời câu hỏi: yếu tố nào quan trọng nhất</a:t>
            </a:r>
            <a:endParaRPr lang="en-US" sz="1250" dirty="0"/>
          </a:p>
        </p:txBody>
      </p:sp>
      <p:sp>
        <p:nvSpPr>
          <p:cNvPr id="24" name="card_6"/>
          <p:cNvSpPr/>
          <p:nvPr/>
        </p:nvSpPr>
        <p:spPr>
          <a:xfrm>
            <a:off x="566928" y="5358384"/>
            <a:ext cx="11064240" cy="786384"/>
          </a:xfrm>
          <a:prstGeom prst="roundRect">
            <a:avLst>
              <a:gd name="adj" fmla="val 11628"/>
            </a:avLst>
          </a:prstGeom>
          <a:solidFill>
            <a:srgbClr val="EEF3F7"/>
          </a:solidFill>
          <a:ln/>
        </p:spPr>
      </p:sp>
      <p:sp>
        <p:nvSpPr>
          <p:cNvPr id="25" name="dot_5"/>
          <p:cNvSpPr/>
          <p:nvPr/>
        </p:nvSpPr>
        <p:spPr>
          <a:xfrm>
            <a:off x="841248" y="5532120"/>
            <a:ext cx="438912" cy="438912"/>
          </a:xfrm>
          <a:prstGeom prst="ellipse">
            <a:avLst/>
          </a:prstGeom>
          <a:solidFill>
            <a:srgbClr val="1BAF7A"/>
          </a:solidFill>
          <a:ln/>
        </p:spPr>
      </p:sp>
      <p:sp>
        <p:nvSpPr>
          <p:cNvPr id="26" name="Text 24"/>
          <p:cNvSpPr txBox="1"/>
          <p:nvPr/>
        </p:nvSpPr>
        <p:spPr>
          <a:xfrm>
            <a:off x="841248" y="55321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1463040" y="5449824"/>
            <a:ext cx="3931920" cy="310896"/>
          </a:xfrm>
          <a:prstGeom prst="rect">
            <a:avLst/>
          </a:prstGeom>
          <a:noFill/>
          <a:ln/>
        </p:spPr>
        <p:txBody>
          <a:bodyPr wrap="square" lIns="0" tIns="0" rIns="0" bIns="0" rtlCol="0" anchor="ctr"/>
          <a:lstStyle/>
          <a:p>
            <a:pPr indent="0" marL="0">
              <a:buNone/>
            </a:pPr>
            <a:r>
              <a:rPr lang="en-US" sz="1600" b="1" dirty="0">
                <a:solidFill>
                  <a:srgbClr val="16213A"/>
                </a:solidFill>
              </a:rPr>
              <a:t>Nhận định &amp; đề xuất</a:t>
            </a:r>
            <a:endParaRPr lang="en-US" sz="1600" dirty="0"/>
          </a:p>
        </p:txBody>
      </p:sp>
      <p:sp>
        <p:nvSpPr>
          <p:cNvPr id="28" name="Text 26"/>
          <p:cNvSpPr txBox="1"/>
          <p:nvPr/>
        </p:nvSpPr>
        <p:spPr>
          <a:xfrm>
            <a:off x="1463040" y="5769864"/>
            <a:ext cx="9692640" cy="292608"/>
          </a:xfrm>
          <a:prstGeom prst="rect">
            <a:avLst/>
          </a:prstGeom>
          <a:noFill/>
          <a:ln/>
        </p:spPr>
        <p:txBody>
          <a:bodyPr wrap="square" lIns="0" tIns="0" rIns="0" bIns="0" rtlCol="0" anchor="ctr"/>
          <a:lstStyle/>
          <a:p>
            <a:pPr indent="0" marL="0">
              <a:buNone/>
            </a:pPr>
            <a:r>
              <a:rPr lang="en-US" sz="1250" dirty="0">
                <a:solidFill>
                  <a:srgbClr val="6D7A8C"/>
                </a:solidFill>
              </a:rPr>
              <a:t>Tri thức rút ra và ứng dụng cho công tác hỗ trợ sinh viên</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Giới thiệu bộ dữ liệu</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Student Depression Dataset · Kaggle · khảo sát sinh viên tại Ấn Độ</a:t>
            </a:r>
            <a:endParaRPr lang="en-US" sz="1400" dirty="0"/>
          </a:p>
        </p:txBody>
      </p:sp>
      <p:sp>
        <p:nvSpPr>
          <p:cNvPr id="4" name="card_7"/>
          <p:cNvSpPr/>
          <p:nvPr/>
        </p:nvSpPr>
        <p:spPr>
          <a:xfrm>
            <a:off x="566928" y="1572768"/>
            <a:ext cx="11064240" cy="1371600"/>
          </a:xfrm>
          <a:prstGeom prst="roundRect">
            <a:avLst>
              <a:gd name="adj" fmla="val 6667"/>
            </a:avLst>
          </a:prstGeom>
          <a:solidFill>
            <a:srgbClr val="EEF3F7"/>
          </a:solidFill>
          <a:ln/>
        </p:spPr>
      </p:sp>
      <p:sp>
        <p:nvSpPr>
          <p:cNvPr id="5" name="Text 3"/>
          <p:cNvSpPr txBox="1"/>
          <p:nvPr/>
        </p:nvSpPr>
        <p:spPr>
          <a:xfrm>
            <a:off x="749808" y="1737360"/>
            <a:ext cx="2066544" cy="713232"/>
          </a:xfrm>
          <a:prstGeom prst="rect">
            <a:avLst/>
          </a:prstGeom>
          <a:noFill/>
          <a:ln/>
        </p:spPr>
        <p:txBody>
          <a:bodyPr wrap="square" lIns="0" tIns="0" rIns="0" bIns="0" rtlCol="0" anchor="ctr"/>
          <a:lstStyle/>
          <a:p>
            <a:pPr algn="ctr" indent="0" marL="0">
              <a:buNone/>
            </a:pPr>
            <a:r>
              <a:rPr lang="en-US" sz="4000" b="1" dirty="0">
                <a:solidFill>
                  <a:srgbClr val="065A82"/>
                </a:solidFill>
                <a:latin typeface="Cambria" pitchFamily="34" charset="0"/>
                <a:ea typeface="Cambria" pitchFamily="34" charset="-122"/>
                <a:cs typeface="Cambria" pitchFamily="34" charset="-120"/>
              </a:rPr>
              <a:t>27.901</a:t>
            </a:r>
            <a:endParaRPr lang="en-US" sz="4000" dirty="0"/>
          </a:p>
        </p:txBody>
      </p:sp>
      <p:sp>
        <p:nvSpPr>
          <p:cNvPr id="6" name="Text 4"/>
          <p:cNvSpPr txBox="1"/>
          <p:nvPr/>
        </p:nvSpPr>
        <p:spPr>
          <a:xfrm>
            <a:off x="749808" y="2414016"/>
            <a:ext cx="2066544" cy="530352"/>
          </a:xfrm>
          <a:prstGeom prst="rect">
            <a:avLst/>
          </a:prstGeom>
          <a:noFill/>
          <a:ln/>
        </p:spPr>
        <p:txBody>
          <a:bodyPr wrap="square" lIns="0" tIns="0" rIns="0" bIns="0" rtlCol="0" anchor="t"/>
          <a:lstStyle/>
          <a:p>
            <a:pPr algn="ctr" indent="0" marL="0">
              <a:buNone/>
            </a:pPr>
            <a:r>
              <a:rPr lang="en-US" sz="1250" dirty="0">
                <a:solidFill>
                  <a:srgbClr val="6D7A8C"/>
                </a:solidFill>
              </a:rPr>
              <a:t>Sinh viên được khảo sát</a:t>
            </a:r>
            <a:endParaRPr lang="en-US" sz="1250" dirty="0"/>
          </a:p>
        </p:txBody>
      </p:sp>
      <p:sp>
        <p:nvSpPr>
          <p:cNvPr id="7" name="Text 5"/>
          <p:cNvSpPr txBox="1"/>
          <p:nvPr/>
        </p:nvSpPr>
        <p:spPr>
          <a:xfrm>
            <a:off x="2926080" y="1737360"/>
            <a:ext cx="2066544" cy="713232"/>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18</a:t>
            </a:r>
            <a:endParaRPr lang="en-US" sz="4000" dirty="0"/>
          </a:p>
        </p:txBody>
      </p:sp>
      <p:sp>
        <p:nvSpPr>
          <p:cNvPr id="8" name="Text 6"/>
          <p:cNvSpPr txBox="1"/>
          <p:nvPr/>
        </p:nvSpPr>
        <p:spPr>
          <a:xfrm>
            <a:off x="2926080" y="2414016"/>
            <a:ext cx="2066544" cy="530352"/>
          </a:xfrm>
          <a:prstGeom prst="rect">
            <a:avLst/>
          </a:prstGeom>
          <a:noFill/>
          <a:ln/>
        </p:spPr>
        <p:txBody>
          <a:bodyPr wrap="square" lIns="0" tIns="0" rIns="0" bIns="0" rtlCol="0" anchor="t"/>
          <a:lstStyle/>
          <a:p>
            <a:pPr algn="ctr" indent="0" marL="0">
              <a:buNone/>
            </a:pPr>
            <a:r>
              <a:rPr lang="en-US" sz="1250" dirty="0">
                <a:solidFill>
                  <a:srgbClr val="6D7A8C"/>
                </a:solidFill>
              </a:rPr>
              <a:t>Biến ban đầu</a:t>
            </a:r>
            <a:endParaRPr lang="en-US" sz="1250" dirty="0"/>
          </a:p>
        </p:txBody>
      </p:sp>
      <p:sp>
        <p:nvSpPr>
          <p:cNvPr id="9" name="Text 7"/>
          <p:cNvSpPr txBox="1"/>
          <p:nvPr/>
        </p:nvSpPr>
        <p:spPr>
          <a:xfrm>
            <a:off x="5102352" y="1737360"/>
            <a:ext cx="2066544" cy="713232"/>
          </a:xfrm>
          <a:prstGeom prst="rect">
            <a:avLst/>
          </a:prstGeom>
          <a:noFill/>
          <a:ln/>
        </p:spPr>
        <p:txBody>
          <a:bodyPr wrap="square" lIns="0" tIns="0" rIns="0" bIns="0" rtlCol="0" anchor="ctr"/>
          <a:lstStyle/>
          <a:p>
            <a:pPr algn="ctr" indent="0" marL="0">
              <a:buNone/>
            </a:pPr>
            <a:r>
              <a:rPr lang="en-US" sz="4000" b="1" dirty="0">
                <a:solidFill>
                  <a:srgbClr val="D03B3B"/>
                </a:solidFill>
                <a:latin typeface="Cambria" pitchFamily="34" charset="0"/>
                <a:ea typeface="Cambria" pitchFamily="34" charset="-122"/>
                <a:cs typeface="Cambria" pitchFamily="34" charset="-120"/>
              </a:rPr>
              <a:t>58,5%</a:t>
            </a:r>
            <a:endParaRPr lang="en-US" sz="4000" dirty="0"/>
          </a:p>
        </p:txBody>
      </p:sp>
      <p:sp>
        <p:nvSpPr>
          <p:cNvPr id="10" name="Text 8"/>
          <p:cNvSpPr txBox="1"/>
          <p:nvPr/>
        </p:nvSpPr>
        <p:spPr>
          <a:xfrm>
            <a:off x="5102352" y="2414016"/>
            <a:ext cx="2066544" cy="530352"/>
          </a:xfrm>
          <a:prstGeom prst="rect">
            <a:avLst/>
          </a:prstGeom>
          <a:noFill/>
          <a:ln/>
        </p:spPr>
        <p:txBody>
          <a:bodyPr wrap="square" lIns="0" tIns="0" rIns="0" bIns="0" rtlCol="0" anchor="t"/>
          <a:lstStyle/>
          <a:p>
            <a:pPr algn="ctr" indent="0" marL="0">
              <a:buNone/>
            </a:pPr>
            <a:r>
              <a:rPr lang="en-US" sz="1250" dirty="0">
                <a:solidFill>
                  <a:srgbClr val="6D7A8C"/>
                </a:solidFill>
              </a:rPr>
              <a:t>Có dấu hiệu trầm cảm</a:t>
            </a:r>
            <a:endParaRPr lang="en-US" sz="1250" dirty="0"/>
          </a:p>
        </p:txBody>
      </p:sp>
      <p:sp>
        <p:nvSpPr>
          <p:cNvPr id="11" name="Text 9"/>
          <p:cNvSpPr txBox="1"/>
          <p:nvPr/>
        </p:nvSpPr>
        <p:spPr>
          <a:xfrm>
            <a:off x="7278624" y="1737360"/>
            <a:ext cx="2066544" cy="713232"/>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7278624" y="2414016"/>
            <a:ext cx="2066544" cy="530352"/>
          </a:xfrm>
          <a:prstGeom prst="rect">
            <a:avLst/>
          </a:prstGeom>
          <a:noFill/>
          <a:ln/>
        </p:spPr>
        <p:txBody>
          <a:bodyPr wrap="square" lIns="0" tIns="0" rIns="0" bIns="0" rtlCol="0" anchor="t"/>
          <a:lstStyle/>
          <a:p>
            <a:pPr algn="ctr" indent="0" marL="0">
              <a:buNone/>
            </a:pPr>
            <a:r>
              <a:rPr lang="en-US" sz="1250" dirty="0">
                <a:solidFill>
                  <a:srgbClr val="6D7A8C"/>
                </a:solidFill>
              </a:rPr>
              <a:t>Bản ghi trùng lặp</a:t>
            </a:r>
            <a:endParaRPr lang="en-US" sz="1250" dirty="0"/>
          </a:p>
        </p:txBody>
      </p:sp>
      <p:sp>
        <p:nvSpPr>
          <p:cNvPr id="13" name="Text 11"/>
          <p:cNvSpPr txBox="1"/>
          <p:nvPr/>
        </p:nvSpPr>
        <p:spPr>
          <a:xfrm>
            <a:off x="9454896" y="1737360"/>
            <a:ext cx="2066544" cy="713232"/>
          </a:xfrm>
          <a:prstGeom prst="rect">
            <a:avLst/>
          </a:prstGeom>
          <a:noFill/>
          <a:ln/>
        </p:spPr>
        <p:txBody>
          <a:bodyPr wrap="square" lIns="0" tIns="0" rIns="0" bIns="0" rtlCol="0" anchor="ctr"/>
          <a:lstStyle/>
          <a:p>
            <a:pPr algn="ctr" indent="0" marL="0">
              <a:buNone/>
            </a:pPr>
            <a:r>
              <a:rPr lang="en-US" sz="4000" b="1" dirty="0">
                <a:solidFill>
                  <a:srgbClr val="EDA100"/>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9454896" y="2414016"/>
            <a:ext cx="2066544" cy="530352"/>
          </a:xfrm>
          <a:prstGeom prst="rect">
            <a:avLst/>
          </a:prstGeom>
          <a:noFill/>
          <a:ln/>
        </p:spPr>
        <p:txBody>
          <a:bodyPr wrap="square" lIns="0" tIns="0" rIns="0" bIns="0" rtlCol="0" anchor="t"/>
          <a:lstStyle/>
          <a:p>
            <a:pPr algn="ctr" indent="0" marL="0">
              <a:buNone/>
            </a:pPr>
            <a:r>
              <a:rPr lang="en-US" sz="1250" dirty="0">
                <a:solidFill>
                  <a:srgbClr val="6D7A8C"/>
                </a:solidFill>
              </a:rPr>
              <a:t>Ô khuyết / 502.218 ô</a:t>
            </a:r>
            <a:endParaRPr lang="en-US" sz="1250" dirty="0"/>
          </a:p>
        </p:txBody>
      </p:sp>
      <p:sp>
        <p:nvSpPr>
          <p:cNvPr id="15" name="Text 13"/>
          <p:cNvSpPr txBox="1"/>
          <p:nvPr/>
        </p:nvSpPr>
        <p:spPr>
          <a:xfrm>
            <a:off x="566928" y="3145536"/>
            <a:ext cx="5120640" cy="310896"/>
          </a:xfrm>
          <a:prstGeom prst="rect">
            <a:avLst/>
          </a:prstGeom>
          <a:noFill/>
          <a:ln/>
        </p:spPr>
        <p:txBody>
          <a:bodyPr wrap="square" lIns="0" tIns="0" rIns="0" bIns="0" rtlCol="0" anchor="ctr"/>
          <a:lstStyle/>
          <a:p>
            <a:pPr indent="0" marL="0">
              <a:buNone/>
            </a:pPr>
            <a:r>
              <a:rPr lang="en-US" sz="1500" b="1" dirty="0">
                <a:solidFill>
                  <a:srgbClr val="16213A"/>
                </a:solidFill>
              </a:rPr>
              <a:t>Cấu trúc 18 biến</a:t>
            </a:r>
            <a:endParaRPr lang="en-US" sz="1500" dirty="0"/>
          </a:p>
        </p:txBody>
      </p:sp>
      <p:sp>
        <p:nvSpPr>
          <p:cNvPr id="16" name="gdot_0"/>
          <p:cNvSpPr/>
          <p:nvPr/>
        </p:nvSpPr>
        <p:spPr>
          <a:xfrm>
            <a:off x="585216" y="3685032"/>
            <a:ext cx="182880" cy="182880"/>
          </a:xfrm>
          <a:prstGeom prst="ellipse">
            <a:avLst/>
          </a:prstGeom>
          <a:solidFill>
            <a:srgbClr val="065A82"/>
          </a:solidFill>
          <a:ln/>
        </p:spPr>
      </p:sp>
      <p:sp>
        <p:nvSpPr>
          <p:cNvPr id="17" name="Text 15"/>
          <p:cNvSpPr txBox="1"/>
          <p:nvPr/>
        </p:nvSpPr>
        <p:spPr>
          <a:xfrm>
            <a:off x="877824" y="3529584"/>
            <a:ext cx="1783080" cy="274320"/>
          </a:xfrm>
          <a:prstGeom prst="rect">
            <a:avLst/>
          </a:prstGeom>
          <a:noFill/>
          <a:ln/>
        </p:spPr>
        <p:txBody>
          <a:bodyPr wrap="square" lIns="0" tIns="0" rIns="0" bIns="0" rtlCol="0" anchor="ctr"/>
          <a:lstStyle/>
          <a:p>
            <a:pPr indent="0" marL="0">
              <a:buNone/>
            </a:pPr>
            <a:r>
              <a:rPr lang="en-US" sz="1300" b="1" dirty="0">
                <a:solidFill>
                  <a:srgbClr val="16213A"/>
                </a:solidFill>
              </a:rPr>
              <a:t>Nhân khẩu học</a:t>
            </a:r>
            <a:endParaRPr lang="en-US" sz="1300" dirty="0"/>
          </a:p>
        </p:txBody>
      </p:sp>
      <p:sp>
        <p:nvSpPr>
          <p:cNvPr id="18" name="Text 16"/>
          <p:cNvSpPr txBox="1"/>
          <p:nvPr/>
        </p:nvSpPr>
        <p:spPr>
          <a:xfrm>
            <a:off x="877824" y="3785616"/>
            <a:ext cx="4846320" cy="274320"/>
          </a:xfrm>
          <a:prstGeom prst="rect">
            <a:avLst/>
          </a:prstGeom>
          <a:noFill/>
          <a:ln/>
        </p:spPr>
        <p:txBody>
          <a:bodyPr wrap="square" lIns="0" tIns="0" rIns="0" bIns="0" rtlCol="0" anchor="ctr"/>
          <a:lstStyle/>
          <a:p>
            <a:pPr indent="0" marL="0">
              <a:buNone/>
            </a:pPr>
            <a:r>
              <a:rPr lang="en-US" sz="1150" dirty="0">
                <a:solidFill>
                  <a:srgbClr val="6D7A8C"/>
                </a:solidFill>
              </a:rPr>
              <a:t>Giới tính · Tuổi · Thành phố · Nghề nghiệp</a:t>
            </a:r>
            <a:endParaRPr lang="en-US" sz="1150" dirty="0"/>
          </a:p>
        </p:txBody>
      </p:sp>
      <p:sp>
        <p:nvSpPr>
          <p:cNvPr id="19" name="gdot_1"/>
          <p:cNvSpPr/>
          <p:nvPr/>
        </p:nvSpPr>
        <p:spPr>
          <a:xfrm>
            <a:off x="585216" y="4361688"/>
            <a:ext cx="182880" cy="182880"/>
          </a:xfrm>
          <a:prstGeom prst="ellipse">
            <a:avLst/>
          </a:prstGeom>
          <a:solidFill>
            <a:srgbClr val="1C7293"/>
          </a:solidFill>
          <a:ln/>
        </p:spPr>
      </p:sp>
      <p:sp>
        <p:nvSpPr>
          <p:cNvPr id="20" name="Text 18"/>
          <p:cNvSpPr txBox="1"/>
          <p:nvPr/>
        </p:nvSpPr>
        <p:spPr>
          <a:xfrm>
            <a:off x="877824" y="4206240"/>
            <a:ext cx="1783080" cy="274320"/>
          </a:xfrm>
          <a:prstGeom prst="rect">
            <a:avLst/>
          </a:prstGeom>
          <a:noFill/>
          <a:ln/>
        </p:spPr>
        <p:txBody>
          <a:bodyPr wrap="square" lIns="0" tIns="0" rIns="0" bIns="0" rtlCol="0" anchor="ctr"/>
          <a:lstStyle/>
          <a:p>
            <a:pPr indent="0" marL="0">
              <a:buNone/>
            </a:pPr>
            <a:r>
              <a:rPr lang="en-US" sz="1300" b="1" dirty="0">
                <a:solidFill>
                  <a:srgbClr val="16213A"/>
                </a:solidFill>
              </a:rPr>
              <a:t>Học tập</a:t>
            </a:r>
            <a:endParaRPr lang="en-US" sz="1300" dirty="0"/>
          </a:p>
        </p:txBody>
      </p:sp>
      <p:sp>
        <p:nvSpPr>
          <p:cNvPr id="21" name="Text 19"/>
          <p:cNvSpPr txBox="1"/>
          <p:nvPr/>
        </p:nvSpPr>
        <p:spPr>
          <a:xfrm>
            <a:off x="877824" y="4462272"/>
            <a:ext cx="4846320" cy="274320"/>
          </a:xfrm>
          <a:prstGeom prst="rect">
            <a:avLst/>
          </a:prstGeom>
          <a:noFill/>
          <a:ln/>
        </p:spPr>
        <p:txBody>
          <a:bodyPr wrap="square" lIns="0" tIns="0" rIns="0" bIns="0" rtlCol="0" anchor="ctr"/>
          <a:lstStyle/>
          <a:p>
            <a:pPr indent="0" marL="0">
              <a:buNone/>
            </a:pPr>
            <a:r>
              <a:rPr lang="en-US" sz="1150" dirty="0">
                <a:solidFill>
                  <a:srgbClr val="6D7A8C"/>
                </a:solidFill>
              </a:rPr>
              <a:t>Áp lực học tập · Điểm CGPA · Mức hài lòng · Bằng cấp</a:t>
            </a:r>
            <a:endParaRPr lang="en-US" sz="1150" dirty="0"/>
          </a:p>
        </p:txBody>
      </p:sp>
      <p:sp>
        <p:nvSpPr>
          <p:cNvPr id="22" name="gdot_2"/>
          <p:cNvSpPr/>
          <p:nvPr/>
        </p:nvSpPr>
        <p:spPr>
          <a:xfrm>
            <a:off x="585216" y="5038344"/>
            <a:ext cx="182880" cy="182880"/>
          </a:xfrm>
          <a:prstGeom prst="ellipse">
            <a:avLst/>
          </a:prstGeom>
          <a:solidFill>
            <a:srgbClr val="2A78D6"/>
          </a:solidFill>
          <a:ln/>
        </p:spPr>
      </p:sp>
      <p:sp>
        <p:nvSpPr>
          <p:cNvPr id="23" name="Text 21"/>
          <p:cNvSpPr txBox="1"/>
          <p:nvPr/>
        </p:nvSpPr>
        <p:spPr>
          <a:xfrm>
            <a:off x="877824" y="4882896"/>
            <a:ext cx="1783080" cy="274320"/>
          </a:xfrm>
          <a:prstGeom prst="rect">
            <a:avLst/>
          </a:prstGeom>
          <a:noFill/>
          <a:ln/>
        </p:spPr>
        <p:txBody>
          <a:bodyPr wrap="square" lIns="0" tIns="0" rIns="0" bIns="0" rtlCol="0" anchor="ctr"/>
          <a:lstStyle/>
          <a:p>
            <a:pPr indent="0" marL="0">
              <a:buNone/>
            </a:pPr>
            <a:r>
              <a:rPr lang="en-US" sz="1300" b="1" dirty="0">
                <a:solidFill>
                  <a:srgbClr val="16213A"/>
                </a:solidFill>
              </a:rPr>
              <a:t>Lối sống</a:t>
            </a:r>
            <a:endParaRPr lang="en-US" sz="1300" dirty="0"/>
          </a:p>
        </p:txBody>
      </p:sp>
      <p:sp>
        <p:nvSpPr>
          <p:cNvPr id="24" name="Text 22"/>
          <p:cNvSpPr txBox="1"/>
          <p:nvPr/>
        </p:nvSpPr>
        <p:spPr>
          <a:xfrm>
            <a:off x="877824" y="5138928"/>
            <a:ext cx="4846320" cy="274320"/>
          </a:xfrm>
          <a:prstGeom prst="rect">
            <a:avLst/>
          </a:prstGeom>
          <a:noFill/>
          <a:ln/>
        </p:spPr>
        <p:txBody>
          <a:bodyPr wrap="square" lIns="0" tIns="0" rIns="0" bIns="0" rtlCol="0" anchor="ctr"/>
          <a:lstStyle/>
          <a:p>
            <a:pPr indent="0" marL="0">
              <a:buNone/>
            </a:pPr>
            <a:r>
              <a:rPr lang="en-US" sz="1150" dirty="0">
                <a:solidFill>
                  <a:srgbClr val="6D7A8C"/>
                </a:solidFill>
              </a:rPr>
              <a:t>Thời lượng ngủ · Chế độ ăn · Số giờ học/làm mỗi ngày</a:t>
            </a:r>
            <a:endParaRPr lang="en-US" sz="1150" dirty="0"/>
          </a:p>
        </p:txBody>
      </p:sp>
      <p:sp>
        <p:nvSpPr>
          <p:cNvPr id="25" name="gdot_3"/>
          <p:cNvSpPr/>
          <p:nvPr/>
        </p:nvSpPr>
        <p:spPr>
          <a:xfrm>
            <a:off x="585216" y="5715000"/>
            <a:ext cx="182880" cy="182880"/>
          </a:xfrm>
          <a:prstGeom prst="ellipse">
            <a:avLst/>
          </a:prstGeom>
          <a:solidFill>
            <a:srgbClr val="D03B3B"/>
          </a:solidFill>
          <a:ln/>
        </p:spPr>
      </p:sp>
      <p:sp>
        <p:nvSpPr>
          <p:cNvPr id="26" name="Text 24"/>
          <p:cNvSpPr txBox="1"/>
          <p:nvPr/>
        </p:nvSpPr>
        <p:spPr>
          <a:xfrm>
            <a:off x="877824" y="5559552"/>
            <a:ext cx="1783080" cy="274320"/>
          </a:xfrm>
          <a:prstGeom prst="rect">
            <a:avLst/>
          </a:prstGeom>
          <a:noFill/>
          <a:ln/>
        </p:spPr>
        <p:txBody>
          <a:bodyPr wrap="square" lIns="0" tIns="0" rIns="0" bIns="0" rtlCol="0" anchor="ctr"/>
          <a:lstStyle/>
          <a:p>
            <a:pPr indent="0" marL="0">
              <a:buNone/>
            </a:pPr>
            <a:r>
              <a:rPr lang="en-US" sz="1300" b="1" dirty="0">
                <a:solidFill>
                  <a:srgbClr val="16213A"/>
                </a:solidFill>
              </a:rPr>
              <a:t>Tâm lý – xã hội</a:t>
            </a:r>
            <a:endParaRPr lang="en-US" sz="1300" dirty="0"/>
          </a:p>
        </p:txBody>
      </p:sp>
      <p:sp>
        <p:nvSpPr>
          <p:cNvPr id="27" name="Text 25"/>
          <p:cNvSpPr txBox="1"/>
          <p:nvPr/>
        </p:nvSpPr>
        <p:spPr>
          <a:xfrm>
            <a:off x="877824" y="5815584"/>
            <a:ext cx="4846320" cy="274320"/>
          </a:xfrm>
          <a:prstGeom prst="rect">
            <a:avLst/>
          </a:prstGeom>
          <a:noFill/>
          <a:ln/>
        </p:spPr>
        <p:txBody>
          <a:bodyPr wrap="square" lIns="0" tIns="0" rIns="0" bIns="0" rtlCol="0" anchor="ctr"/>
          <a:lstStyle/>
          <a:p>
            <a:pPr indent="0" marL="0">
              <a:buNone/>
            </a:pPr>
            <a:r>
              <a:rPr lang="en-US" sz="1150" dirty="0">
                <a:solidFill>
                  <a:srgbClr val="6D7A8C"/>
                </a:solidFill>
              </a:rPr>
              <a:t>Áp lực tài chính · Tiền sử gia đình · Ý định tự tử</a:t>
            </a:r>
            <a:endParaRPr lang="en-US" sz="1150" dirty="0"/>
          </a:p>
        </p:txBody>
      </p:sp>
      <p:pic>
        <p:nvPicPr>
          <p:cNvPr id="28" name="Image 0" descr="/tmp/claude-0/-home-user-about/7f9787d4-c743-5828-973b-7494043f4138/scratchpad/charts/c1_target.png">    </p:cNvPr>
          <p:cNvPicPr>
            <a:picLocks noChangeAspect="1"/>
          </p:cNvPicPr>
          <p:nvPr/>
        </p:nvPicPr>
        <p:blipFill>
          <a:blip r:embed="rId1"/>
          <a:stretch>
            <a:fillRect/>
          </a:stretch>
        </p:blipFill>
        <p:spPr>
          <a:xfrm>
            <a:off x="6035040" y="3017520"/>
            <a:ext cx="5577840" cy="3154680"/>
          </a:xfrm>
          <a:prstGeom prst="rect">
            <a:avLst/>
          </a:prstGeom>
        </p:spPr>
      </p:pic>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Công cụ AI và quy trình làm việc</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AI dùng để khám phá và đề xuất — nhóm kiểm chứng lại bằng thống kê</a:t>
            </a:r>
            <a:endParaRPr lang="en-US" sz="1400" dirty="0"/>
          </a:p>
        </p:txBody>
      </p:sp>
      <p:sp>
        <p:nvSpPr>
          <p:cNvPr id="4" name="card_8"/>
          <p:cNvSpPr/>
          <p:nvPr/>
        </p:nvSpPr>
        <p:spPr>
          <a:xfrm>
            <a:off x="566928" y="1591056"/>
            <a:ext cx="7452360" cy="804672"/>
          </a:xfrm>
          <a:prstGeom prst="roundRect">
            <a:avLst>
              <a:gd name="adj" fmla="val 11364"/>
            </a:avLst>
          </a:prstGeom>
          <a:solidFill>
            <a:srgbClr val="EEF3F7"/>
          </a:solidFill>
          <a:ln/>
        </p:spPr>
      </p:sp>
      <p:sp>
        <p:nvSpPr>
          <p:cNvPr id="5" name="dot_6"/>
          <p:cNvSpPr/>
          <p:nvPr/>
        </p:nvSpPr>
        <p:spPr>
          <a:xfrm>
            <a:off x="804672" y="1773936"/>
            <a:ext cx="438912" cy="438912"/>
          </a:xfrm>
          <a:prstGeom prst="ellipse">
            <a:avLst/>
          </a:prstGeom>
          <a:solidFill>
            <a:srgbClr val="065A82"/>
          </a:solidFill>
          <a:ln/>
        </p:spPr>
      </p:sp>
      <p:sp>
        <p:nvSpPr>
          <p:cNvPr id="6" name="Text 4"/>
          <p:cNvSpPr txBox="1"/>
          <p:nvPr/>
        </p:nvSpPr>
        <p:spPr>
          <a:xfrm>
            <a:off x="804672" y="17739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426464" y="1645920"/>
            <a:ext cx="6400800" cy="274320"/>
          </a:xfrm>
          <a:prstGeom prst="rect">
            <a:avLst/>
          </a:prstGeom>
          <a:noFill/>
          <a:ln/>
        </p:spPr>
        <p:txBody>
          <a:bodyPr wrap="square" lIns="0" tIns="0" rIns="0" bIns="0" rtlCol="0" anchor="ctr"/>
          <a:lstStyle/>
          <a:p>
            <a:pPr indent="0" marL="0">
              <a:buNone/>
            </a:pPr>
            <a:r>
              <a:rPr lang="en-US" sz="1400" b="1" dirty="0">
                <a:solidFill>
                  <a:srgbClr val="16213A"/>
                </a:solidFill>
              </a:rPr>
              <a:t>Khám phá ban đầu (EDA)</a:t>
            </a:r>
            <a:endParaRPr lang="en-US" sz="1400" dirty="0"/>
          </a:p>
        </p:txBody>
      </p:sp>
      <p:sp>
        <p:nvSpPr>
          <p:cNvPr id="8" name="Text 6"/>
          <p:cNvSpPr txBox="1"/>
          <p:nvPr/>
        </p:nvSpPr>
        <p:spPr>
          <a:xfrm>
            <a:off x="1426464" y="1911096"/>
            <a:ext cx="6446520" cy="438912"/>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Tải bộ dữ liệu lên trợ lý AI, yêu cầu mô tả cấu trúc, thống kê mô tả, phát hiện bất thường và gợi ý hướng phân tích.</a:t>
            </a:r>
            <a:endParaRPr lang="en-US" sz="1100" dirty="0"/>
          </a:p>
        </p:txBody>
      </p:sp>
      <p:sp>
        <p:nvSpPr>
          <p:cNvPr id="9" name="card_9"/>
          <p:cNvSpPr/>
          <p:nvPr/>
        </p:nvSpPr>
        <p:spPr>
          <a:xfrm>
            <a:off x="566928" y="2505456"/>
            <a:ext cx="7452360" cy="804672"/>
          </a:xfrm>
          <a:prstGeom prst="roundRect">
            <a:avLst>
              <a:gd name="adj" fmla="val 11364"/>
            </a:avLst>
          </a:prstGeom>
          <a:solidFill>
            <a:srgbClr val="EEF3F7"/>
          </a:solidFill>
          <a:ln/>
        </p:spPr>
      </p:sp>
      <p:sp>
        <p:nvSpPr>
          <p:cNvPr id="10" name="dot_7"/>
          <p:cNvSpPr/>
          <p:nvPr/>
        </p:nvSpPr>
        <p:spPr>
          <a:xfrm>
            <a:off x="804672" y="2688336"/>
            <a:ext cx="438912" cy="438912"/>
          </a:xfrm>
          <a:prstGeom prst="ellipse">
            <a:avLst/>
          </a:prstGeom>
          <a:solidFill>
            <a:srgbClr val="1C7293"/>
          </a:solidFill>
          <a:ln/>
        </p:spPr>
      </p:sp>
      <p:sp>
        <p:nvSpPr>
          <p:cNvPr id="11" name="Text 9"/>
          <p:cNvSpPr txBox="1"/>
          <p:nvPr/>
        </p:nvSpPr>
        <p:spPr>
          <a:xfrm>
            <a:off x="804672" y="26883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1426464" y="2560320"/>
            <a:ext cx="6400800" cy="274320"/>
          </a:xfrm>
          <a:prstGeom prst="rect">
            <a:avLst/>
          </a:prstGeom>
          <a:noFill/>
          <a:ln/>
        </p:spPr>
        <p:txBody>
          <a:bodyPr wrap="square" lIns="0" tIns="0" rIns="0" bIns="0" rtlCol="0" anchor="ctr"/>
          <a:lstStyle/>
          <a:p>
            <a:pPr indent="0" marL="0">
              <a:buNone/>
            </a:pPr>
            <a:r>
              <a:rPr lang="en-US" sz="1400" b="1" dirty="0">
                <a:solidFill>
                  <a:srgbClr val="16213A"/>
                </a:solidFill>
              </a:rPr>
              <a:t>Chẩn đoán chất lượng</a:t>
            </a:r>
            <a:endParaRPr lang="en-US" sz="1400" dirty="0"/>
          </a:p>
        </p:txBody>
      </p:sp>
      <p:sp>
        <p:nvSpPr>
          <p:cNvPr id="13" name="Text 11"/>
          <p:cNvSpPr txBox="1"/>
          <p:nvPr/>
        </p:nvSpPr>
        <p:spPr>
          <a:xfrm>
            <a:off x="1426464" y="2825496"/>
            <a:ext cx="6446520" cy="438912"/>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Nhờ AI rà soát từng cột: giá trị khuyết, trùng lặp, ngoài thang đo, nhãn rác và cột gần như hằng số.</a:t>
            </a:r>
            <a:endParaRPr lang="en-US" sz="1100" dirty="0"/>
          </a:p>
        </p:txBody>
      </p:sp>
      <p:sp>
        <p:nvSpPr>
          <p:cNvPr id="14" name="card_10"/>
          <p:cNvSpPr/>
          <p:nvPr/>
        </p:nvSpPr>
        <p:spPr>
          <a:xfrm>
            <a:off x="566928" y="3419856"/>
            <a:ext cx="7452360" cy="804672"/>
          </a:xfrm>
          <a:prstGeom prst="roundRect">
            <a:avLst>
              <a:gd name="adj" fmla="val 11364"/>
            </a:avLst>
          </a:prstGeom>
          <a:solidFill>
            <a:srgbClr val="EEF3F7"/>
          </a:solidFill>
          <a:ln/>
        </p:spPr>
      </p:sp>
      <p:sp>
        <p:nvSpPr>
          <p:cNvPr id="15" name="dot_8"/>
          <p:cNvSpPr/>
          <p:nvPr/>
        </p:nvSpPr>
        <p:spPr>
          <a:xfrm>
            <a:off x="804672" y="3602736"/>
            <a:ext cx="438912" cy="438912"/>
          </a:xfrm>
          <a:prstGeom prst="ellipse">
            <a:avLst/>
          </a:prstGeom>
          <a:solidFill>
            <a:srgbClr val="EDA100"/>
          </a:solidFill>
          <a:ln/>
        </p:spPr>
      </p:sp>
      <p:sp>
        <p:nvSpPr>
          <p:cNvPr id="16" name="Text 14"/>
          <p:cNvSpPr txBox="1"/>
          <p:nvPr/>
        </p:nvSpPr>
        <p:spPr>
          <a:xfrm>
            <a:off x="804672" y="36027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426464" y="3474720"/>
            <a:ext cx="6400800" cy="274320"/>
          </a:xfrm>
          <a:prstGeom prst="rect">
            <a:avLst/>
          </a:prstGeom>
          <a:noFill/>
          <a:ln/>
        </p:spPr>
        <p:txBody>
          <a:bodyPr wrap="square" lIns="0" tIns="0" rIns="0" bIns="0" rtlCol="0" anchor="ctr"/>
          <a:lstStyle/>
          <a:p>
            <a:pPr indent="0" marL="0">
              <a:buNone/>
            </a:pPr>
            <a:r>
              <a:rPr lang="en-US" sz="1400" b="1" dirty="0">
                <a:solidFill>
                  <a:srgbClr val="16213A"/>
                </a:solidFill>
              </a:rPr>
              <a:t>Sinh mã xử lý</a:t>
            </a:r>
            <a:endParaRPr lang="en-US" sz="1400" dirty="0"/>
          </a:p>
        </p:txBody>
      </p:sp>
      <p:sp>
        <p:nvSpPr>
          <p:cNvPr id="18" name="Text 16"/>
          <p:cNvSpPr txBox="1"/>
          <p:nvPr/>
        </p:nvSpPr>
        <p:spPr>
          <a:xfrm>
            <a:off x="1426464" y="3739896"/>
            <a:ext cx="6446520" cy="438912"/>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AI viết mã Python (pandas) cho các bước làm sạch; nhóm đọc hiểu, chỉnh sửa và chạy lại để kiểm chứng kết quả.</a:t>
            </a:r>
            <a:endParaRPr lang="en-US" sz="1100" dirty="0"/>
          </a:p>
        </p:txBody>
      </p:sp>
      <p:sp>
        <p:nvSpPr>
          <p:cNvPr id="19" name="card_11"/>
          <p:cNvSpPr/>
          <p:nvPr/>
        </p:nvSpPr>
        <p:spPr>
          <a:xfrm>
            <a:off x="566928" y="4334256"/>
            <a:ext cx="7452360" cy="804672"/>
          </a:xfrm>
          <a:prstGeom prst="roundRect">
            <a:avLst>
              <a:gd name="adj" fmla="val 11364"/>
            </a:avLst>
          </a:prstGeom>
          <a:solidFill>
            <a:srgbClr val="EEF3F7"/>
          </a:solidFill>
          <a:ln/>
        </p:spPr>
      </p:sp>
      <p:sp>
        <p:nvSpPr>
          <p:cNvPr id="20" name="dot_9"/>
          <p:cNvSpPr/>
          <p:nvPr/>
        </p:nvSpPr>
        <p:spPr>
          <a:xfrm>
            <a:off x="804672" y="4517136"/>
            <a:ext cx="438912" cy="438912"/>
          </a:xfrm>
          <a:prstGeom prst="ellipse">
            <a:avLst/>
          </a:prstGeom>
          <a:solidFill>
            <a:srgbClr val="2A78D6"/>
          </a:solidFill>
          <a:ln/>
        </p:spPr>
      </p:sp>
      <p:sp>
        <p:nvSpPr>
          <p:cNvPr id="21" name="Text 19"/>
          <p:cNvSpPr txBox="1"/>
          <p:nvPr/>
        </p:nvSpPr>
        <p:spPr>
          <a:xfrm>
            <a:off x="804672" y="45171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426464" y="4389120"/>
            <a:ext cx="6400800" cy="274320"/>
          </a:xfrm>
          <a:prstGeom prst="rect">
            <a:avLst/>
          </a:prstGeom>
          <a:noFill/>
          <a:ln/>
        </p:spPr>
        <p:txBody>
          <a:bodyPr wrap="square" lIns="0" tIns="0" rIns="0" bIns="0" rtlCol="0" anchor="ctr"/>
          <a:lstStyle/>
          <a:p>
            <a:pPr indent="0" marL="0">
              <a:buNone/>
            </a:pPr>
            <a:r>
              <a:rPr lang="en-US" sz="1400" b="1" dirty="0">
                <a:solidFill>
                  <a:srgbClr val="16213A"/>
                </a:solidFill>
              </a:rPr>
              <a:t>Trực quan hóa</a:t>
            </a:r>
            <a:endParaRPr lang="en-US" sz="1400" dirty="0"/>
          </a:p>
        </p:txBody>
      </p:sp>
      <p:sp>
        <p:nvSpPr>
          <p:cNvPr id="23" name="Text 21"/>
          <p:cNvSpPr txBox="1"/>
          <p:nvPr/>
        </p:nvSpPr>
        <p:spPr>
          <a:xfrm>
            <a:off x="1426464" y="4654296"/>
            <a:ext cx="6446520" cy="438912"/>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AI đề xuất loại biểu đồ phù hợp với từng câu hỏi; nhóm quyết định bảng màu và cách ghi nhãn.</a:t>
            </a:r>
            <a:endParaRPr lang="en-US" sz="1100" dirty="0"/>
          </a:p>
        </p:txBody>
      </p:sp>
      <p:sp>
        <p:nvSpPr>
          <p:cNvPr id="24" name="card_12"/>
          <p:cNvSpPr/>
          <p:nvPr/>
        </p:nvSpPr>
        <p:spPr>
          <a:xfrm>
            <a:off x="566928" y="5248656"/>
            <a:ext cx="7452360" cy="804672"/>
          </a:xfrm>
          <a:prstGeom prst="roundRect">
            <a:avLst>
              <a:gd name="adj" fmla="val 11364"/>
            </a:avLst>
          </a:prstGeom>
          <a:solidFill>
            <a:srgbClr val="EEF3F7"/>
          </a:solidFill>
          <a:ln/>
        </p:spPr>
      </p:sp>
      <p:sp>
        <p:nvSpPr>
          <p:cNvPr id="25" name="dot_10"/>
          <p:cNvSpPr/>
          <p:nvPr/>
        </p:nvSpPr>
        <p:spPr>
          <a:xfrm>
            <a:off x="804672" y="5431536"/>
            <a:ext cx="438912" cy="438912"/>
          </a:xfrm>
          <a:prstGeom prst="ellipse">
            <a:avLst/>
          </a:prstGeom>
          <a:solidFill>
            <a:srgbClr val="1BAF7A"/>
          </a:solidFill>
          <a:ln/>
        </p:spPr>
      </p:sp>
      <p:sp>
        <p:nvSpPr>
          <p:cNvPr id="26" name="Text 24"/>
          <p:cNvSpPr txBox="1"/>
          <p:nvPr/>
        </p:nvSpPr>
        <p:spPr>
          <a:xfrm>
            <a:off x="804672" y="54315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1426464" y="5303520"/>
            <a:ext cx="6400800" cy="274320"/>
          </a:xfrm>
          <a:prstGeom prst="rect">
            <a:avLst/>
          </a:prstGeom>
          <a:noFill/>
          <a:ln/>
        </p:spPr>
        <p:txBody>
          <a:bodyPr wrap="square" lIns="0" tIns="0" rIns="0" bIns="0" rtlCol="0" anchor="ctr"/>
          <a:lstStyle/>
          <a:p>
            <a:pPr indent="0" marL="0">
              <a:buNone/>
            </a:pPr>
            <a:r>
              <a:rPr lang="en-US" sz="1400" b="1" dirty="0">
                <a:solidFill>
                  <a:srgbClr val="16213A"/>
                </a:solidFill>
              </a:rPr>
              <a:t>Diễn giải &amp; phản biện</a:t>
            </a:r>
            <a:endParaRPr lang="en-US" sz="1400" dirty="0"/>
          </a:p>
        </p:txBody>
      </p:sp>
      <p:sp>
        <p:nvSpPr>
          <p:cNvPr id="28" name="Text 26"/>
          <p:cNvSpPr txBox="1"/>
          <p:nvPr/>
        </p:nvSpPr>
        <p:spPr>
          <a:xfrm>
            <a:off x="1426464" y="5568696"/>
            <a:ext cx="6446520" cy="438912"/>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Yêu cầu AI nêu cách giải thích thay thế và các hạn chế, tránh kết luận nhân quả vội vàng.</a:t>
            </a:r>
            <a:endParaRPr lang="en-US" sz="1100" dirty="0"/>
          </a:p>
        </p:txBody>
      </p:sp>
      <p:sp>
        <p:nvSpPr>
          <p:cNvPr id="29" name="card_13"/>
          <p:cNvSpPr/>
          <p:nvPr/>
        </p:nvSpPr>
        <p:spPr>
          <a:xfrm>
            <a:off x="8321040" y="1591056"/>
            <a:ext cx="3291840" cy="4553712"/>
          </a:xfrm>
          <a:prstGeom prst="roundRect">
            <a:avLst>
              <a:gd name="adj" fmla="val 2778"/>
            </a:avLst>
          </a:prstGeom>
          <a:solidFill>
            <a:srgbClr val="16213A"/>
          </a:solidFill>
          <a:ln/>
        </p:spPr>
      </p:sp>
      <p:sp>
        <p:nvSpPr>
          <p:cNvPr id="30" name="Text 28"/>
          <p:cNvSpPr txBox="1"/>
          <p:nvPr/>
        </p:nvSpPr>
        <p:spPr>
          <a:xfrm>
            <a:off x="8577072" y="1810512"/>
            <a:ext cx="2834640" cy="274320"/>
          </a:xfrm>
          <a:prstGeom prst="rect">
            <a:avLst/>
          </a:prstGeom>
          <a:noFill/>
          <a:ln/>
        </p:spPr>
        <p:txBody>
          <a:bodyPr wrap="square" lIns="0" tIns="0" rIns="0" bIns="0" rtlCol="0" anchor="ctr"/>
          <a:lstStyle/>
          <a:p>
            <a:pPr indent="0" marL="0">
              <a:buNone/>
            </a:pPr>
            <a:r>
              <a:rPr lang="en-US" sz="1100" b="1" spc="200" kern="0" dirty="0">
                <a:solidFill>
                  <a:srgbClr val="8FB8D4"/>
                </a:solidFill>
              </a:rPr>
              <a:t>CÔNG CỤ ĐÃ DÙNG</a:t>
            </a:r>
            <a:endParaRPr lang="en-US" sz="1100" dirty="0"/>
          </a:p>
        </p:txBody>
      </p:sp>
      <p:sp>
        <p:nvSpPr>
          <p:cNvPr id="31" name="Text 29"/>
          <p:cNvSpPr txBox="1"/>
          <p:nvPr/>
        </p:nvSpPr>
        <p:spPr>
          <a:xfrm>
            <a:off x="8577072" y="2212848"/>
            <a:ext cx="2834640" cy="256032"/>
          </a:xfrm>
          <a:prstGeom prst="rect">
            <a:avLst/>
          </a:prstGeom>
          <a:noFill/>
          <a:ln/>
        </p:spPr>
        <p:txBody>
          <a:bodyPr wrap="square" lIns="0" tIns="0" rIns="0" bIns="0" rtlCol="0" anchor="ctr"/>
          <a:lstStyle/>
          <a:p>
            <a:pPr indent="0" marL="0">
              <a:buNone/>
            </a:pPr>
            <a:r>
              <a:rPr lang="en-US" sz="1250" b="1" dirty="0">
                <a:solidFill>
                  <a:srgbClr val="FFFFFF"/>
                </a:solidFill>
              </a:rPr>
              <a:t>Trợ lý AI hội thoại</a:t>
            </a:r>
            <a:endParaRPr lang="en-US" sz="1250" dirty="0"/>
          </a:p>
        </p:txBody>
      </p:sp>
      <p:sp>
        <p:nvSpPr>
          <p:cNvPr id="32" name="Text 30"/>
          <p:cNvSpPr txBox="1"/>
          <p:nvPr/>
        </p:nvSpPr>
        <p:spPr>
          <a:xfrm>
            <a:off x="8577072" y="2459736"/>
            <a:ext cx="2834640" cy="548640"/>
          </a:xfrm>
          <a:prstGeom prst="rect">
            <a:avLst/>
          </a:prstGeom>
          <a:noFill/>
          <a:ln/>
        </p:spPr>
        <p:txBody>
          <a:bodyPr wrap="square" lIns="0" tIns="0" rIns="0" bIns="0" rtlCol="0" anchor="ctr"/>
          <a:lstStyle/>
          <a:p>
            <a:pPr indent="0" marL="0">
              <a:lnSpc>
                <a:spcPts val="1200"/>
              </a:lnSpc>
              <a:buNone/>
            </a:pPr>
            <a:r>
              <a:rPr lang="en-US" sz="1000" dirty="0">
                <a:solidFill>
                  <a:srgbClr val="A8C2D8"/>
                </a:solidFill>
              </a:rPr>
              <a:t>Claude · ChatGPT · Gemini — EDA, gợi ý hướng phân tích, sinh mã</a:t>
            </a:r>
            <a:endParaRPr lang="en-US" sz="1000" dirty="0"/>
          </a:p>
        </p:txBody>
      </p:sp>
      <p:sp>
        <p:nvSpPr>
          <p:cNvPr id="33" name="Text 31"/>
          <p:cNvSpPr txBox="1"/>
          <p:nvPr/>
        </p:nvSpPr>
        <p:spPr>
          <a:xfrm>
            <a:off x="8577072" y="3081528"/>
            <a:ext cx="2834640" cy="256032"/>
          </a:xfrm>
          <a:prstGeom prst="rect">
            <a:avLst/>
          </a:prstGeom>
          <a:noFill/>
          <a:ln/>
        </p:spPr>
        <p:txBody>
          <a:bodyPr wrap="square" lIns="0" tIns="0" rIns="0" bIns="0" rtlCol="0" anchor="ctr"/>
          <a:lstStyle/>
          <a:p>
            <a:pPr indent="0" marL="0">
              <a:buNone/>
            </a:pPr>
            <a:r>
              <a:rPr lang="en-US" sz="1250" b="1" dirty="0">
                <a:solidFill>
                  <a:srgbClr val="FFFFFF"/>
                </a:solidFill>
              </a:rPr>
              <a:t>Python 3 + pandas</a:t>
            </a:r>
            <a:endParaRPr lang="en-US" sz="1250" dirty="0"/>
          </a:p>
        </p:txBody>
      </p:sp>
      <p:sp>
        <p:nvSpPr>
          <p:cNvPr id="34" name="Text 32"/>
          <p:cNvSpPr txBox="1"/>
          <p:nvPr/>
        </p:nvSpPr>
        <p:spPr>
          <a:xfrm>
            <a:off x="8577072" y="3328416"/>
            <a:ext cx="2834640" cy="548640"/>
          </a:xfrm>
          <a:prstGeom prst="rect">
            <a:avLst/>
          </a:prstGeom>
          <a:noFill/>
          <a:ln/>
        </p:spPr>
        <p:txBody>
          <a:bodyPr wrap="square" lIns="0" tIns="0" rIns="0" bIns="0" rtlCol="0" anchor="ctr"/>
          <a:lstStyle/>
          <a:p>
            <a:pPr indent="0" marL="0">
              <a:lnSpc>
                <a:spcPts val="1200"/>
              </a:lnSpc>
              <a:buNone/>
            </a:pPr>
            <a:r>
              <a:rPr lang="en-US" sz="1000" dirty="0">
                <a:solidFill>
                  <a:srgbClr val="A8C2D8"/>
                </a:solidFill>
              </a:rPr>
              <a:t>Làm sạch, mã hóa và kiểm chứng toàn bộ số liệu</a:t>
            </a:r>
            <a:endParaRPr lang="en-US" sz="1000" dirty="0"/>
          </a:p>
        </p:txBody>
      </p:sp>
      <p:sp>
        <p:nvSpPr>
          <p:cNvPr id="35" name="Text 33"/>
          <p:cNvSpPr txBox="1"/>
          <p:nvPr/>
        </p:nvSpPr>
        <p:spPr>
          <a:xfrm>
            <a:off x="8577072" y="3950208"/>
            <a:ext cx="2834640" cy="256032"/>
          </a:xfrm>
          <a:prstGeom prst="rect">
            <a:avLst/>
          </a:prstGeom>
          <a:noFill/>
          <a:ln/>
        </p:spPr>
        <p:txBody>
          <a:bodyPr wrap="square" lIns="0" tIns="0" rIns="0" bIns="0" rtlCol="0" anchor="ctr"/>
          <a:lstStyle/>
          <a:p>
            <a:pPr indent="0" marL="0">
              <a:buNone/>
            </a:pPr>
            <a:r>
              <a:rPr lang="en-US" sz="1250" b="1" dirty="0">
                <a:solidFill>
                  <a:srgbClr val="FFFFFF"/>
                </a:solidFill>
              </a:rPr>
              <a:t>matplotlib</a:t>
            </a:r>
            <a:endParaRPr lang="en-US" sz="1250" dirty="0"/>
          </a:p>
        </p:txBody>
      </p:sp>
      <p:sp>
        <p:nvSpPr>
          <p:cNvPr id="36" name="Text 34"/>
          <p:cNvSpPr txBox="1"/>
          <p:nvPr/>
        </p:nvSpPr>
        <p:spPr>
          <a:xfrm>
            <a:off x="8577072" y="4197096"/>
            <a:ext cx="2834640" cy="548640"/>
          </a:xfrm>
          <a:prstGeom prst="rect">
            <a:avLst/>
          </a:prstGeom>
          <a:noFill/>
          <a:ln/>
        </p:spPr>
        <p:txBody>
          <a:bodyPr wrap="square" lIns="0" tIns="0" rIns="0" bIns="0" rtlCol="0" anchor="ctr"/>
          <a:lstStyle/>
          <a:p>
            <a:pPr indent="0" marL="0">
              <a:lnSpc>
                <a:spcPts val="1200"/>
              </a:lnSpc>
              <a:buNone/>
            </a:pPr>
            <a:r>
              <a:rPr lang="en-US" sz="1000" dirty="0">
                <a:solidFill>
                  <a:srgbClr val="A8C2D8"/>
                </a:solidFill>
              </a:rPr>
              <a:t>Vẽ 6 biểu đồ trình bày</a:t>
            </a:r>
            <a:endParaRPr lang="en-US" sz="1000" dirty="0"/>
          </a:p>
        </p:txBody>
      </p:sp>
      <p:sp>
        <p:nvSpPr>
          <p:cNvPr id="37" name="Text 35"/>
          <p:cNvSpPr txBox="1"/>
          <p:nvPr/>
        </p:nvSpPr>
        <p:spPr>
          <a:xfrm>
            <a:off x="8577072" y="4818888"/>
            <a:ext cx="2834640" cy="256032"/>
          </a:xfrm>
          <a:prstGeom prst="rect">
            <a:avLst/>
          </a:prstGeom>
          <a:noFill/>
          <a:ln/>
        </p:spPr>
        <p:txBody>
          <a:bodyPr wrap="square" lIns="0" tIns="0" rIns="0" bIns="0" rtlCol="0" anchor="ctr"/>
          <a:lstStyle/>
          <a:p>
            <a:pPr indent="0" marL="0">
              <a:buNone/>
            </a:pPr>
            <a:r>
              <a:rPr lang="en-US" sz="1250" b="1" dirty="0">
                <a:solidFill>
                  <a:srgbClr val="FFFFFF"/>
                </a:solidFill>
              </a:rPr>
              <a:t>scipy + scikit-learn</a:t>
            </a:r>
            <a:endParaRPr lang="en-US" sz="1250" dirty="0"/>
          </a:p>
        </p:txBody>
      </p:sp>
      <p:sp>
        <p:nvSpPr>
          <p:cNvPr id="38" name="Text 36"/>
          <p:cNvSpPr txBox="1"/>
          <p:nvPr/>
        </p:nvSpPr>
        <p:spPr>
          <a:xfrm>
            <a:off x="8577072" y="5065776"/>
            <a:ext cx="2834640" cy="548640"/>
          </a:xfrm>
          <a:prstGeom prst="rect">
            <a:avLst/>
          </a:prstGeom>
          <a:noFill/>
          <a:ln/>
        </p:spPr>
        <p:txBody>
          <a:bodyPr wrap="square" lIns="0" tIns="0" rIns="0" bIns="0" rtlCol="0" anchor="ctr"/>
          <a:lstStyle/>
          <a:p>
            <a:pPr indent="0" marL="0">
              <a:lnSpc>
                <a:spcPts val="1200"/>
              </a:lnSpc>
              <a:buNone/>
            </a:pPr>
            <a:r>
              <a:rPr lang="en-US" sz="1000" dirty="0">
                <a:solidFill>
                  <a:srgbClr val="A8C2D8"/>
                </a:solidFill>
              </a:rPr>
              <a:t>Kiểm định thống kê và mô hình dự báo</a:t>
            </a:r>
            <a:endParaRPr lang="en-US" sz="1000" dirty="0"/>
          </a:p>
        </p:txBody>
      </p:sp>
      <p:sp>
        <p:nvSpPr>
          <p:cNvPr id="39" name="Text 37"/>
          <p:cNvSpPr txBox="1"/>
          <p:nvPr/>
        </p:nvSpPr>
        <p:spPr>
          <a:xfrm>
            <a:off x="8577072" y="5669280"/>
            <a:ext cx="2834640" cy="402336"/>
          </a:xfrm>
          <a:prstGeom prst="rect">
            <a:avLst/>
          </a:prstGeom>
          <a:noFill/>
          <a:ln/>
        </p:spPr>
        <p:txBody>
          <a:bodyPr wrap="square" lIns="0" tIns="0" rIns="0" bIns="0" rtlCol="0" anchor="ctr"/>
          <a:lstStyle/>
          <a:p>
            <a:pPr indent="0" marL="0">
              <a:lnSpc>
                <a:spcPts val="1150"/>
              </a:lnSpc>
              <a:buNone/>
            </a:pPr>
            <a:r>
              <a:rPr lang="en-US" sz="950" i="1" dirty="0">
                <a:solidFill>
                  <a:srgbClr val="8FB8D4"/>
                </a:solidFill>
              </a:rPr>
              <a:t>Mọi con số trong báo cáo đều được nhóm chạy lại bằng Python để đối chiếu.</a:t>
            </a:r>
            <a:endParaRPr lang="en-US" sz="9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14600"/>
            <a:ext cx="10424160" cy="411480"/>
          </a:xfrm>
          <a:prstGeom prst="rect">
            <a:avLst/>
          </a:prstGeom>
          <a:noFill/>
          <a:ln/>
        </p:spPr>
        <p:txBody>
          <a:bodyPr wrap="square" rtlCol="0"/>
          <a:lstStyle/>
          <a:p>
            <a:pPr indent="0" marL="0">
              <a:buNone/>
            </a:pPr>
            <a:r>
              <a:rPr lang="en-US" sz="1600" b="1" spc="300" kern="0" dirty="0">
                <a:solidFill>
                  <a:srgbClr val="9FD2E8"/>
                </a:solidFill>
              </a:rPr>
              <a:t>PHẦN 3</a:t>
            </a:r>
            <a:endParaRPr lang="en-US" sz="1600" dirty="0"/>
          </a:p>
        </p:txBody>
      </p:sp>
      <p:sp>
        <p:nvSpPr>
          <p:cNvPr id="3" name="Text 0"/>
          <p:cNvSpPr txBox="1"/>
          <p:nvPr>
            <p:ph idx="101" type="title" hasCustomPrompt="1"/>
          </p:nvPr>
        </p:nvSpPr>
        <p:spPr>
          <a:xfrm>
            <a:off x="841248" y="2971800"/>
            <a:ext cx="10424160" cy="1005840"/>
          </a:xfrm>
          <a:prstGeom prst="rect">
            <a:avLst/>
          </a:prstGeom>
          <a:noFill/>
          <a:ln/>
        </p:spPr>
        <p:txBody>
          <a:bodyPr wrap="square" rtlCol="0"/>
          <a:lstStyle/>
          <a:p>
            <a:pPr algn="l" indent="0" marL="0">
              <a:buNone/>
            </a:pPr>
            <a:r>
              <a:rPr lang="en-US" sz="3800" b="1" dirty="0">
                <a:solidFill>
                  <a:srgbClr val="FFFFFF"/>
                </a:solidFill>
              </a:rPr>
              <a:t>Tiền xử lý dữ liệu</a:t>
            </a:r>
            <a:endParaRPr lang="en-US" sz="3800" dirty="0"/>
          </a:p>
        </p:txBody>
      </p:sp>
      <p:sp>
        <p:nvSpPr>
          <p:cNvPr id="4" name="Text 0"/>
          <p:cNvSpPr txBox="1"/>
          <p:nvPr>
            <p:ph idx="102" type="body" hasCustomPrompt="1"/>
          </p:nvPr>
        </p:nvSpPr>
        <p:spPr>
          <a:xfrm>
            <a:off x="841248" y="4023360"/>
            <a:ext cx="10424160" cy="822960"/>
          </a:xfrm>
          <a:prstGeom prst="rect">
            <a:avLst/>
          </a:prstGeom>
          <a:noFill/>
          <a:ln/>
        </p:spPr>
        <p:txBody>
          <a:bodyPr wrap="square" rtlCol="0"/>
          <a:lstStyle/>
          <a:p>
            <a:pPr indent="0" marL="0">
              <a:buNone/>
            </a:pPr>
            <a:r>
              <a:rPr lang="en-US" sz="1500" dirty="0">
                <a:solidFill>
                  <a:srgbClr val="C9E4F2"/>
                </a:solidFill>
              </a:rPr>
              <a:t>Bộ dữ liệu trông sạch, nhưng rà soát từng cột cho thấy 7 vấn đề cần xử lý</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Chẩn đoán: 7 vấn đề chất lượng dữ liệu</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Câu trả lời cho yêu cầu 2 — bộ dữ liệu CÓ cần tiền xử lý</a:t>
            </a:r>
            <a:endParaRPr lang="en-US" sz="1400" dirty="0"/>
          </a:p>
        </p:txBody>
      </p:sp>
      <p:sp>
        <p:nvSpPr>
          <p:cNvPr id="4" name="card_14"/>
          <p:cNvSpPr/>
          <p:nvPr/>
        </p:nvSpPr>
        <p:spPr>
          <a:xfrm>
            <a:off x="566928" y="1591056"/>
            <a:ext cx="11064240" cy="576072"/>
          </a:xfrm>
          <a:prstGeom prst="roundRect">
            <a:avLst>
              <a:gd name="adj" fmla="val 15873"/>
            </a:avLst>
          </a:prstGeom>
          <a:solidFill>
            <a:srgbClr val="EEF3F7"/>
          </a:solidFill>
          <a:ln/>
        </p:spPr>
      </p:sp>
      <p:sp>
        <p:nvSpPr>
          <p:cNvPr id="5" name="sev_0"/>
          <p:cNvSpPr/>
          <p:nvPr/>
        </p:nvSpPr>
        <p:spPr>
          <a:xfrm>
            <a:off x="768096" y="1792224"/>
            <a:ext cx="173736" cy="173736"/>
          </a:xfrm>
          <a:prstGeom prst="ellipse">
            <a:avLst/>
          </a:prstGeom>
          <a:solidFill>
            <a:srgbClr val="1C7293"/>
          </a:solidFill>
          <a:ln/>
        </p:spPr>
      </p:sp>
      <p:sp>
        <p:nvSpPr>
          <p:cNvPr id="6" name="Text 4"/>
          <p:cNvSpPr txBox="1"/>
          <p:nvPr/>
        </p:nvSpPr>
        <p:spPr>
          <a:xfrm>
            <a:off x="1078992" y="1636776"/>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Ô khuyết</a:t>
            </a:r>
            <a:endParaRPr lang="en-US" sz="1300" dirty="0"/>
          </a:p>
        </p:txBody>
      </p:sp>
      <p:sp>
        <p:nvSpPr>
          <p:cNvPr id="7" name="Text 5"/>
          <p:cNvSpPr txBox="1"/>
          <p:nvPr/>
        </p:nvSpPr>
        <p:spPr>
          <a:xfrm>
            <a:off x="4334256" y="1636776"/>
            <a:ext cx="5760720" cy="484632"/>
          </a:xfrm>
          <a:prstGeom prst="rect">
            <a:avLst/>
          </a:prstGeom>
          <a:noFill/>
          <a:ln/>
        </p:spPr>
        <p:txBody>
          <a:bodyPr wrap="square" lIns="0" tIns="0" rIns="0" bIns="0" rtlCol="0" anchor="ctr"/>
          <a:lstStyle/>
          <a:p>
            <a:pPr indent="0" marL="0">
              <a:buNone/>
            </a:pPr>
            <a:r>
              <a:rPr lang="en-US" sz="1150" dirty="0">
                <a:solidFill>
                  <a:srgbClr val="6D7A8C"/>
                </a:solidFill>
              </a:rPr>
              <a:t>3 ô ở biến Áp lực tài chính (0,011%)</a:t>
            </a:r>
            <a:endParaRPr lang="en-US" sz="1150" dirty="0"/>
          </a:p>
        </p:txBody>
      </p:sp>
      <p:sp>
        <p:nvSpPr>
          <p:cNvPr id="8" name="Text 6"/>
          <p:cNvSpPr txBox="1"/>
          <p:nvPr/>
        </p:nvSpPr>
        <p:spPr>
          <a:xfrm>
            <a:off x="10168128" y="1636776"/>
            <a:ext cx="1325880" cy="484632"/>
          </a:xfrm>
          <a:prstGeom prst="rect">
            <a:avLst/>
          </a:prstGeom>
          <a:noFill/>
          <a:ln/>
        </p:spPr>
        <p:txBody>
          <a:bodyPr wrap="square" lIns="0" tIns="0" rIns="0" bIns="0" rtlCol="0" anchor="ctr"/>
          <a:lstStyle/>
          <a:p>
            <a:pPr algn="r" indent="0" marL="0">
              <a:buNone/>
            </a:pPr>
            <a:r>
              <a:rPr lang="en-US" sz="1100" b="1" dirty="0">
                <a:solidFill>
                  <a:srgbClr val="1C7293"/>
                </a:solidFill>
              </a:rPr>
              <a:t>Rất nhẹ</a:t>
            </a:r>
            <a:endParaRPr lang="en-US" sz="1100" dirty="0"/>
          </a:p>
        </p:txBody>
      </p:sp>
      <p:sp>
        <p:nvSpPr>
          <p:cNvPr id="9" name="card_15"/>
          <p:cNvSpPr/>
          <p:nvPr/>
        </p:nvSpPr>
        <p:spPr>
          <a:xfrm>
            <a:off x="566928" y="2263140"/>
            <a:ext cx="11064240" cy="576072"/>
          </a:xfrm>
          <a:prstGeom prst="roundRect">
            <a:avLst>
              <a:gd name="adj" fmla="val 15873"/>
            </a:avLst>
          </a:prstGeom>
          <a:solidFill>
            <a:srgbClr val="FFFFFF"/>
          </a:solidFill>
          <a:ln/>
        </p:spPr>
      </p:sp>
      <p:sp>
        <p:nvSpPr>
          <p:cNvPr id="10" name="sev_1"/>
          <p:cNvSpPr/>
          <p:nvPr/>
        </p:nvSpPr>
        <p:spPr>
          <a:xfrm>
            <a:off x="768096" y="2464308"/>
            <a:ext cx="173736" cy="173736"/>
          </a:xfrm>
          <a:prstGeom prst="ellipse">
            <a:avLst/>
          </a:prstGeom>
          <a:solidFill>
            <a:srgbClr val="1BAF7A"/>
          </a:solidFill>
          <a:ln/>
        </p:spPr>
      </p:sp>
      <p:sp>
        <p:nvSpPr>
          <p:cNvPr id="11" name="Text 9"/>
          <p:cNvSpPr txBox="1"/>
          <p:nvPr/>
        </p:nvSpPr>
        <p:spPr>
          <a:xfrm>
            <a:off x="1078992" y="2308860"/>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Trùng lặp</a:t>
            </a:r>
            <a:endParaRPr lang="en-US" sz="1300" dirty="0"/>
          </a:p>
        </p:txBody>
      </p:sp>
      <p:sp>
        <p:nvSpPr>
          <p:cNvPr id="12" name="Text 10"/>
          <p:cNvSpPr txBox="1"/>
          <p:nvPr/>
        </p:nvSpPr>
        <p:spPr>
          <a:xfrm>
            <a:off x="4334256" y="2308860"/>
            <a:ext cx="5760720" cy="484632"/>
          </a:xfrm>
          <a:prstGeom prst="rect">
            <a:avLst/>
          </a:prstGeom>
          <a:noFill/>
          <a:ln/>
        </p:spPr>
        <p:txBody>
          <a:bodyPr wrap="square" lIns="0" tIns="0" rIns="0" bIns="0" rtlCol="0" anchor="ctr"/>
          <a:lstStyle/>
          <a:p>
            <a:pPr indent="0" marL="0">
              <a:buNone/>
            </a:pPr>
            <a:r>
              <a:rPr lang="en-US" sz="1150" dirty="0">
                <a:solidFill>
                  <a:srgbClr val="6D7A8C"/>
                </a:solidFill>
              </a:rPr>
              <a:t>0 bản ghi trùng trên toàn bộ 27.901 dòng</a:t>
            </a:r>
            <a:endParaRPr lang="en-US" sz="1150" dirty="0"/>
          </a:p>
        </p:txBody>
      </p:sp>
      <p:sp>
        <p:nvSpPr>
          <p:cNvPr id="13" name="Text 11"/>
          <p:cNvSpPr txBox="1"/>
          <p:nvPr/>
        </p:nvSpPr>
        <p:spPr>
          <a:xfrm>
            <a:off x="10168128" y="2308860"/>
            <a:ext cx="1325880" cy="484632"/>
          </a:xfrm>
          <a:prstGeom prst="rect">
            <a:avLst/>
          </a:prstGeom>
          <a:noFill/>
          <a:ln/>
        </p:spPr>
        <p:txBody>
          <a:bodyPr wrap="square" lIns="0" tIns="0" rIns="0" bIns="0" rtlCol="0" anchor="ctr"/>
          <a:lstStyle/>
          <a:p>
            <a:pPr algn="r" indent="0" marL="0">
              <a:buNone/>
            </a:pPr>
            <a:r>
              <a:rPr lang="en-US" sz="1100" b="1" dirty="0">
                <a:solidFill>
                  <a:srgbClr val="1BAF7A"/>
                </a:solidFill>
              </a:rPr>
              <a:t>Không có</a:t>
            </a:r>
            <a:endParaRPr lang="en-US" sz="1100" dirty="0"/>
          </a:p>
        </p:txBody>
      </p:sp>
      <p:sp>
        <p:nvSpPr>
          <p:cNvPr id="14" name="card_16"/>
          <p:cNvSpPr/>
          <p:nvPr/>
        </p:nvSpPr>
        <p:spPr>
          <a:xfrm>
            <a:off x="566928" y="2935224"/>
            <a:ext cx="11064240" cy="576072"/>
          </a:xfrm>
          <a:prstGeom prst="roundRect">
            <a:avLst>
              <a:gd name="adj" fmla="val 15873"/>
            </a:avLst>
          </a:prstGeom>
          <a:solidFill>
            <a:srgbClr val="EEF3F7"/>
          </a:solidFill>
          <a:ln/>
        </p:spPr>
      </p:sp>
      <p:sp>
        <p:nvSpPr>
          <p:cNvPr id="15" name="sev_2"/>
          <p:cNvSpPr/>
          <p:nvPr/>
        </p:nvSpPr>
        <p:spPr>
          <a:xfrm>
            <a:off x="768096" y="3136392"/>
            <a:ext cx="173736" cy="173736"/>
          </a:xfrm>
          <a:prstGeom prst="ellipse">
            <a:avLst/>
          </a:prstGeom>
          <a:solidFill>
            <a:srgbClr val="D03B3B"/>
          </a:solidFill>
          <a:ln/>
        </p:spPr>
      </p:sp>
      <p:sp>
        <p:nvSpPr>
          <p:cNvPr id="16" name="Text 14"/>
          <p:cNvSpPr txBox="1"/>
          <p:nvPr/>
        </p:nvSpPr>
        <p:spPr>
          <a:xfrm>
            <a:off x="1078992" y="2980944"/>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Cột gần như hằng số</a:t>
            </a:r>
            <a:endParaRPr lang="en-US" sz="1300" dirty="0"/>
          </a:p>
        </p:txBody>
      </p:sp>
      <p:sp>
        <p:nvSpPr>
          <p:cNvPr id="17" name="Text 15"/>
          <p:cNvSpPr txBox="1"/>
          <p:nvPr/>
        </p:nvSpPr>
        <p:spPr>
          <a:xfrm>
            <a:off x="4334256" y="2980944"/>
            <a:ext cx="5760720" cy="484632"/>
          </a:xfrm>
          <a:prstGeom prst="rect">
            <a:avLst/>
          </a:prstGeom>
          <a:noFill/>
          <a:ln/>
        </p:spPr>
        <p:txBody>
          <a:bodyPr wrap="square" lIns="0" tIns="0" rIns="0" bIns="0" rtlCol="0" anchor="ctr"/>
          <a:lstStyle/>
          <a:p>
            <a:pPr indent="0" marL="0">
              <a:buNone/>
            </a:pPr>
            <a:r>
              <a:rPr lang="en-US" sz="1150" dirty="0">
                <a:solidFill>
                  <a:srgbClr val="6D7A8C"/>
                </a:solidFill>
              </a:rPr>
              <a:t>Nghề nghiệp 99,9% là "Student"; Áp lực công việc và Hài lòng công việc trên 99,9% bằng 0</a:t>
            </a:r>
            <a:endParaRPr lang="en-US" sz="1150" dirty="0"/>
          </a:p>
        </p:txBody>
      </p:sp>
      <p:sp>
        <p:nvSpPr>
          <p:cNvPr id="18" name="Text 16"/>
          <p:cNvSpPr txBox="1"/>
          <p:nvPr/>
        </p:nvSpPr>
        <p:spPr>
          <a:xfrm>
            <a:off x="10168128" y="2980944"/>
            <a:ext cx="1325880" cy="484632"/>
          </a:xfrm>
          <a:prstGeom prst="rect">
            <a:avLst/>
          </a:prstGeom>
          <a:noFill/>
          <a:ln/>
        </p:spPr>
        <p:txBody>
          <a:bodyPr wrap="square" lIns="0" tIns="0" rIns="0" bIns="0" rtlCol="0" anchor="ctr"/>
          <a:lstStyle/>
          <a:p>
            <a:pPr algn="r" indent="0" marL="0">
              <a:buNone/>
            </a:pPr>
            <a:r>
              <a:rPr lang="en-US" sz="1100" b="1" dirty="0">
                <a:solidFill>
                  <a:srgbClr val="D03B3B"/>
                </a:solidFill>
              </a:rPr>
              <a:t>Nghiêm trọng</a:t>
            </a:r>
            <a:endParaRPr lang="en-US" sz="1100" dirty="0"/>
          </a:p>
        </p:txBody>
      </p:sp>
      <p:sp>
        <p:nvSpPr>
          <p:cNvPr id="19" name="card_17"/>
          <p:cNvSpPr/>
          <p:nvPr/>
        </p:nvSpPr>
        <p:spPr>
          <a:xfrm>
            <a:off x="566928" y="3607308"/>
            <a:ext cx="11064240" cy="576072"/>
          </a:xfrm>
          <a:prstGeom prst="roundRect">
            <a:avLst>
              <a:gd name="adj" fmla="val 15873"/>
            </a:avLst>
          </a:prstGeom>
          <a:solidFill>
            <a:srgbClr val="FFFFFF"/>
          </a:solidFill>
          <a:ln/>
        </p:spPr>
      </p:sp>
      <p:sp>
        <p:nvSpPr>
          <p:cNvPr id="20" name="sev_3"/>
          <p:cNvSpPr/>
          <p:nvPr/>
        </p:nvSpPr>
        <p:spPr>
          <a:xfrm>
            <a:off x="768096" y="3808476"/>
            <a:ext cx="173736" cy="173736"/>
          </a:xfrm>
          <a:prstGeom prst="ellipse">
            <a:avLst/>
          </a:prstGeom>
          <a:solidFill>
            <a:srgbClr val="EDA100"/>
          </a:solidFill>
          <a:ln/>
        </p:spPr>
      </p:sp>
      <p:sp>
        <p:nvSpPr>
          <p:cNvPr id="21" name="Text 19"/>
          <p:cNvSpPr txBox="1"/>
          <p:nvPr/>
        </p:nvSpPr>
        <p:spPr>
          <a:xfrm>
            <a:off x="1078992" y="3653028"/>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Giá trị ngoài thang đo</a:t>
            </a:r>
            <a:endParaRPr lang="en-US" sz="1300" dirty="0"/>
          </a:p>
        </p:txBody>
      </p:sp>
      <p:sp>
        <p:nvSpPr>
          <p:cNvPr id="22" name="Text 20"/>
          <p:cNvSpPr txBox="1"/>
          <p:nvPr/>
        </p:nvSpPr>
        <p:spPr>
          <a:xfrm>
            <a:off x="4334256" y="3653028"/>
            <a:ext cx="5760720" cy="484632"/>
          </a:xfrm>
          <a:prstGeom prst="rect">
            <a:avLst/>
          </a:prstGeom>
          <a:noFill/>
          <a:ln/>
        </p:spPr>
        <p:txBody>
          <a:bodyPr wrap="square" lIns="0" tIns="0" rIns="0" bIns="0" rtlCol="0" anchor="ctr"/>
          <a:lstStyle/>
          <a:p>
            <a:pPr indent="0" marL="0">
              <a:buNone/>
            </a:pPr>
            <a:r>
              <a:rPr lang="en-US" sz="1150" dirty="0">
                <a:solidFill>
                  <a:srgbClr val="6D7A8C"/>
                </a:solidFill>
              </a:rPr>
              <a:t>9 ô Áp lực học tập và 10 ô Hài lòng việc học bằng 0, trong khi thang đo là 1–5</a:t>
            </a:r>
            <a:endParaRPr lang="en-US" sz="1150" dirty="0"/>
          </a:p>
        </p:txBody>
      </p:sp>
      <p:sp>
        <p:nvSpPr>
          <p:cNvPr id="23" name="Text 21"/>
          <p:cNvSpPr txBox="1"/>
          <p:nvPr/>
        </p:nvSpPr>
        <p:spPr>
          <a:xfrm>
            <a:off x="10168128" y="3653028"/>
            <a:ext cx="1325880" cy="484632"/>
          </a:xfrm>
          <a:prstGeom prst="rect">
            <a:avLst/>
          </a:prstGeom>
          <a:noFill/>
          <a:ln/>
        </p:spPr>
        <p:txBody>
          <a:bodyPr wrap="square" lIns="0" tIns="0" rIns="0" bIns="0" rtlCol="0" anchor="ctr"/>
          <a:lstStyle/>
          <a:p>
            <a:pPr algn="r" indent="0" marL="0">
              <a:buNone/>
            </a:pPr>
            <a:r>
              <a:rPr lang="en-US" sz="1100" b="1" dirty="0">
                <a:solidFill>
                  <a:srgbClr val="EDA100"/>
                </a:solidFill>
              </a:rPr>
              <a:t>Trung bình</a:t>
            </a:r>
            <a:endParaRPr lang="en-US" sz="1100" dirty="0"/>
          </a:p>
        </p:txBody>
      </p:sp>
      <p:sp>
        <p:nvSpPr>
          <p:cNvPr id="24" name="card_18"/>
          <p:cNvSpPr/>
          <p:nvPr/>
        </p:nvSpPr>
        <p:spPr>
          <a:xfrm>
            <a:off x="566928" y="4279392"/>
            <a:ext cx="11064240" cy="576072"/>
          </a:xfrm>
          <a:prstGeom prst="roundRect">
            <a:avLst>
              <a:gd name="adj" fmla="val 15873"/>
            </a:avLst>
          </a:prstGeom>
          <a:solidFill>
            <a:srgbClr val="EEF3F7"/>
          </a:solidFill>
          <a:ln/>
        </p:spPr>
      </p:sp>
      <p:sp>
        <p:nvSpPr>
          <p:cNvPr id="25" name="sev_4"/>
          <p:cNvSpPr/>
          <p:nvPr/>
        </p:nvSpPr>
        <p:spPr>
          <a:xfrm>
            <a:off x="768096" y="4480560"/>
            <a:ext cx="173736" cy="173736"/>
          </a:xfrm>
          <a:prstGeom prst="ellipse">
            <a:avLst/>
          </a:prstGeom>
          <a:solidFill>
            <a:srgbClr val="EDA100"/>
          </a:solidFill>
          <a:ln/>
        </p:spPr>
      </p:sp>
      <p:sp>
        <p:nvSpPr>
          <p:cNvPr id="26" name="Text 24"/>
          <p:cNvSpPr txBox="1"/>
          <p:nvPr/>
        </p:nvSpPr>
        <p:spPr>
          <a:xfrm>
            <a:off x="1078992" y="4325112"/>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Giá trị bất khả thi</a:t>
            </a:r>
            <a:endParaRPr lang="en-US" sz="1300" dirty="0"/>
          </a:p>
        </p:txBody>
      </p:sp>
      <p:sp>
        <p:nvSpPr>
          <p:cNvPr id="27" name="Text 25"/>
          <p:cNvSpPr txBox="1"/>
          <p:nvPr/>
        </p:nvSpPr>
        <p:spPr>
          <a:xfrm>
            <a:off x="4334256" y="4325112"/>
            <a:ext cx="5760720" cy="484632"/>
          </a:xfrm>
          <a:prstGeom prst="rect">
            <a:avLst/>
          </a:prstGeom>
          <a:noFill/>
          <a:ln/>
        </p:spPr>
        <p:txBody>
          <a:bodyPr wrap="square" lIns="0" tIns="0" rIns="0" bIns="0" rtlCol="0" anchor="ctr"/>
          <a:lstStyle/>
          <a:p>
            <a:pPr indent="0" marL="0">
              <a:buNone/>
            </a:pPr>
            <a:r>
              <a:rPr lang="en-US" sz="1150" dirty="0">
                <a:solidFill>
                  <a:srgbClr val="6D7A8C"/>
                </a:solidFill>
              </a:rPr>
              <a:t>9 sinh viên có điểm CGPA bằng 0</a:t>
            </a:r>
            <a:endParaRPr lang="en-US" sz="1150" dirty="0"/>
          </a:p>
        </p:txBody>
      </p:sp>
      <p:sp>
        <p:nvSpPr>
          <p:cNvPr id="28" name="Text 26"/>
          <p:cNvSpPr txBox="1"/>
          <p:nvPr/>
        </p:nvSpPr>
        <p:spPr>
          <a:xfrm>
            <a:off x="10168128" y="4325112"/>
            <a:ext cx="1325880" cy="484632"/>
          </a:xfrm>
          <a:prstGeom prst="rect">
            <a:avLst/>
          </a:prstGeom>
          <a:noFill/>
          <a:ln/>
        </p:spPr>
        <p:txBody>
          <a:bodyPr wrap="square" lIns="0" tIns="0" rIns="0" bIns="0" rtlCol="0" anchor="ctr"/>
          <a:lstStyle/>
          <a:p>
            <a:pPr algn="r" indent="0" marL="0">
              <a:buNone/>
            </a:pPr>
            <a:r>
              <a:rPr lang="en-US" sz="1100" b="1" dirty="0">
                <a:solidFill>
                  <a:srgbClr val="EDA100"/>
                </a:solidFill>
              </a:rPr>
              <a:t>Trung bình</a:t>
            </a:r>
            <a:endParaRPr lang="en-US" sz="1100" dirty="0"/>
          </a:p>
        </p:txBody>
      </p:sp>
      <p:sp>
        <p:nvSpPr>
          <p:cNvPr id="29" name="card_19"/>
          <p:cNvSpPr/>
          <p:nvPr/>
        </p:nvSpPr>
        <p:spPr>
          <a:xfrm>
            <a:off x="566928" y="4951476"/>
            <a:ext cx="11064240" cy="576072"/>
          </a:xfrm>
          <a:prstGeom prst="roundRect">
            <a:avLst>
              <a:gd name="adj" fmla="val 15873"/>
            </a:avLst>
          </a:prstGeom>
          <a:solidFill>
            <a:srgbClr val="FFFFFF"/>
          </a:solidFill>
          <a:ln/>
        </p:spPr>
      </p:sp>
      <p:sp>
        <p:nvSpPr>
          <p:cNvPr id="30" name="sev_5"/>
          <p:cNvSpPr/>
          <p:nvPr/>
        </p:nvSpPr>
        <p:spPr>
          <a:xfrm>
            <a:off x="768096" y="5152644"/>
            <a:ext cx="173736" cy="173736"/>
          </a:xfrm>
          <a:prstGeom prst="ellipse">
            <a:avLst/>
          </a:prstGeom>
          <a:solidFill>
            <a:srgbClr val="1C7293"/>
          </a:solidFill>
          <a:ln/>
        </p:spPr>
      </p:sp>
      <p:sp>
        <p:nvSpPr>
          <p:cNvPr id="31" name="Text 29"/>
          <p:cNvSpPr txBox="1"/>
          <p:nvPr/>
        </p:nvSpPr>
        <p:spPr>
          <a:xfrm>
            <a:off x="1078992" y="4997196"/>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Nhãn rác "Others"</a:t>
            </a:r>
            <a:endParaRPr lang="en-US" sz="1300" dirty="0"/>
          </a:p>
        </p:txBody>
      </p:sp>
      <p:sp>
        <p:nvSpPr>
          <p:cNvPr id="32" name="Text 30"/>
          <p:cNvSpPr txBox="1"/>
          <p:nvPr/>
        </p:nvSpPr>
        <p:spPr>
          <a:xfrm>
            <a:off x="4334256" y="4997196"/>
            <a:ext cx="5760720" cy="484632"/>
          </a:xfrm>
          <a:prstGeom prst="rect">
            <a:avLst/>
          </a:prstGeom>
          <a:noFill/>
          <a:ln/>
        </p:spPr>
        <p:txBody>
          <a:bodyPr wrap="square" lIns="0" tIns="0" rIns="0" bIns="0" rtlCol="0" anchor="ctr"/>
          <a:lstStyle/>
          <a:p>
            <a:pPr indent="0" marL="0">
              <a:buNone/>
            </a:pPr>
            <a:r>
              <a:rPr lang="en-US" sz="1150" dirty="0">
                <a:solidFill>
                  <a:srgbClr val="6D7A8C"/>
                </a:solidFill>
              </a:rPr>
              <a:t>18 ô Thời lượng ngủ, 12 ô Chế độ ăn, 35 ô Bằng cấp</a:t>
            </a:r>
            <a:endParaRPr lang="en-US" sz="1150" dirty="0"/>
          </a:p>
        </p:txBody>
      </p:sp>
      <p:sp>
        <p:nvSpPr>
          <p:cNvPr id="33" name="Text 31"/>
          <p:cNvSpPr txBox="1"/>
          <p:nvPr/>
        </p:nvSpPr>
        <p:spPr>
          <a:xfrm>
            <a:off x="10168128" y="4997196"/>
            <a:ext cx="1325880" cy="484632"/>
          </a:xfrm>
          <a:prstGeom prst="rect">
            <a:avLst/>
          </a:prstGeom>
          <a:noFill/>
          <a:ln/>
        </p:spPr>
        <p:txBody>
          <a:bodyPr wrap="square" lIns="0" tIns="0" rIns="0" bIns="0" rtlCol="0" anchor="ctr"/>
          <a:lstStyle/>
          <a:p>
            <a:pPr algn="r" indent="0" marL="0">
              <a:buNone/>
            </a:pPr>
            <a:r>
              <a:rPr lang="en-US" sz="1100" b="1" dirty="0">
                <a:solidFill>
                  <a:srgbClr val="1C7293"/>
                </a:solidFill>
              </a:rPr>
              <a:t>Nhẹ</a:t>
            </a:r>
            <a:endParaRPr lang="en-US" sz="1100" dirty="0"/>
          </a:p>
        </p:txBody>
      </p:sp>
      <p:sp>
        <p:nvSpPr>
          <p:cNvPr id="34" name="card_20"/>
          <p:cNvSpPr/>
          <p:nvPr/>
        </p:nvSpPr>
        <p:spPr>
          <a:xfrm>
            <a:off x="566928" y="5623560"/>
            <a:ext cx="11064240" cy="576072"/>
          </a:xfrm>
          <a:prstGeom prst="roundRect">
            <a:avLst>
              <a:gd name="adj" fmla="val 15873"/>
            </a:avLst>
          </a:prstGeom>
          <a:solidFill>
            <a:srgbClr val="EEF3F7"/>
          </a:solidFill>
          <a:ln/>
        </p:spPr>
      </p:sp>
      <p:sp>
        <p:nvSpPr>
          <p:cNvPr id="35" name="sev_6"/>
          <p:cNvSpPr/>
          <p:nvPr/>
        </p:nvSpPr>
        <p:spPr>
          <a:xfrm>
            <a:off x="768096" y="5824728"/>
            <a:ext cx="173736" cy="173736"/>
          </a:xfrm>
          <a:prstGeom prst="ellipse">
            <a:avLst/>
          </a:prstGeom>
          <a:solidFill>
            <a:srgbClr val="D03B3B"/>
          </a:solidFill>
          <a:ln/>
        </p:spPr>
      </p:sp>
      <p:sp>
        <p:nvSpPr>
          <p:cNvPr id="36" name="Text 34"/>
          <p:cNvSpPr txBox="1"/>
          <p:nvPr/>
        </p:nvSpPr>
        <p:spPr>
          <a:xfrm>
            <a:off x="1078992" y="5669280"/>
            <a:ext cx="3200400" cy="484632"/>
          </a:xfrm>
          <a:prstGeom prst="rect">
            <a:avLst/>
          </a:prstGeom>
          <a:noFill/>
          <a:ln/>
        </p:spPr>
        <p:txBody>
          <a:bodyPr wrap="square" lIns="0" tIns="0" rIns="0" bIns="0" rtlCol="0" anchor="ctr"/>
          <a:lstStyle/>
          <a:p>
            <a:pPr indent="0" marL="0">
              <a:buNone/>
            </a:pPr>
            <a:r>
              <a:rPr lang="en-US" sz="1300" b="1" dirty="0">
                <a:solidFill>
                  <a:srgbClr val="16213A"/>
                </a:solidFill>
              </a:rPr>
              <a:t>Lỗi nhập liệu ở cột Thành phố</a:t>
            </a:r>
            <a:endParaRPr lang="en-US" sz="1300" dirty="0"/>
          </a:p>
        </p:txBody>
      </p:sp>
      <p:sp>
        <p:nvSpPr>
          <p:cNvPr id="37" name="Text 35"/>
          <p:cNvSpPr txBox="1"/>
          <p:nvPr/>
        </p:nvSpPr>
        <p:spPr>
          <a:xfrm>
            <a:off x="4334256" y="5669280"/>
            <a:ext cx="5760720" cy="484632"/>
          </a:xfrm>
          <a:prstGeom prst="rect">
            <a:avLst/>
          </a:prstGeom>
          <a:noFill/>
          <a:ln/>
        </p:spPr>
        <p:txBody>
          <a:bodyPr wrap="square" lIns="0" tIns="0" rIns="0" bIns="0" rtlCol="0" anchor="ctr"/>
          <a:lstStyle/>
          <a:p>
            <a:pPr indent="0" marL="0">
              <a:buNone/>
            </a:pPr>
            <a:r>
              <a:rPr lang="en-US" sz="1150" dirty="0">
                <a:solidFill>
                  <a:srgbClr val="6D7A8C"/>
                </a:solidFill>
              </a:rPr>
              <a:t>26 ô chứa tên người (Saanvi, Gaurav…), mã bằng cấp (M.Tech) hoặc chuỗi lỗi ("Less Delhi")</a:t>
            </a:r>
            <a:endParaRPr lang="en-US" sz="1150" dirty="0"/>
          </a:p>
        </p:txBody>
      </p:sp>
      <p:sp>
        <p:nvSpPr>
          <p:cNvPr id="38" name="Text 36"/>
          <p:cNvSpPr txBox="1"/>
          <p:nvPr/>
        </p:nvSpPr>
        <p:spPr>
          <a:xfrm>
            <a:off x="10168128" y="5669280"/>
            <a:ext cx="1325880" cy="484632"/>
          </a:xfrm>
          <a:prstGeom prst="rect">
            <a:avLst/>
          </a:prstGeom>
          <a:noFill/>
          <a:ln/>
        </p:spPr>
        <p:txBody>
          <a:bodyPr wrap="square" lIns="0" tIns="0" rIns="0" bIns="0" rtlCol="0" anchor="ctr"/>
          <a:lstStyle/>
          <a:p>
            <a:pPr algn="r" indent="0" marL="0">
              <a:buNone/>
            </a:pPr>
            <a:r>
              <a:rPr lang="en-US" sz="1100" b="1" dirty="0">
                <a:solidFill>
                  <a:srgbClr val="D03B3B"/>
                </a:solidFill>
              </a:rPr>
              <a:t>Nghiêm trọng</a:t>
            </a:r>
            <a:endParaRPr lang="en-US" sz="11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Quy trình tiền xử lý 6 bước</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Giữ nguyên 100% bản ghi — chỉ sửa giá trị sai, không xóa sinh viên nào</a:t>
            </a:r>
            <a:endParaRPr lang="en-US" sz="1400" dirty="0"/>
          </a:p>
        </p:txBody>
      </p:sp>
      <p:sp>
        <p:nvSpPr>
          <p:cNvPr id="4" name="card_21"/>
          <p:cNvSpPr/>
          <p:nvPr/>
        </p:nvSpPr>
        <p:spPr>
          <a:xfrm>
            <a:off x="566928" y="1609344"/>
            <a:ext cx="3520440" cy="1389888"/>
          </a:xfrm>
          <a:prstGeom prst="roundRect">
            <a:avLst>
              <a:gd name="adj" fmla="val 6579"/>
            </a:avLst>
          </a:prstGeom>
          <a:solidFill>
            <a:srgbClr val="EEF3F7"/>
          </a:solidFill>
          <a:ln/>
        </p:spPr>
      </p:sp>
      <p:sp>
        <p:nvSpPr>
          <p:cNvPr id="5" name="dot_11"/>
          <p:cNvSpPr/>
          <p:nvPr/>
        </p:nvSpPr>
        <p:spPr>
          <a:xfrm>
            <a:off x="786384" y="1810512"/>
            <a:ext cx="420624" cy="420624"/>
          </a:xfrm>
          <a:prstGeom prst="ellipse">
            <a:avLst/>
          </a:prstGeom>
          <a:solidFill>
            <a:srgbClr val="065A82"/>
          </a:solidFill>
          <a:ln/>
        </p:spPr>
      </p:sp>
      <p:sp>
        <p:nvSpPr>
          <p:cNvPr id="6" name="Text 4"/>
          <p:cNvSpPr txBox="1"/>
          <p:nvPr/>
        </p:nvSpPr>
        <p:spPr>
          <a:xfrm>
            <a:off x="786384"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16736" y="1847088"/>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Loại bỏ 4 cột</a:t>
            </a:r>
            <a:endParaRPr lang="en-US" sz="1350" dirty="0"/>
          </a:p>
        </p:txBody>
      </p:sp>
      <p:sp>
        <p:nvSpPr>
          <p:cNvPr id="8" name="Text 6"/>
          <p:cNvSpPr txBox="1"/>
          <p:nvPr/>
        </p:nvSpPr>
        <p:spPr>
          <a:xfrm>
            <a:off x="786384" y="2322576"/>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id (định danh), Nghề nghiệp, Áp lực công việc, Hài lòng công việc — gần như hằng số, không mang thông tin phân biệt</a:t>
            </a:r>
            <a:endParaRPr lang="en-US" sz="1050" dirty="0"/>
          </a:p>
        </p:txBody>
      </p:sp>
      <p:sp>
        <p:nvSpPr>
          <p:cNvPr id="9" name="card_22"/>
          <p:cNvSpPr/>
          <p:nvPr/>
        </p:nvSpPr>
        <p:spPr>
          <a:xfrm>
            <a:off x="4288536" y="1609344"/>
            <a:ext cx="3520440" cy="1389888"/>
          </a:xfrm>
          <a:prstGeom prst="roundRect">
            <a:avLst>
              <a:gd name="adj" fmla="val 6579"/>
            </a:avLst>
          </a:prstGeom>
          <a:solidFill>
            <a:srgbClr val="EEF3F7"/>
          </a:solidFill>
          <a:ln/>
        </p:spPr>
      </p:sp>
      <p:sp>
        <p:nvSpPr>
          <p:cNvPr id="10" name="dot_12"/>
          <p:cNvSpPr/>
          <p:nvPr/>
        </p:nvSpPr>
        <p:spPr>
          <a:xfrm>
            <a:off x="4507992" y="1810512"/>
            <a:ext cx="420624" cy="420624"/>
          </a:xfrm>
          <a:prstGeom prst="ellipse">
            <a:avLst/>
          </a:prstGeom>
          <a:solidFill>
            <a:srgbClr val="1C7293"/>
          </a:solidFill>
          <a:ln/>
        </p:spPr>
      </p:sp>
      <p:sp>
        <p:nvSpPr>
          <p:cNvPr id="11" name="Text 9"/>
          <p:cNvSpPr txBox="1"/>
          <p:nvPr/>
        </p:nvSpPr>
        <p:spPr>
          <a:xfrm>
            <a:off x="4507992"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5038344" y="1847088"/>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Làm sạch cột Thành phố</a:t>
            </a:r>
            <a:endParaRPr lang="en-US" sz="1350" dirty="0"/>
          </a:p>
        </p:txBody>
      </p:sp>
      <p:sp>
        <p:nvSpPr>
          <p:cNvPr id="13" name="Text 11"/>
          <p:cNvSpPr txBox="1"/>
          <p:nvPr/>
        </p:nvSpPr>
        <p:spPr>
          <a:xfrm>
            <a:off x="4507992" y="2322576"/>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Giữ 30 thành phố có từ 10 bản ghi trở lên; 26 giá trị rác chuyển thành khuyết</a:t>
            </a:r>
            <a:endParaRPr lang="en-US" sz="1050" dirty="0"/>
          </a:p>
        </p:txBody>
      </p:sp>
      <p:sp>
        <p:nvSpPr>
          <p:cNvPr id="14" name="card_23"/>
          <p:cNvSpPr/>
          <p:nvPr/>
        </p:nvSpPr>
        <p:spPr>
          <a:xfrm>
            <a:off x="8010144" y="1609344"/>
            <a:ext cx="3520440" cy="1389888"/>
          </a:xfrm>
          <a:prstGeom prst="roundRect">
            <a:avLst>
              <a:gd name="adj" fmla="val 6579"/>
            </a:avLst>
          </a:prstGeom>
          <a:solidFill>
            <a:srgbClr val="EEF3F7"/>
          </a:solidFill>
          <a:ln/>
        </p:spPr>
      </p:sp>
      <p:sp>
        <p:nvSpPr>
          <p:cNvPr id="15" name="dot_13"/>
          <p:cNvSpPr/>
          <p:nvPr/>
        </p:nvSpPr>
        <p:spPr>
          <a:xfrm>
            <a:off x="8229600" y="1810512"/>
            <a:ext cx="420624" cy="420624"/>
          </a:xfrm>
          <a:prstGeom prst="ellipse">
            <a:avLst/>
          </a:prstGeom>
          <a:solidFill>
            <a:srgbClr val="EDA100"/>
          </a:solidFill>
          <a:ln/>
        </p:spPr>
      </p:sp>
      <p:sp>
        <p:nvSpPr>
          <p:cNvPr id="16" name="Text 14"/>
          <p:cNvSpPr txBox="1"/>
          <p:nvPr/>
        </p:nvSpPr>
        <p:spPr>
          <a:xfrm>
            <a:off x="8229600"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8759952" y="1847088"/>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Chuẩn hóa thang đo</a:t>
            </a:r>
            <a:endParaRPr lang="en-US" sz="1350" dirty="0"/>
          </a:p>
        </p:txBody>
      </p:sp>
      <p:sp>
        <p:nvSpPr>
          <p:cNvPr id="18" name="Text 16"/>
          <p:cNvSpPr txBox="1"/>
          <p:nvPr/>
        </p:nvSpPr>
        <p:spPr>
          <a:xfrm>
            <a:off x="8229600" y="2322576"/>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Giá trị 0 ngoài thang 1–5 và CGPA bằng 0 chuyển thành khuyết (28 ô)</a:t>
            </a:r>
            <a:endParaRPr lang="en-US" sz="1050" dirty="0"/>
          </a:p>
        </p:txBody>
      </p:sp>
      <p:sp>
        <p:nvSpPr>
          <p:cNvPr id="19" name="card_24"/>
          <p:cNvSpPr/>
          <p:nvPr/>
        </p:nvSpPr>
        <p:spPr>
          <a:xfrm>
            <a:off x="566928" y="3182112"/>
            <a:ext cx="3520440" cy="1389888"/>
          </a:xfrm>
          <a:prstGeom prst="roundRect">
            <a:avLst>
              <a:gd name="adj" fmla="val 6579"/>
            </a:avLst>
          </a:prstGeom>
          <a:solidFill>
            <a:srgbClr val="EEF3F7"/>
          </a:solidFill>
          <a:ln/>
        </p:spPr>
      </p:sp>
      <p:sp>
        <p:nvSpPr>
          <p:cNvPr id="20" name="dot_14"/>
          <p:cNvSpPr/>
          <p:nvPr/>
        </p:nvSpPr>
        <p:spPr>
          <a:xfrm>
            <a:off x="786384" y="3383280"/>
            <a:ext cx="420624" cy="420624"/>
          </a:xfrm>
          <a:prstGeom prst="ellipse">
            <a:avLst/>
          </a:prstGeom>
          <a:solidFill>
            <a:srgbClr val="2A78D6"/>
          </a:solidFill>
          <a:ln/>
        </p:spPr>
      </p:sp>
      <p:sp>
        <p:nvSpPr>
          <p:cNvPr id="21" name="Text 19"/>
          <p:cNvSpPr txBox="1"/>
          <p:nvPr/>
        </p:nvSpPr>
        <p:spPr>
          <a:xfrm>
            <a:off x="786384"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316736" y="3419856"/>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Xử lý nhãn rác</a:t>
            </a:r>
            <a:endParaRPr lang="en-US" sz="1350" dirty="0"/>
          </a:p>
        </p:txBody>
      </p:sp>
      <p:sp>
        <p:nvSpPr>
          <p:cNvPr id="23" name="Text 21"/>
          <p:cNvSpPr txBox="1"/>
          <p:nvPr/>
        </p:nvSpPr>
        <p:spPr>
          <a:xfrm>
            <a:off x="786384" y="3895344"/>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65 nhãn "Others" ở 3 biến phân loại chuyển thành khuyết</a:t>
            </a:r>
            <a:endParaRPr lang="en-US" sz="1050" dirty="0"/>
          </a:p>
        </p:txBody>
      </p:sp>
      <p:sp>
        <p:nvSpPr>
          <p:cNvPr id="24" name="card_25"/>
          <p:cNvSpPr/>
          <p:nvPr/>
        </p:nvSpPr>
        <p:spPr>
          <a:xfrm>
            <a:off x="4288536" y="3182112"/>
            <a:ext cx="3520440" cy="1389888"/>
          </a:xfrm>
          <a:prstGeom prst="roundRect">
            <a:avLst>
              <a:gd name="adj" fmla="val 6579"/>
            </a:avLst>
          </a:prstGeom>
          <a:solidFill>
            <a:srgbClr val="EEF3F7"/>
          </a:solidFill>
          <a:ln/>
        </p:spPr>
      </p:sp>
      <p:sp>
        <p:nvSpPr>
          <p:cNvPr id="25" name="dot_15"/>
          <p:cNvSpPr/>
          <p:nvPr/>
        </p:nvSpPr>
        <p:spPr>
          <a:xfrm>
            <a:off x="4507992" y="3383280"/>
            <a:ext cx="420624" cy="420624"/>
          </a:xfrm>
          <a:prstGeom prst="ellipse">
            <a:avLst/>
          </a:prstGeom>
          <a:solidFill>
            <a:srgbClr val="D03B3B"/>
          </a:solidFill>
          <a:ln/>
        </p:spPr>
      </p:sp>
      <p:sp>
        <p:nvSpPr>
          <p:cNvPr id="26" name="Text 24"/>
          <p:cNvSpPr txBox="1"/>
          <p:nvPr/>
        </p:nvSpPr>
        <p:spPr>
          <a:xfrm>
            <a:off x="4507992"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5038344" y="3419856"/>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Điền khuyết</a:t>
            </a:r>
            <a:endParaRPr lang="en-US" sz="1350" dirty="0"/>
          </a:p>
        </p:txBody>
      </p:sp>
      <p:sp>
        <p:nvSpPr>
          <p:cNvPr id="28" name="Text 26"/>
          <p:cNvSpPr txBox="1"/>
          <p:nvPr/>
        </p:nvSpPr>
        <p:spPr>
          <a:xfrm>
            <a:off x="4507992" y="3895344"/>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122 ô: trung vị cho biến số, giá trị phổ biến nhất cho biến phân loại</a:t>
            </a:r>
            <a:endParaRPr lang="en-US" sz="1050" dirty="0"/>
          </a:p>
        </p:txBody>
      </p:sp>
      <p:sp>
        <p:nvSpPr>
          <p:cNvPr id="29" name="card_26"/>
          <p:cNvSpPr/>
          <p:nvPr/>
        </p:nvSpPr>
        <p:spPr>
          <a:xfrm>
            <a:off x="8010144" y="3182112"/>
            <a:ext cx="3520440" cy="1389888"/>
          </a:xfrm>
          <a:prstGeom prst="roundRect">
            <a:avLst>
              <a:gd name="adj" fmla="val 6579"/>
            </a:avLst>
          </a:prstGeom>
          <a:solidFill>
            <a:srgbClr val="EEF3F7"/>
          </a:solidFill>
          <a:ln/>
        </p:spPr>
      </p:sp>
      <p:sp>
        <p:nvSpPr>
          <p:cNvPr id="30" name="dot_16"/>
          <p:cNvSpPr/>
          <p:nvPr/>
        </p:nvSpPr>
        <p:spPr>
          <a:xfrm>
            <a:off x="8229600" y="3383280"/>
            <a:ext cx="420624" cy="420624"/>
          </a:xfrm>
          <a:prstGeom prst="ellipse">
            <a:avLst/>
          </a:prstGeom>
          <a:solidFill>
            <a:srgbClr val="1BAF7A"/>
          </a:solidFill>
          <a:ln/>
        </p:spPr>
      </p:sp>
      <p:sp>
        <p:nvSpPr>
          <p:cNvPr id="31" name="Text 29"/>
          <p:cNvSpPr txBox="1"/>
          <p:nvPr/>
        </p:nvSpPr>
        <p:spPr>
          <a:xfrm>
            <a:off x="8229600"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8759952" y="3419856"/>
            <a:ext cx="2606040" cy="329184"/>
          </a:xfrm>
          <a:prstGeom prst="rect">
            <a:avLst/>
          </a:prstGeom>
          <a:noFill/>
          <a:ln/>
        </p:spPr>
        <p:txBody>
          <a:bodyPr wrap="square" lIns="0" tIns="0" rIns="0" bIns="0" rtlCol="0" anchor="ctr"/>
          <a:lstStyle/>
          <a:p>
            <a:pPr indent="0" marL="0">
              <a:buNone/>
            </a:pPr>
            <a:r>
              <a:rPr lang="en-US" sz="1350" b="1" dirty="0">
                <a:solidFill>
                  <a:srgbClr val="16213A"/>
                </a:solidFill>
              </a:rPr>
              <a:t>Mã hóa biến</a:t>
            </a:r>
            <a:endParaRPr lang="en-US" sz="1350" dirty="0"/>
          </a:p>
        </p:txBody>
      </p:sp>
      <p:sp>
        <p:nvSpPr>
          <p:cNvPr id="33" name="Text 31"/>
          <p:cNvSpPr txBox="1"/>
          <p:nvPr/>
        </p:nvSpPr>
        <p:spPr>
          <a:xfrm>
            <a:off x="8229600" y="3895344"/>
            <a:ext cx="31089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Thời lượng ngủ → số giờ; Chế độ ăn → thang 1–3; Có/Không → 1/0</a:t>
            </a:r>
            <a:endParaRPr lang="en-US" sz="1050" dirty="0"/>
          </a:p>
        </p:txBody>
      </p:sp>
      <p:sp>
        <p:nvSpPr>
          <p:cNvPr id="34" name="card_27"/>
          <p:cNvSpPr/>
          <p:nvPr/>
        </p:nvSpPr>
        <p:spPr>
          <a:xfrm>
            <a:off x="566928" y="4882896"/>
            <a:ext cx="11064240" cy="1115568"/>
          </a:xfrm>
          <a:prstGeom prst="roundRect">
            <a:avLst>
              <a:gd name="adj" fmla="val 8197"/>
            </a:avLst>
          </a:prstGeom>
          <a:solidFill>
            <a:srgbClr val="16213A"/>
          </a:solidFill>
          <a:ln/>
        </p:spPr>
      </p:sp>
      <p:sp>
        <p:nvSpPr>
          <p:cNvPr id="35" name="Text 33"/>
          <p:cNvSpPr txBox="1"/>
          <p:nvPr/>
        </p:nvSpPr>
        <p:spPr>
          <a:xfrm>
            <a:off x="795528" y="5047488"/>
            <a:ext cx="2560320"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27.901 → 27.901</a:t>
            </a:r>
            <a:endParaRPr lang="en-US" sz="2100" dirty="0"/>
          </a:p>
        </p:txBody>
      </p:sp>
      <p:sp>
        <p:nvSpPr>
          <p:cNvPr id="36" name="Text 34"/>
          <p:cNvSpPr txBox="1"/>
          <p:nvPr/>
        </p:nvSpPr>
        <p:spPr>
          <a:xfrm>
            <a:off x="795528" y="5449824"/>
            <a:ext cx="2560320" cy="292608"/>
          </a:xfrm>
          <a:prstGeom prst="rect">
            <a:avLst/>
          </a:prstGeom>
          <a:noFill/>
          <a:ln/>
        </p:spPr>
        <p:txBody>
          <a:bodyPr wrap="square" lIns="0" tIns="0" rIns="0" bIns="0" rtlCol="0" anchor="ctr"/>
          <a:lstStyle/>
          <a:p>
            <a:pPr algn="ctr" indent="0" marL="0">
              <a:buNone/>
            </a:pPr>
            <a:r>
              <a:rPr lang="en-US" sz="1100" dirty="0">
                <a:solidFill>
                  <a:srgbClr val="9FD2E8"/>
                </a:solidFill>
              </a:rPr>
              <a:t>Bản ghi (giữ 100%)</a:t>
            </a:r>
            <a:endParaRPr lang="en-US" sz="1100" dirty="0"/>
          </a:p>
        </p:txBody>
      </p:sp>
      <p:sp>
        <p:nvSpPr>
          <p:cNvPr id="37" name="Text 35"/>
          <p:cNvSpPr txBox="1"/>
          <p:nvPr/>
        </p:nvSpPr>
        <p:spPr>
          <a:xfrm>
            <a:off x="3520440" y="5047488"/>
            <a:ext cx="2560320"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18 → 14</a:t>
            </a:r>
            <a:endParaRPr lang="en-US" sz="2100" dirty="0"/>
          </a:p>
        </p:txBody>
      </p:sp>
      <p:sp>
        <p:nvSpPr>
          <p:cNvPr id="38" name="Text 36"/>
          <p:cNvSpPr txBox="1"/>
          <p:nvPr/>
        </p:nvSpPr>
        <p:spPr>
          <a:xfrm>
            <a:off x="3520440" y="5449824"/>
            <a:ext cx="2560320" cy="292608"/>
          </a:xfrm>
          <a:prstGeom prst="rect">
            <a:avLst/>
          </a:prstGeom>
          <a:noFill/>
          <a:ln/>
        </p:spPr>
        <p:txBody>
          <a:bodyPr wrap="square" lIns="0" tIns="0" rIns="0" bIns="0" rtlCol="0" anchor="ctr"/>
          <a:lstStyle/>
          <a:p>
            <a:pPr algn="ctr" indent="0" marL="0">
              <a:buNone/>
            </a:pPr>
            <a:r>
              <a:rPr lang="en-US" sz="1100" dirty="0">
                <a:solidFill>
                  <a:srgbClr val="9FD2E8"/>
                </a:solidFill>
              </a:rPr>
              <a:t>Cột gốc giữ lại</a:t>
            </a:r>
            <a:endParaRPr lang="en-US" sz="1100" dirty="0"/>
          </a:p>
        </p:txBody>
      </p:sp>
      <p:sp>
        <p:nvSpPr>
          <p:cNvPr id="39" name="Text 37"/>
          <p:cNvSpPr txBox="1"/>
          <p:nvPr/>
        </p:nvSpPr>
        <p:spPr>
          <a:xfrm>
            <a:off x="6245352" y="5047488"/>
            <a:ext cx="2560320"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+5</a:t>
            </a:r>
            <a:endParaRPr lang="en-US" sz="2100" dirty="0"/>
          </a:p>
        </p:txBody>
      </p:sp>
      <p:sp>
        <p:nvSpPr>
          <p:cNvPr id="40" name="Text 38"/>
          <p:cNvSpPr txBox="1"/>
          <p:nvPr/>
        </p:nvSpPr>
        <p:spPr>
          <a:xfrm>
            <a:off x="6245352" y="5449824"/>
            <a:ext cx="2560320" cy="292608"/>
          </a:xfrm>
          <a:prstGeom prst="rect">
            <a:avLst/>
          </a:prstGeom>
          <a:noFill/>
          <a:ln/>
        </p:spPr>
        <p:txBody>
          <a:bodyPr wrap="square" lIns="0" tIns="0" rIns="0" bIns="0" rtlCol="0" anchor="ctr"/>
          <a:lstStyle/>
          <a:p>
            <a:pPr algn="ctr" indent="0" marL="0">
              <a:buNone/>
            </a:pPr>
            <a:r>
              <a:rPr lang="en-US" sz="1100" dirty="0">
                <a:solidFill>
                  <a:srgbClr val="9FD2E8"/>
                </a:solidFill>
              </a:rPr>
              <a:t>Biến mã hóa mới</a:t>
            </a:r>
            <a:endParaRPr lang="en-US" sz="1100" dirty="0"/>
          </a:p>
        </p:txBody>
      </p:sp>
      <p:sp>
        <p:nvSpPr>
          <p:cNvPr id="41" name="Text 39"/>
          <p:cNvSpPr txBox="1"/>
          <p:nvPr/>
        </p:nvSpPr>
        <p:spPr>
          <a:xfrm>
            <a:off x="8970264" y="5047488"/>
            <a:ext cx="2560320" cy="38404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19</a:t>
            </a:r>
            <a:endParaRPr lang="en-US" sz="2100" dirty="0"/>
          </a:p>
        </p:txBody>
      </p:sp>
      <p:sp>
        <p:nvSpPr>
          <p:cNvPr id="42" name="Text 40"/>
          <p:cNvSpPr txBox="1"/>
          <p:nvPr/>
        </p:nvSpPr>
        <p:spPr>
          <a:xfrm>
            <a:off x="8970264" y="5449824"/>
            <a:ext cx="2560320" cy="292608"/>
          </a:xfrm>
          <a:prstGeom prst="rect">
            <a:avLst/>
          </a:prstGeom>
          <a:noFill/>
          <a:ln/>
        </p:spPr>
        <p:txBody>
          <a:bodyPr wrap="square" lIns="0" tIns="0" rIns="0" bIns="0" rtlCol="0" anchor="ctr"/>
          <a:lstStyle/>
          <a:p>
            <a:pPr algn="ctr" indent="0" marL="0">
              <a:buNone/>
            </a:pPr>
            <a:r>
              <a:rPr lang="en-US" sz="1100" dirty="0">
                <a:solidFill>
                  <a:srgbClr val="6EE7B7"/>
                </a:solidFill>
              </a:rPr>
              <a:t>Tổng số cột</a:t>
            </a:r>
            <a:endParaRPr lang="en-US" sz="11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14600"/>
            <a:ext cx="10424160" cy="411480"/>
          </a:xfrm>
          <a:prstGeom prst="rect">
            <a:avLst/>
          </a:prstGeom>
          <a:noFill/>
          <a:ln/>
        </p:spPr>
        <p:txBody>
          <a:bodyPr wrap="square" rtlCol="0"/>
          <a:lstStyle/>
          <a:p>
            <a:pPr indent="0" marL="0">
              <a:buNone/>
            </a:pPr>
            <a:r>
              <a:rPr lang="en-US" sz="1600" b="1" spc="300" kern="0" dirty="0">
                <a:solidFill>
                  <a:srgbClr val="9FD2E8"/>
                </a:solidFill>
              </a:rPr>
              <a:t>PHẦN 4</a:t>
            </a:r>
            <a:endParaRPr lang="en-US" sz="1600" dirty="0"/>
          </a:p>
        </p:txBody>
      </p:sp>
      <p:sp>
        <p:nvSpPr>
          <p:cNvPr id="3" name="Text 0"/>
          <p:cNvSpPr txBox="1"/>
          <p:nvPr>
            <p:ph idx="101" type="title" hasCustomPrompt="1"/>
          </p:nvPr>
        </p:nvSpPr>
        <p:spPr>
          <a:xfrm>
            <a:off x="841248" y="2971800"/>
            <a:ext cx="10424160" cy="1005840"/>
          </a:xfrm>
          <a:prstGeom prst="rect">
            <a:avLst/>
          </a:prstGeom>
          <a:noFill/>
          <a:ln/>
        </p:spPr>
        <p:txBody>
          <a:bodyPr wrap="square" rtlCol="0"/>
          <a:lstStyle/>
          <a:p>
            <a:pPr algn="l" indent="0" marL="0">
              <a:buNone/>
            </a:pPr>
            <a:r>
              <a:rPr lang="en-US" sz="3800" b="1" dirty="0">
                <a:solidFill>
                  <a:srgbClr val="FFFFFF"/>
                </a:solidFill>
              </a:rPr>
              <a:t>Kết quả phân tích</a:t>
            </a:r>
            <a:endParaRPr lang="en-US" sz="3800" dirty="0"/>
          </a:p>
        </p:txBody>
      </p:sp>
      <p:sp>
        <p:nvSpPr>
          <p:cNvPr id="4" name="Text 0"/>
          <p:cNvSpPr txBox="1"/>
          <p:nvPr>
            <p:ph idx="102" type="body" hasCustomPrompt="1"/>
          </p:nvPr>
        </p:nvSpPr>
        <p:spPr>
          <a:xfrm>
            <a:off x="841248" y="4023360"/>
            <a:ext cx="10424160" cy="822960"/>
          </a:xfrm>
          <a:prstGeom prst="rect">
            <a:avLst/>
          </a:prstGeom>
          <a:noFill/>
          <a:ln/>
        </p:spPr>
        <p:txBody>
          <a:bodyPr wrap="square" rtlCol="0"/>
          <a:lstStyle/>
          <a:p>
            <a:pPr indent="0" marL="0">
              <a:buNone/>
            </a:pPr>
            <a:r>
              <a:rPr lang="en-US" sz="1500" dirty="0">
                <a:solidFill>
                  <a:srgbClr val="C9E4F2"/>
                </a:solidFill>
              </a:rPr>
              <a:t>6 biểu đồ trả lời câu hỏi: yếu tố nào thực sự liên quan đến trầm cảm?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Áp lực học tập và áp lực tài chính</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Quan hệ đơn điệu rõ rệt: mức áp lực càng cao, tỷ lệ trầm cảm càng cao</a:t>
            </a:r>
            <a:endParaRPr lang="en-US" sz="1400" dirty="0"/>
          </a:p>
        </p:txBody>
      </p:sp>
      <p:pic>
        <p:nvPicPr>
          <p:cNvPr id="4" name="Image 0" descr="/tmp/claude-0/-home-user-about/7f9787d4-c743-5828-973b-7494043f4138/scratchpad/charts/c2_pressure.png">    </p:cNvPr>
          <p:cNvPicPr>
            <a:picLocks noChangeAspect="1"/>
          </p:cNvPicPr>
          <p:nvPr/>
        </p:nvPicPr>
        <p:blipFill>
          <a:blip r:embed="rId1"/>
          <a:stretch>
            <a:fillRect/>
          </a:stretch>
        </p:blipFill>
        <p:spPr>
          <a:xfrm>
            <a:off x="562356" y="1572768"/>
            <a:ext cx="11064240" cy="3931920"/>
          </a:xfrm>
          <a:prstGeom prst="rect">
            <a:avLst/>
          </a:prstGeom>
        </p:spPr>
      </p:pic>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Xếp hạng toàn bộ yếu tố</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Tương quan point-biserial với biến mục tiêu · N = 27.901</a:t>
            </a:r>
            <a:endParaRPr lang="en-US" sz="1400" dirty="0"/>
          </a:p>
        </p:txBody>
      </p:sp>
      <p:pic>
        <p:nvPicPr>
          <p:cNvPr id="4" name="Image 0" descr="/tmp/claude-0/-home-user-about/7f9787d4-c743-5828-973b-7494043f4138/scratchpad/charts/c3_corr.png">    </p:cNvPr>
          <p:cNvPicPr>
            <a:picLocks noChangeAspect="1"/>
          </p:cNvPicPr>
          <p:nvPr/>
        </p:nvPicPr>
        <p:blipFill>
          <a:blip r:embed="rId1"/>
          <a:stretch>
            <a:fillRect/>
          </a:stretch>
        </p:blipFill>
        <p:spPr>
          <a:xfrm>
            <a:off x="566928" y="1572768"/>
            <a:ext cx="7863840" cy="4434840"/>
          </a:xfrm>
          <a:prstGeom prst="rect">
            <a:avLst/>
          </a:prstGeom>
        </p:spPr>
      </p:pic>
      <p:sp>
        <p:nvSpPr>
          <p:cNvPr id="5" name="card_28"/>
          <p:cNvSpPr/>
          <p:nvPr/>
        </p:nvSpPr>
        <p:spPr>
          <a:xfrm>
            <a:off x="8705088" y="1572768"/>
            <a:ext cx="2926080" cy="4434840"/>
          </a:xfrm>
          <a:prstGeom prst="roundRect">
            <a:avLst>
              <a:gd name="adj" fmla="val 3125"/>
            </a:avLst>
          </a:prstGeom>
          <a:solidFill>
            <a:srgbClr val="EEF3F7"/>
          </a:solidFill>
          <a:ln/>
        </p:spPr>
      </p:sp>
      <p:sp>
        <p:nvSpPr>
          <p:cNvPr id="6" name="Text 3"/>
          <p:cNvSpPr txBox="1"/>
          <p:nvPr/>
        </p:nvSpPr>
        <p:spPr>
          <a:xfrm>
            <a:off x="8942832" y="1737360"/>
            <a:ext cx="2450592" cy="4105656"/>
          </a:xfrm>
          <a:prstGeom prst="rect">
            <a:avLst/>
          </a:prstGeom>
          <a:noFill/>
          <a:ln/>
        </p:spPr>
        <p:txBody>
          <a:bodyPr wrap="square" lIns="0" tIns="0" rIns="0" bIns="0" rtlCol="0" anchor="t"/>
          <a:lstStyle/>
          <a:p>
            <a:pPr marL="342900" indent="-342900">
              <a:lnSpc>
                <a:spcPts val="1600"/>
              </a:lnSpc>
              <a:spcAft>
                <a:spcPts val="1100"/>
              </a:spcAft>
              <a:buSzPct val="100000"/>
              <a:buChar char="▪"/>
            </a:pPr>
            <a:r>
              <a:rPr lang="en-US" sz="1250" dirty="0">
                <a:solidFill>
                  <a:srgbClr val="16213A"/>
                </a:solidFill>
              </a:rPr>
              <a:t>Ý định tự tử là tín hiệu mạnh nhất (r = 0,546) — cần được xem như chỉ báo cảnh báo sớm, không phải hệ quả</a:t>
            </a:r>
            <a:endParaRPr lang="en-US" sz="1250" dirty="0"/>
          </a:p>
          <a:p>
            <a:pPr marL="342900" indent="-342900">
              <a:lnSpc>
                <a:spcPts val="1600"/>
              </a:lnSpc>
              <a:spcAft>
                <a:spcPts val="1100"/>
              </a:spcAft>
              <a:buSzPct val="100000"/>
              <a:buChar char="▪"/>
            </a:pPr>
            <a:r>
              <a:rPr lang="en-US" sz="1250" dirty="0">
                <a:solidFill>
                  <a:srgbClr val="16213A"/>
                </a:solidFill>
              </a:rPr>
              <a:t>Áp lực học tập (0,475) vượt xa mọi yếu tố lối sống</a:t>
            </a:r>
            <a:endParaRPr lang="en-US" sz="1250" dirty="0"/>
          </a:p>
          <a:p>
            <a:pPr marL="342900" indent="-342900">
              <a:lnSpc>
                <a:spcPts val="1600"/>
              </a:lnSpc>
              <a:spcAft>
                <a:spcPts val="1100"/>
              </a:spcAft>
              <a:buSzPct val="100000"/>
              <a:buChar char="▪"/>
            </a:pPr>
            <a:r>
              <a:rPr lang="en-US" sz="1250" dirty="0">
                <a:solidFill>
                  <a:srgbClr val="16213A"/>
                </a:solidFill>
              </a:rPr>
              <a:t>Điểm CGPA gần như KHÔNG liên quan (r = 0,022): học giỏi không đồng nghĩa với khỏe mạnh tâm lý</a:t>
            </a:r>
            <a:endParaRPr lang="en-US" sz="1250" dirty="0"/>
          </a:p>
          <a:p>
            <a:pPr marL="342900" indent="-342900">
              <a:lnSpc>
                <a:spcPts val="1600"/>
              </a:lnSpc>
              <a:spcAft>
                <a:spcPts val="1100"/>
              </a:spcAft>
              <a:buSzPct val="100000"/>
              <a:buChar char="▪"/>
            </a:pPr>
            <a:r>
              <a:rPr lang="en-US" sz="1250" dirty="0">
                <a:solidFill>
                  <a:srgbClr val="16213A"/>
                </a:solidFill>
              </a:rPr>
              <a:t>Giới tính KHÔNG tạo khác biệt (p = 0,76) — nam 58,6% so với nữ 58,5%</a:t>
            </a:r>
            <a:endParaRPr lang="en-US" sz="1250" dirty="0"/>
          </a:p>
          <a:p>
            <a:pPr marL="342900" indent="-342900">
              <a:lnSpc>
                <a:spcPts val="1600"/>
              </a:lnSpc>
              <a:spcAft>
                <a:spcPts val="1100"/>
              </a:spcAft>
              <a:buSzPct val="100000"/>
              <a:buChar char="▪"/>
            </a:pPr>
            <a:r>
              <a:rPr lang="en-US" sz="1250" dirty="0">
                <a:solidFill>
                  <a:srgbClr val="16213A"/>
                </a:solidFill>
              </a:rPr>
              <a:t>Tiền sử gia đình chỉ ở mức rất yếu (0,053), thấp hơn nhiều so với các yếu tố hoàn cảnh</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Lối sống: giấc ngủ và dinh dưỡng</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Hai biến lối sống có thể can thiệp được</a:t>
            </a:r>
            <a:endParaRPr lang="en-US" sz="1400" dirty="0"/>
          </a:p>
        </p:txBody>
      </p:sp>
      <p:pic>
        <p:nvPicPr>
          <p:cNvPr id="4" name="Image 0" descr="/tmp/claude-0/-home-user-about/7f9787d4-c743-5828-973b-7494043f4138/scratchpad/charts/c4_lifestyle.png">    </p:cNvPr>
          <p:cNvPicPr>
            <a:picLocks noChangeAspect="1"/>
          </p:cNvPicPr>
          <p:nvPr/>
        </p:nvPicPr>
        <p:blipFill>
          <a:blip r:embed="rId1"/>
          <a:stretch>
            <a:fillRect/>
          </a:stretch>
        </p:blipFill>
        <p:spPr>
          <a:xfrm>
            <a:off x="562356" y="1572768"/>
            <a:ext cx="11064240" cy="3931920"/>
          </a:xfrm>
          <a:prstGeom prst="rect">
            <a:avLst/>
          </a:prstGeom>
        </p:spPr>
      </p:pic>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Tuổi và cường độ học tập</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Sinh viên năm đầu là nhóm dễ tổn thương nhất</a:t>
            </a:r>
            <a:endParaRPr lang="en-US" sz="1400" dirty="0"/>
          </a:p>
        </p:txBody>
      </p:sp>
      <p:pic>
        <p:nvPicPr>
          <p:cNvPr id="4" name="Image 0" descr="/tmp/claude-0/-home-user-about/7f9787d4-c743-5828-973b-7494043f4138/scratchpad/charts/c5_age_hours.png">    </p:cNvPr>
          <p:cNvPicPr>
            <a:picLocks noChangeAspect="1"/>
          </p:cNvPicPr>
          <p:nvPr/>
        </p:nvPicPr>
        <p:blipFill>
          <a:blip r:embed="rId1"/>
          <a:stretch>
            <a:fillRect/>
          </a:stretch>
        </p:blipFill>
        <p:spPr>
          <a:xfrm>
            <a:off x="562356" y="1572768"/>
            <a:ext cx="11064240" cy="3931920"/>
          </a:xfrm>
          <a:prstGeom prst="rect">
            <a:avLst/>
          </a:prstGeom>
        </p:spPr>
      </p:pic>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Khi hai yếu tố cùng xuất hiện</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Áp lực học tập × Ý định tự tử · giá trị trong ô là tỷ lệ trầm cảm</a:t>
            </a:r>
            <a:endParaRPr lang="en-US" sz="1400" dirty="0"/>
          </a:p>
        </p:txBody>
      </p:sp>
      <p:pic>
        <p:nvPicPr>
          <p:cNvPr id="4" name="Image 0" descr="/tmp/claude-0/-home-user-about/7f9787d4-c743-5828-973b-7494043f4138/scratchpad/charts/c8_heat.png">    </p:cNvPr>
          <p:cNvPicPr>
            <a:picLocks noChangeAspect="1"/>
          </p:cNvPicPr>
          <p:nvPr/>
        </p:nvPicPr>
        <p:blipFill>
          <a:blip r:embed="rId1"/>
          <a:stretch>
            <a:fillRect/>
          </a:stretch>
        </p:blipFill>
        <p:spPr>
          <a:xfrm>
            <a:off x="566928" y="1572768"/>
            <a:ext cx="6675120" cy="4389120"/>
          </a:xfrm>
          <a:prstGeom prst="rect">
            <a:avLst/>
          </a:prstGeom>
        </p:spPr>
      </p:pic>
      <p:sp>
        <p:nvSpPr>
          <p:cNvPr id="5" name="card_29"/>
          <p:cNvSpPr/>
          <p:nvPr/>
        </p:nvSpPr>
        <p:spPr>
          <a:xfrm>
            <a:off x="7516368" y="1572768"/>
            <a:ext cx="4114800" cy="4389120"/>
          </a:xfrm>
          <a:prstGeom prst="roundRect">
            <a:avLst>
              <a:gd name="adj" fmla="val 2222"/>
            </a:avLst>
          </a:prstGeom>
          <a:solidFill>
            <a:srgbClr val="EEF3F7"/>
          </a:solidFill>
          <a:ln/>
        </p:spPr>
      </p:sp>
      <p:sp>
        <p:nvSpPr>
          <p:cNvPr id="6" name="Text 3"/>
          <p:cNvSpPr txBox="1"/>
          <p:nvPr/>
        </p:nvSpPr>
        <p:spPr>
          <a:xfrm>
            <a:off x="7754112" y="1737360"/>
            <a:ext cx="3639312" cy="4059936"/>
          </a:xfrm>
          <a:prstGeom prst="rect">
            <a:avLst/>
          </a:prstGeom>
          <a:noFill/>
          <a:ln/>
        </p:spPr>
        <p:txBody>
          <a:bodyPr wrap="square" lIns="0" tIns="0" rIns="0" bIns="0" rtlCol="0" anchor="t"/>
          <a:lstStyle/>
          <a:p>
            <a:pPr marL="342900" indent="-342900">
              <a:lnSpc>
                <a:spcPts val="1600"/>
              </a:lnSpc>
              <a:spcAft>
                <a:spcPts val="1100"/>
              </a:spcAft>
              <a:buSzPct val="100000"/>
              <a:buChar char="▪"/>
            </a:pPr>
            <a:r>
              <a:rPr lang="en-US" sz="1250" dirty="0">
                <a:solidFill>
                  <a:srgbClr val="16213A"/>
                </a:solidFill>
              </a:rPr>
              <a:t>Ô an toàn nhất: áp lực mức 1 + không có ý định tự tử → chỉ 5,5%</a:t>
            </a:r>
            <a:endParaRPr lang="en-US" sz="1250" dirty="0"/>
          </a:p>
          <a:p>
            <a:pPr marL="342900" indent="-342900">
              <a:lnSpc>
                <a:spcPts val="1600"/>
              </a:lnSpc>
              <a:spcAft>
                <a:spcPts val="1100"/>
              </a:spcAft>
              <a:buSzPct val="100000"/>
              <a:buChar char="▪"/>
            </a:pPr>
            <a:r>
              <a:rPr lang="en-US" sz="1250" dirty="0">
                <a:solidFill>
                  <a:srgbClr val="16213A"/>
                </a:solidFill>
              </a:rPr>
              <a:t>Ô rủi ro nhất: áp lực mức 5 + có ý định tự tử → 94,5%</a:t>
            </a:r>
            <a:endParaRPr lang="en-US" sz="1250" dirty="0"/>
          </a:p>
          <a:p>
            <a:pPr marL="342900" indent="-342900">
              <a:lnSpc>
                <a:spcPts val="1600"/>
              </a:lnSpc>
              <a:spcAft>
                <a:spcPts val="1100"/>
              </a:spcAft>
              <a:buSzPct val="100000"/>
              <a:buChar char="▪"/>
            </a:pPr>
            <a:r>
              <a:rPr lang="en-US" sz="1250" dirty="0">
                <a:solidFill>
                  <a:srgbClr val="16213A"/>
                </a:solidFill>
              </a:rPr>
              <a:t>Chênh lệch giữa hai ô: hơn 17 lần</a:t>
            </a:r>
            <a:endParaRPr lang="en-US" sz="1250" dirty="0"/>
          </a:p>
          <a:p>
            <a:pPr marL="342900" indent="-342900">
              <a:lnSpc>
                <a:spcPts val="1600"/>
              </a:lnSpc>
              <a:spcAft>
                <a:spcPts val="1100"/>
              </a:spcAft>
              <a:buSzPct val="100000"/>
              <a:buChar char="▪"/>
            </a:pPr>
            <a:r>
              <a:rPr lang="en-US" sz="1250" dirty="0">
                <a:solidFill>
                  <a:srgbClr val="16213A"/>
                </a:solidFill>
              </a:rPr>
              <a:t>Ý nghĩa: sàng lọc cần xét ĐỒNG THỜI nhiều yếu tố, không đánh giá từng yếu tố riêng lẻ</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Phát hiện trung tâm của nhóm</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Số yếu tố nguy cơ đồng thời dự báo tốt hơn bất kỳ yếu tố đơn lẻ nào</a:t>
            </a:r>
            <a:endParaRPr lang="en-US" sz="1400" dirty="0"/>
          </a:p>
        </p:txBody>
      </p:sp>
      <p:pic>
        <p:nvPicPr>
          <p:cNvPr id="4" name="Image 0" descr="/tmp/claude-0/-home-user-about/7f9787d4-c743-5828-973b-7494043f4138/scratchpad/charts/c6_dose.png">    </p:cNvPr>
          <p:cNvPicPr>
            <a:picLocks noChangeAspect="1"/>
          </p:cNvPicPr>
          <p:nvPr/>
        </p:nvPicPr>
        <p:blipFill>
          <a:blip r:embed="rId1"/>
          <a:stretch>
            <a:fillRect/>
          </a:stretch>
        </p:blipFill>
        <p:spPr>
          <a:xfrm>
            <a:off x="1065276" y="1572768"/>
            <a:ext cx="10058400" cy="4343400"/>
          </a:xfrm>
          <a:prstGeom prst="rect">
            <a:avLst/>
          </a:prstGeom>
        </p:spPr>
      </p:pic>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Kiểm chứng bằng mô hình dự báo</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Hồi quy Logistic và Random Forest · chia 75% huấn luyện – 25% kiểm tra</a:t>
            </a:r>
            <a:endParaRPr lang="en-US" sz="1400" dirty="0"/>
          </a:p>
        </p:txBody>
      </p:sp>
      <p:pic>
        <p:nvPicPr>
          <p:cNvPr id="4" name="Image 0" descr="/tmp/claude-0/-home-user-about/7f9787d4-c743-5828-973b-7494043f4138/scratchpad/charts/c7_importance.png">    </p:cNvPr>
          <p:cNvPicPr>
            <a:picLocks noChangeAspect="1"/>
          </p:cNvPicPr>
          <p:nvPr/>
        </p:nvPicPr>
        <p:blipFill>
          <a:blip r:embed="rId1"/>
          <a:stretch>
            <a:fillRect/>
          </a:stretch>
        </p:blipFill>
        <p:spPr>
          <a:xfrm>
            <a:off x="566928" y="1572768"/>
            <a:ext cx="6858000" cy="3877056"/>
          </a:xfrm>
          <a:prstGeom prst="rect">
            <a:avLst/>
          </a:prstGeom>
        </p:spPr>
      </p:pic>
      <p:sp>
        <p:nvSpPr>
          <p:cNvPr id="5" name="card_30"/>
          <p:cNvSpPr/>
          <p:nvPr/>
        </p:nvSpPr>
        <p:spPr>
          <a:xfrm>
            <a:off x="7680960" y="1572768"/>
            <a:ext cx="3931920" cy="3877056"/>
          </a:xfrm>
          <a:prstGeom prst="roundRect">
            <a:avLst>
              <a:gd name="adj" fmla="val 2358"/>
            </a:avLst>
          </a:prstGeom>
          <a:solidFill>
            <a:srgbClr val="EEF3F7"/>
          </a:solidFill>
          <a:ln/>
        </p:spPr>
      </p:sp>
      <p:sp>
        <p:nvSpPr>
          <p:cNvPr id="6" name="Text 3"/>
          <p:cNvSpPr txBox="1"/>
          <p:nvPr/>
        </p:nvSpPr>
        <p:spPr>
          <a:xfrm>
            <a:off x="7936992" y="1773936"/>
            <a:ext cx="3474720" cy="274320"/>
          </a:xfrm>
          <a:prstGeom prst="rect">
            <a:avLst/>
          </a:prstGeom>
          <a:noFill/>
          <a:ln/>
        </p:spPr>
        <p:txBody>
          <a:bodyPr wrap="square" lIns="0" tIns="0" rIns="0" bIns="0" rtlCol="0" anchor="ctr"/>
          <a:lstStyle/>
          <a:p>
            <a:pPr indent="0" marL="0">
              <a:buNone/>
            </a:pPr>
            <a:r>
              <a:rPr lang="en-US" sz="1100" b="1" spc="200" kern="0" dirty="0">
                <a:solidFill>
                  <a:srgbClr val="1C7293"/>
                </a:solidFill>
              </a:rPr>
              <a:t>KẾT QUẢ MÔ HÌNH</a:t>
            </a:r>
            <a:endParaRPr lang="en-US" sz="1100" dirty="0"/>
          </a:p>
        </p:txBody>
      </p:sp>
      <p:sp>
        <p:nvSpPr>
          <p:cNvPr id="7" name="Text 4"/>
          <p:cNvSpPr txBox="1"/>
          <p:nvPr/>
        </p:nvSpPr>
        <p:spPr>
          <a:xfrm>
            <a:off x="7936992" y="2139696"/>
            <a:ext cx="1325880" cy="420624"/>
          </a:xfrm>
          <a:prstGeom prst="rect">
            <a:avLst/>
          </a:prstGeom>
          <a:noFill/>
          <a:ln/>
        </p:spPr>
        <p:txBody>
          <a:bodyPr wrap="square" lIns="0" tIns="0" rIns="0" bIns="0" rtlCol="0" anchor="ctr"/>
          <a:lstStyle/>
          <a:p>
            <a:pPr indent="0" marL="0">
              <a:buNone/>
            </a:pPr>
            <a:r>
              <a:rPr lang="en-US" sz="2300" b="1" dirty="0">
                <a:solidFill>
                  <a:srgbClr val="065A82"/>
                </a:solidFill>
                <a:latin typeface="Cambria" pitchFamily="34" charset="0"/>
                <a:ea typeface="Cambria" pitchFamily="34" charset="-122"/>
                <a:cs typeface="Cambria" pitchFamily="34" charset="-120"/>
              </a:rPr>
              <a:t>0,921</a:t>
            </a:r>
            <a:endParaRPr lang="en-US" sz="2300" dirty="0"/>
          </a:p>
        </p:txBody>
      </p:sp>
      <p:sp>
        <p:nvSpPr>
          <p:cNvPr id="8" name="Text 5"/>
          <p:cNvSpPr txBox="1"/>
          <p:nvPr/>
        </p:nvSpPr>
        <p:spPr>
          <a:xfrm>
            <a:off x="9308592" y="2139696"/>
            <a:ext cx="2121408" cy="420624"/>
          </a:xfrm>
          <a:prstGeom prst="rect">
            <a:avLst/>
          </a:prstGeom>
          <a:noFill/>
          <a:ln/>
        </p:spPr>
        <p:txBody>
          <a:bodyPr wrap="square" lIns="0" tIns="0" rIns="0" bIns="0" rtlCol="0" anchor="ctr"/>
          <a:lstStyle/>
          <a:p>
            <a:pPr indent="0" marL="0">
              <a:lnSpc>
                <a:spcPts val="1200"/>
              </a:lnSpc>
              <a:buNone/>
            </a:pPr>
            <a:r>
              <a:rPr lang="en-US" sz="1050" dirty="0">
                <a:solidFill>
                  <a:srgbClr val="6D7A8C"/>
                </a:solidFill>
              </a:rPr>
              <a:t>AUC — Hồi quy Logistic</a:t>
            </a:r>
            <a:endParaRPr lang="en-US" sz="1050" dirty="0"/>
          </a:p>
        </p:txBody>
      </p:sp>
      <p:sp>
        <p:nvSpPr>
          <p:cNvPr id="9" name="Text 6"/>
          <p:cNvSpPr txBox="1"/>
          <p:nvPr/>
        </p:nvSpPr>
        <p:spPr>
          <a:xfrm>
            <a:off x="7936992" y="2852928"/>
            <a:ext cx="1325880" cy="420624"/>
          </a:xfrm>
          <a:prstGeom prst="rect">
            <a:avLst/>
          </a:prstGeom>
          <a:noFill/>
          <a:ln/>
        </p:spPr>
        <p:txBody>
          <a:bodyPr wrap="square" lIns="0" tIns="0" rIns="0" bIns="0" rtlCol="0" anchor="ctr"/>
          <a:lstStyle/>
          <a:p>
            <a:pPr indent="0" marL="0">
              <a:buNone/>
            </a:pPr>
            <a:r>
              <a:rPr lang="en-US" sz="2300" b="1" dirty="0">
                <a:solidFill>
                  <a:srgbClr val="065A82"/>
                </a:solidFill>
                <a:latin typeface="Cambria" pitchFamily="34" charset="0"/>
                <a:ea typeface="Cambria" pitchFamily="34" charset="-122"/>
                <a:cs typeface="Cambria" pitchFamily="34" charset="-120"/>
              </a:rPr>
              <a:t>84,6%</a:t>
            </a:r>
            <a:endParaRPr lang="en-US" sz="2300" dirty="0"/>
          </a:p>
        </p:txBody>
      </p:sp>
      <p:sp>
        <p:nvSpPr>
          <p:cNvPr id="10" name="Text 7"/>
          <p:cNvSpPr txBox="1"/>
          <p:nvPr/>
        </p:nvSpPr>
        <p:spPr>
          <a:xfrm>
            <a:off x="9308592" y="2852928"/>
            <a:ext cx="2121408" cy="420624"/>
          </a:xfrm>
          <a:prstGeom prst="rect">
            <a:avLst/>
          </a:prstGeom>
          <a:noFill/>
          <a:ln/>
        </p:spPr>
        <p:txBody>
          <a:bodyPr wrap="square" lIns="0" tIns="0" rIns="0" bIns="0" rtlCol="0" anchor="ctr"/>
          <a:lstStyle/>
          <a:p>
            <a:pPr indent="0" marL="0">
              <a:lnSpc>
                <a:spcPts val="1200"/>
              </a:lnSpc>
              <a:buNone/>
            </a:pPr>
            <a:r>
              <a:rPr lang="en-US" sz="1050" dirty="0">
                <a:solidFill>
                  <a:srgbClr val="6D7A8C"/>
                </a:solidFill>
              </a:rPr>
              <a:t>Độ chính xác tổng thể</a:t>
            </a:r>
            <a:endParaRPr lang="en-US" sz="1050" dirty="0"/>
          </a:p>
        </p:txBody>
      </p:sp>
      <p:sp>
        <p:nvSpPr>
          <p:cNvPr id="11" name="Text 8"/>
          <p:cNvSpPr txBox="1"/>
          <p:nvPr/>
        </p:nvSpPr>
        <p:spPr>
          <a:xfrm>
            <a:off x="7936992" y="3566160"/>
            <a:ext cx="1325880" cy="420624"/>
          </a:xfrm>
          <a:prstGeom prst="rect">
            <a:avLst/>
          </a:prstGeom>
          <a:noFill/>
          <a:ln/>
        </p:spPr>
        <p:txBody>
          <a:bodyPr wrap="square" lIns="0" tIns="0" rIns="0" bIns="0" rtlCol="0" anchor="ctr"/>
          <a:lstStyle/>
          <a:p>
            <a:pPr indent="0" marL="0">
              <a:buNone/>
            </a:pPr>
            <a:r>
              <a:rPr lang="en-US" sz="2300" b="1" dirty="0">
                <a:solidFill>
                  <a:srgbClr val="065A82"/>
                </a:solidFill>
                <a:latin typeface="Cambria" pitchFamily="34" charset="0"/>
                <a:ea typeface="Cambria" pitchFamily="34" charset="-122"/>
                <a:cs typeface="Cambria" pitchFamily="34" charset="-120"/>
              </a:rPr>
              <a:t>88,6%</a:t>
            </a:r>
            <a:endParaRPr lang="en-US" sz="2300" dirty="0"/>
          </a:p>
        </p:txBody>
      </p:sp>
      <p:sp>
        <p:nvSpPr>
          <p:cNvPr id="12" name="Text 9"/>
          <p:cNvSpPr txBox="1"/>
          <p:nvPr/>
        </p:nvSpPr>
        <p:spPr>
          <a:xfrm>
            <a:off x="9308592" y="3566160"/>
            <a:ext cx="2121408" cy="420624"/>
          </a:xfrm>
          <a:prstGeom prst="rect">
            <a:avLst/>
          </a:prstGeom>
          <a:noFill/>
          <a:ln/>
        </p:spPr>
        <p:txBody>
          <a:bodyPr wrap="square" lIns="0" tIns="0" rIns="0" bIns="0" rtlCol="0" anchor="ctr"/>
          <a:lstStyle/>
          <a:p>
            <a:pPr indent="0" marL="0">
              <a:lnSpc>
                <a:spcPts val="1200"/>
              </a:lnSpc>
              <a:buNone/>
            </a:pPr>
            <a:r>
              <a:rPr lang="en-US" sz="1050" dirty="0">
                <a:solidFill>
                  <a:srgbClr val="6D7A8C"/>
                </a:solidFill>
              </a:rPr>
              <a:t>Độ nhạy (bắt đúng ca trầm cảm)</a:t>
            </a:r>
            <a:endParaRPr lang="en-US" sz="1050" dirty="0"/>
          </a:p>
        </p:txBody>
      </p:sp>
      <p:sp>
        <p:nvSpPr>
          <p:cNvPr id="13" name="Text 10"/>
          <p:cNvSpPr txBox="1"/>
          <p:nvPr/>
        </p:nvSpPr>
        <p:spPr>
          <a:xfrm>
            <a:off x="7936992" y="4279392"/>
            <a:ext cx="1325880" cy="420624"/>
          </a:xfrm>
          <a:prstGeom prst="rect">
            <a:avLst/>
          </a:prstGeom>
          <a:noFill/>
          <a:ln/>
        </p:spPr>
        <p:txBody>
          <a:bodyPr wrap="square" lIns="0" tIns="0" rIns="0" bIns="0" rtlCol="0" anchor="ctr"/>
          <a:lstStyle/>
          <a:p>
            <a:pPr indent="0" marL="0">
              <a:buNone/>
            </a:pPr>
            <a:r>
              <a:rPr lang="en-US" sz="2300" b="1" dirty="0">
                <a:solidFill>
                  <a:srgbClr val="065A82"/>
                </a:solidFill>
                <a:latin typeface="Cambria" pitchFamily="34" charset="0"/>
                <a:ea typeface="Cambria" pitchFamily="34" charset="-122"/>
                <a:cs typeface="Cambria" pitchFamily="34" charset="-120"/>
              </a:rPr>
              <a:t>0,921</a:t>
            </a:r>
            <a:endParaRPr lang="en-US" sz="2300" dirty="0"/>
          </a:p>
        </p:txBody>
      </p:sp>
      <p:sp>
        <p:nvSpPr>
          <p:cNvPr id="14" name="Text 11"/>
          <p:cNvSpPr txBox="1"/>
          <p:nvPr/>
        </p:nvSpPr>
        <p:spPr>
          <a:xfrm>
            <a:off x="9308592" y="4279392"/>
            <a:ext cx="2121408" cy="420624"/>
          </a:xfrm>
          <a:prstGeom prst="rect">
            <a:avLst/>
          </a:prstGeom>
          <a:noFill/>
          <a:ln/>
        </p:spPr>
        <p:txBody>
          <a:bodyPr wrap="square" lIns="0" tIns="0" rIns="0" bIns="0" rtlCol="0" anchor="ctr"/>
          <a:lstStyle/>
          <a:p>
            <a:pPr indent="0" marL="0">
              <a:lnSpc>
                <a:spcPts val="1200"/>
              </a:lnSpc>
              <a:buNone/>
            </a:pPr>
            <a:r>
              <a:rPr lang="en-US" sz="1050" dirty="0">
                <a:solidFill>
                  <a:srgbClr val="6D7A8C"/>
                </a:solidFill>
              </a:rPr>
              <a:t>AUC kiểm định chéo 5-fold</a:t>
            </a:r>
            <a:endParaRPr lang="en-US" sz="1050" dirty="0"/>
          </a:p>
        </p:txBody>
      </p:sp>
      <p:sp>
        <p:nvSpPr>
          <p:cNvPr id="15" name="Text 12"/>
          <p:cNvSpPr txBox="1"/>
          <p:nvPr/>
        </p:nvSpPr>
        <p:spPr>
          <a:xfrm>
            <a:off x="7936992" y="5029200"/>
            <a:ext cx="3474720" cy="274320"/>
          </a:xfrm>
          <a:prstGeom prst="rect">
            <a:avLst/>
          </a:prstGeom>
          <a:noFill/>
          <a:ln/>
        </p:spPr>
        <p:txBody>
          <a:bodyPr wrap="square" lIns="0" tIns="0" rIns="0" bIns="0" rtlCol="0" anchor="t"/>
          <a:lstStyle/>
          <a:p>
            <a:pPr indent="0" marL="0">
              <a:lnSpc>
                <a:spcPts val="1250"/>
              </a:lnSpc>
              <a:buNone/>
            </a:pPr>
            <a:r>
              <a:rPr lang="en-US" sz="1050" b="1" dirty="0">
                <a:solidFill>
                  <a:srgbClr val="16213A"/>
                </a:solidFill>
              </a:rPr>
              <a:t>Mô hình chỉ để KIỂM CHỨNG mức độ nhất quán của các mối liên hệ. </a:t>
            </a:r>
            <a:endParaRPr lang="en-US" sz="1050" dirty="0"/>
          </a:p>
          <a:p>
            <a:pPr indent="0" marL="0">
              <a:lnSpc>
                <a:spcPts val="1250"/>
              </a:lnSpc>
              <a:buNone/>
            </a:pPr>
            <a:r>
              <a:rPr lang="en-US" sz="1050" dirty="0">
                <a:solidFill>
                  <a:srgbClr val="16213A"/>
                </a:solidFill>
              </a:rPr>
              <a:t>Random Forest cho kết quả tương đương (AUC 0,918), xác nhận các yếu tố tìm được là ổn định chứ không do ngẫu nhiên.</a:t>
            </a:r>
            <a:endParaRPr lang="en-US" sz="10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14600"/>
            <a:ext cx="10424160" cy="411480"/>
          </a:xfrm>
          <a:prstGeom prst="rect">
            <a:avLst/>
          </a:prstGeom>
          <a:noFill/>
          <a:ln/>
        </p:spPr>
        <p:txBody>
          <a:bodyPr wrap="square" rtlCol="0"/>
          <a:lstStyle/>
          <a:p>
            <a:pPr indent="0" marL="0">
              <a:buNone/>
            </a:pPr>
            <a:r>
              <a:rPr lang="en-US" sz="1600" b="1" spc="300" kern="0" dirty="0">
                <a:solidFill>
                  <a:srgbClr val="9FD2E8"/>
                </a:solidFill>
              </a:rPr>
              <a:t>PHẦN 5</a:t>
            </a:r>
            <a:endParaRPr lang="en-US" sz="1600" dirty="0"/>
          </a:p>
        </p:txBody>
      </p:sp>
      <p:sp>
        <p:nvSpPr>
          <p:cNvPr id="3" name="Text 0"/>
          <p:cNvSpPr txBox="1"/>
          <p:nvPr>
            <p:ph idx="101" type="title" hasCustomPrompt="1"/>
          </p:nvPr>
        </p:nvSpPr>
        <p:spPr>
          <a:xfrm>
            <a:off x="841248" y="2971800"/>
            <a:ext cx="10424160" cy="1005840"/>
          </a:xfrm>
          <a:prstGeom prst="rect">
            <a:avLst/>
          </a:prstGeom>
          <a:noFill/>
          <a:ln/>
        </p:spPr>
        <p:txBody>
          <a:bodyPr wrap="square" rtlCol="0"/>
          <a:lstStyle/>
          <a:p>
            <a:pPr algn="l" indent="0" marL="0">
              <a:buNone/>
            </a:pPr>
            <a:r>
              <a:rPr lang="en-US" sz="3800" b="1" dirty="0">
                <a:solidFill>
                  <a:srgbClr val="FFFFFF"/>
                </a:solidFill>
              </a:rPr>
              <a:t>Nhận định và đề xuất ứng dụng</a:t>
            </a:r>
            <a:endParaRPr lang="en-US" sz="3800" dirty="0"/>
          </a:p>
        </p:txBody>
      </p:sp>
      <p:sp>
        <p:nvSpPr>
          <p:cNvPr id="4" name="Text 0"/>
          <p:cNvSpPr txBox="1"/>
          <p:nvPr>
            <p:ph idx="102" type="body" hasCustomPrompt="1"/>
          </p:nvPr>
        </p:nvSpPr>
        <p:spPr>
          <a:xfrm>
            <a:off x="841248" y="4023360"/>
            <a:ext cx="10424160" cy="822960"/>
          </a:xfrm>
          <a:prstGeom prst="rect">
            <a:avLst/>
          </a:prstGeom>
          <a:noFill/>
          <a:ln/>
        </p:spPr>
        <p:txBody>
          <a:bodyPr wrap="square" rtlCol="0"/>
          <a:lstStyle/>
          <a:p>
            <a:pPr indent="0" marL="0">
              <a:buNone/>
            </a:pPr>
            <a:r>
              <a:rPr lang="en-US" sz="1500" dirty="0">
                <a:solidFill>
                  <a:srgbClr val="C9E4F2"/>
                </a:solidFill>
              </a:rPr>
              <a:t>Từ con số đến hành động cụ thể cho công tác hỗ trợ sinh viên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Sáu nhận định chính</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Tri thức rút ra từ bộ dữ liệu</a:t>
            </a:r>
            <a:endParaRPr lang="en-US" sz="1400" dirty="0"/>
          </a:p>
        </p:txBody>
      </p:sp>
      <p:sp>
        <p:nvSpPr>
          <p:cNvPr id="4" name="card_31"/>
          <p:cNvSpPr/>
          <p:nvPr/>
        </p:nvSpPr>
        <p:spPr>
          <a:xfrm>
            <a:off x="566928" y="1591056"/>
            <a:ext cx="5358384" cy="1371600"/>
          </a:xfrm>
          <a:prstGeom prst="roundRect">
            <a:avLst>
              <a:gd name="adj" fmla="val 6667"/>
            </a:avLst>
          </a:prstGeom>
          <a:solidFill>
            <a:srgbClr val="EEF3F7"/>
          </a:solidFill>
          <a:ln/>
        </p:spPr>
      </p:sp>
      <p:sp>
        <p:nvSpPr>
          <p:cNvPr id="5" name="dot_17"/>
          <p:cNvSpPr/>
          <p:nvPr/>
        </p:nvSpPr>
        <p:spPr>
          <a:xfrm>
            <a:off x="786384" y="1810512"/>
            <a:ext cx="402336" cy="402336"/>
          </a:xfrm>
          <a:prstGeom prst="ellipse">
            <a:avLst/>
          </a:prstGeom>
          <a:solidFill>
            <a:srgbClr val="D03B3B"/>
          </a:solidFill>
          <a:ln/>
        </p:spPr>
      </p:sp>
      <p:sp>
        <p:nvSpPr>
          <p:cNvPr id="6" name="Text 4"/>
          <p:cNvSpPr txBox="1"/>
          <p:nvPr/>
        </p:nvSpPr>
        <p:spPr>
          <a:xfrm>
            <a:off x="786384"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298448" y="1773936"/>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Hoàn cảnh quan trọng hơn di truyền</a:t>
            </a:r>
            <a:endParaRPr lang="en-US" sz="1350" dirty="0"/>
          </a:p>
        </p:txBody>
      </p:sp>
      <p:sp>
        <p:nvSpPr>
          <p:cNvPr id="8" name="Text 6"/>
          <p:cNvSpPr txBox="1"/>
          <p:nvPr/>
        </p:nvSpPr>
        <p:spPr>
          <a:xfrm>
            <a:off x="786384" y="2304288"/>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Áp lực học tập (r = 0,475) và tài chính (0,364) mạnh hơn hẳn tiền sử gia đình (0,053) — phần lớn nguy cơ đến từ môi trường, tức là có thể can thiệp được.</a:t>
            </a:r>
            <a:endParaRPr lang="en-US" sz="1050" dirty="0"/>
          </a:p>
        </p:txBody>
      </p:sp>
      <p:sp>
        <p:nvSpPr>
          <p:cNvPr id="9" name="card_32"/>
          <p:cNvSpPr/>
          <p:nvPr/>
        </p:nvSpPr>
        <p:spPr>
          <a:xfrm>
            <a:off x="6163056" y="1591056"/>
            <a:ext cx="5358384" cy="1371600"/>
          </a:xfrm>
          <a:prstGeom prst="roundRect">
            <a:avLst>
              <a:gd name="adj" fmla="val 6667"/>
            </a:avLst>
          </a:prstGeom>
          <a:solidFill>
            <a:srgbClr val="EEF3F7"/>
          </a:solidFill>
          <a:ln/>
        </p:spPr>
      </p:sp>
      <p:sp>
        <p:nvSpPr>
          <p:cNvPr id="10" name="dot_18"/>
          <p:cNvSpPr/>
          <p:nvPr/>
        </p:nvSpPr>
        <p:spPr>
          <a:xfrm>
            <a:off x="6382512" y="1810512"/>
            <a:ext cx="402336" cy="402336"/>
          </a:xfrm>
          <a:prstGeom prst="ellipse">
            <a:avLst/>
          </a:prstGeom>
          <a:solidFill>
            <a:srgbClr val="065A82"/>
          </a:solidFill>
          <a:ln/>
        </p:spPr>
      </p:sp>
      <p:sp>
        <p:nvSpPr>
          <p:cNvPr id="11" name="Text 9"/>
          <p:cNvSpPr txBox="1"/>
          <p:nvPr/>
        </p:nvSpPr>
        <p:spPr>
          <a:xfrm>
            <a:off x="6382512"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6894576" y="1773936"/>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Học giỏi không bảo vệ sức khỏe tâm lý</a:t>
            </a:r>
            <a:endParaRPr lang="en-US" sz="1350" dirty="0"/>
          </a:p>
        </p:txBody>
      </p:sp>
      <p:sp>
        <p:nvSpPr>
          <p:cNvPr id="13" name="Text 11"/>
          <p:cNvSpPr txBox="1"/>
          <p:nvPr/>
        </p:nvSpPr>
        <p:spPr>
          <a:xfrm>
            <a:off x="6382512" y="2304288"/>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CGPA gần như không liên quan (r = 0,022). Không thể dùng kết quả học tập để sàng lọc sinh viên có nguy cơ.</a:t>
            </a:r>
            <a:endParaRPr lang="en-US" sz="1050" dirty="0"/>
          </a:p>
        </p:txBody>
      </p:sp>
      <p:sp>
        <p:nvSpPr>
          <p:cNvPr id="14" name="card_33"/>
          <p:cNvSpPr/>
          <p:nvPr/>
        </p:nvSpPr>
        <p:spPr>
          <a:xfrm>
            <a:off x="566928" y="3127248"/>
            <a:ext cx="5358384" cy="1371600"/>
          </a:xfrm>
          <a:prstGeom prst="roundRect">
            <a:avLst>
              <a:gd name="adj" fmla="val 6667"/>
            </a:avLst>
          </a:prstGeom>
          <a:solidFill>
            <a:srgbClr val="EEF3F7"/>
          </a:solidFill>
          <a:ln/>
        </p:spPr>
      </p:sp>
      <p:sp>
        <p:nvSpPr>
          <p:cNvPr id="15" name="dot_19"/>
          <p:cNvSpPr/>
          <p:nvPr/>
        </p:nvSpPr>
        <p:spPr>
          <a:xfrm>
            <a:off x="786384" y="3346704"/>
            <a:ext cx="402336" cy="402336"/>
          </a:xfrm>
          <a:prstGeom prst="ellipse">
            <a:avLst/>
          </a:prstGeom>
          <a:solidFill>
            <a:srgbClr val="1C7293"/>
          </a:solidFill>
          <a:ln/>
        </p:spPr>
      </p:sp>
      <p:sp>
        <p:nvSpPr>
          <p:cNvPr id="16" name="Text 14"/>
          <p:cNvSpPr txBox="1"/>
          <p:nvPr/>
        </p:nvSpPr>
        <p:spPr>
          <a:xfrm>
            <a:off x="786384" y="33467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298448" y="3310128"/>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Không có khác biệt giới tính</a:t>
            </a:r>
            <a:endParaRPr lang="en-US" sz="1350" dirty="0"/>
          </a:p>
        </p:txBody>
      </p:sp>
      <p:sp>
        <p:nvSpPr>
          <p:cNvPr id="18" name="Text 16"/>
          <p:cNvSpPr txBox="1"/>
          <p:nvPr/>
        </p:nvSpPr>
        <p:spPr>
          <a:xfrm>
            <a:off x="786384" y="3840480"/>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Nam 58,6% — Nữ 58,5%, p = 0,76. Chương trình hỗ trợ không nên mặc định ưu tiên một giới.</a:t>
            </a:r>
            <a:endParaRPr lang="en-US" sz="1050" dirty="0"/>
          </a:p>
        </p:txBody>
      </p:sp>
      <p:sp>
        <p:nvSpPr>
          <p:cNvPr id="19" name="card_34"/>
          <p:cNvSpPr/>
          <p:nvPr/>
        </p:nvSpPr>
        <p:spPr>
          <a:xfrm>
            <a:off x="6163056" y="3127248"/>
            <a:ext cx="5358384" cy="1371600"/>
          </a:xfrm>
          <a:prstGeom prst="roundRect">
            <a:avLst>
              <a:gd name="adj" fmla="val 6667"/>
            </a:avLst>
          </a:prstGeom>
          <a:solidFill>
            <a:srgbClr val="EEF3F7"/>
          </a:solidFill>
          <a:ln/>
        </p:spPr>
      </p:sp>
      <p:sp>
        <p:nvSpPr>
          <p:cNvPr id="20" name="dot_20"/>
          <p:cNvSpPr/>
          <p:nvPr/>
        </p:nvSpPr>
        <p:spPr>
          <a:xfrm>
            <a:off x="6382512" y="3346704"/>
            <a:ext cx="402336" cy="402336"/>
          </a:xfrm>
          <a:prstGeom prst="ellipse">
            <a:avLst/>
          </a:prstGeom>
          <a:solidFill>
            <a:srgbClr val="EDA100"/>
          </a:solidFill>
          <a:ln/>
        </p:spPr>
      </p:sp>
      <p:sp>
        <p:nvSpPr>
          <p:cNvPr id="21" name="Text 19"/>
          <p:cNvSpPr txBox="1"/>
          <p:nvPr/>
        </p:nvSpPr>
        <p:spPr>
          <a:xfrm>
            <a:off x="6382512" y="33467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6894576" y="3310128"/>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Nguy cơ tăng theo liều</a:t>
            </a:r>
            <a:endParaRPr lang="en-US" sz="1350" dirty="0"/>
          </a:p>
        </p:txBody>
      </p:sp>
      <p:sp>
        <p:nvSpPr>
          <p:cNvPr id="23" name="Text 21"/>
          <p:cNvSpPr txBox="1"/>
          <p:nvPr/>
        </p:nvSpPr>
        <p:spPr>
          <a:xfrm>
            <a:off x="6382512" y="3840480"/>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Từ 4,5% (không có yếu tố nguy cơ) lên 98,6% (đủ 5 yếu tố) — gấp 21,7 lần.</a:t>
            </a:r>
            <a:endParaRPr lang="en-US" sz="1050" dirty="0"/>
          </a:p>
        </p:txBody>
      </p:sp>
      <p:sp>
        <p:nvSpPr>
          <p:cNvPr id="24" name="card_35"/>
          <p:cNvSpPr/>
          <p:nvPr/>
        </p:nvSpPr>
        <p:spPr>
          <a:xfrm>
            <a:off x="566928" y="4663440"/>
            <a:ext cx="5358384" cy="1371600"/>
          </a:xfrm>
          <a:prstGeom prst="roundRect">
            <a:avLst>
              <a:gd name="adj" fmla="val 6667"/>
            </a:avLst>
          </a:prstGeom>
          <a:solidFill>
            <a:srgbClr val="EEF3F7"/>
          </a:solidFill>
          <a:ln/>
        </p:spPr>
      </p:sp>
      <p:sp>
        <p:nvSpPr>
          <p:cNvPr id="25" name="dot_21"/>
          <p:cNvSpPr/>
          <p:nvPr/>
        </p:nvSpPr>
        <p:spPr>
          <a:xfrm>
            <a:off x="786384" y="4882896"/>
            <a:ext cx="402336" cy="402336"/>
          </a:xfrm>
          <a:prstGeom prst="ellipse">
            <a:avLst/>
          </a:prstGeom>
          <a:solidFill>
            <a:srgbClr val="2A78D6"/>
          </a:solidFill>
          <a:ln/>
        </p:spPr>
      </p:sp>
      <p:sp>
        <p:nvSpPr>
          <p:cNvPr id="26" name="Text 24"/>
          <p:cNvSpPr txBox="1"/>
          <p:nvPr/>
        </p:nvSpPr>
        <p:spPr>
          <a:xfrm>
            <a:off x="786384" y="4882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1298448" y="4846320"/>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Sinh viên năm đầu dễ tổn thương nhất</a:t>
            </a:r>
            <a:endParaRPr lang="en-US" sz="1350" dirty="0"/>
          </a:p>
        </p:txBody>
      </p:sp>
      <p:sp>
        <p:nvSpPr>
          <p:cNvPr id="28" name="Text 26"/>
          <p:cNvSpPr txBox="1"/>
          <p:nvPr/>
        </p:nvSpPr>
        <p:spPr>
          <a:xfrm>
            <a:off x="786384" y="5376672"/>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Nhóm 18–20 tuổi: 72,3%, cao hơn 31 điểm % so với nhóm từ 31 tuổi.</a:t>
            </a:r>
            <a:endParaRPr lang="en-US" sz="1050" dirty="0"/>
          </a:p>
        </p:txBody>
      </p:sp>
      <p:sp>
        <p:nvSpPr>
          <p:cNvPr id="29" name="card_36"/>
          <p:cNvSpPr/>
          <p:nvPr/>
        </p:nvSpPr>
        <p:spPr>
          <a:xfrm>
            <a:off x="6163056" y="4663440"/>
            <a:ext cx="5358384" cy="1371600"/>
          </a:xfrm>
          <a:prstGeom prst="roundRect">
            <a:avLst>
              <a:gd name="adj" fmla="val 6667"/>
            </a:avLst>
          </a:prstGeom>
          <a:solidFill>
            <a:srgbClr val="EEF3F7"/>
          </a:solidFill>
          <a:ln/>
        </p:spPr>
      </p:sp>
      <p:sp>
        <p:nvSpPr>
          <p:cNvPr id="30" name="dot_22"/>
          <p:cNvSpPr/>
          <p:nvPr/>
        </p:nvSpPr>
        <p:spPr>
          <a:xfrm>
            <a:off x="6382512" y="4882896"/>
            <a:ext cx="402336" cy="402336"/>
          </a:xfrm>
          <a:prstGeom prst="ellipse">
            <a:avLst/>
          </a:prstGeom>
          <a:solidFill>
            <a:srgbClr val="1BAF7A"/>
          </a:solidFill>
          <a:ln/>
        </p:spPr>
      </p:sp>
      <p:sp>
        <p:nvSpPr>
          <p:cNvPr id="31" name="Text 29"/>
          <p:cNvSpPr txBox="1"/>
          <p:nvPr/>
        </p:nvSpPr>
        <p:spPr>
          <a:xfrm>
            <a:off x="6382512" y="4882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6894576" y="4846320"/>
            <a:ext cx="4434840" cy="475488"/>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Ý định tự tử là chỉ báo sớm, không phải hệ quả</a:t>
            </a:r>
            <a:endParaRPr lang="en-US" sz="1350" dirty="0"/>
          </a:p>
        </p:txBody>
      </p:sp>
      <p:sp>
        <p:nvSpPr>
          <p:cNvPr id="33" name="Text 31"/>
          <p:cNvSpPr txBox="1"/>
          <p:nvPr/>
        </p:nvSpPr>
        <p:spPr>
          <a:xfrm>
            <a:off x="6382512" y="5376672"/>
            <a:ext cx="4937760" cy="5669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63,3% mẫu từng có ý định tự tử — đây là tín hiệu cần quy trình ứng phó riêng, không chỉ là một biến thống kê.</a:t>
            </a:r>
            <a:endParaRPr lang="en-US" sz="10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Đề xuất ứng dụng thực tế</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Liên hệ với công tác hỗ trợ sinh viên trong trường đại học</a:t>
            </a:r>
            <a:endParaRPr lang="en-US" sz="1400" dirty="0"/>
          </a:p>
        </p:txBody>
      </p:sp>
      <p:sp>
        <p:nvSpPr>
          <p:cNvPr id="4" name="card_37"/>
          <p:cNvSpPr/>
          <p:nvPr/>
        </p:nvSpPr>
        <p:spPr>
          <a:xfrm>
            <a:off x="566928" y="1591056"/>
            <a:ext cx="3520440" cy="2011680"/>
          </a:xfrm>
          <a:prstGeom prst="roundRect">
            <a:avLst>
              <a:gd name="adj" fmla="val 4545"/>
            </a:avLst>
          </a:prstGeom>
          <a:solidFill>
            <a:srgbClr val="EEF3F7"/>
          </a:solidFill>
          <a:ln/>
        </p:spPr>
      </p:sp>
      <p:sp>
        <p:nvSpPr>
          <p:cNvPr id="5" name="app_0"/>
          <p:cNvSpPr/>
          <p:nvPr/>
        </p:nvSpPr>
        <p:spPr>
          <a:xfrm>
            <a:off x="786384" y="1792224"/>
            <a:ext cx="402336" cy="402336"/>
          </a:xfrm>
          <a:prstGeom prst="ellipse">
            <a:avLst/>
          </a:prstGeom>
          <a:solidFill>
            <a:srgbClr val="065A82"/>
          </a:solidFill>
          <a:ln/>
        </p:spPr>
      </p:sp>
      <p:sp>
        <p:nvSpPr>
          <p:cNvPr id="6" name="Text 4"/>
          <p:cNvSpPr txBox="1"/>
          <p:nvPr/>
        </p:nvSpPr>
        <p:spPr>
          <a:xfrm>
            <a:off x="786384" y="1792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298448" y="175564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Bộ sàng lọc 5 câu hỏi</a:t>
            </a:r>
            <a:endParaRPr lang="en-US" sz="1300" dirty="0"/>
          </a:p>
        </p:txBody>
      </p:sp>
      <p:sp>
        <p:nvSpPr>
          <p:cNvPr id="8" name="Text 6"/>
          <p:cNvSpPr txBox="1"/>
          <p:nvPr/>
        </p:nvSpPr>
        <p:spPr>
          <a:xfrm>
            <a:off x="786384" y="234086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Xây phiếu khảo sát ngắn theo đúng 5 yếu tố nguy cơ đã xác định. Đếm số yếu tố để phân tầng: 0–1 theo dõi thường kỳ, 2–3 mời tham vấn, từ 4 trở lên can thiệp ưu tiên.</a:t>
            </a:r>
            <a:endParaRPr lang="en-US" sz="1050" dirty="0"/>
          </a:p>
        </p:txBody>
      </p:sp>
      <p:sp>
        <p:nvSpPr>
          <p:cNvPr id="9" name="card_38"/>
          <p:cNvSpPr/>
          <p:nvPr/>
        </p:nvSpPr>
        <p:spPr>
          <a:xfrm>
            <a:off x="4288536" y="1591056"/>
            <a:ext cx="3520440" cy="2011680"/>
          </a:xfrm>
          <a:prstGeom prst="roundRect">
            <a:avLst>
              <a:gd name="adj" fmla="val 4545"/>
            </a:avLst>
          </a:prstGeom>
          <a:solidFill>
            <a:srgbClr val="EEF3F7"/>
          </a:solidFill>
          <a:ln/>
        </p:spPr>
      </p:sp>
      <p:sp>
        <p:nvSpPr>
          <p:cNvPr id="10" name="app_1"/>
          <p:cNvSpPr/>
          <p:nvPr/>
        </p:nvSpPr>
        <p:spPr>
          <a:xfrm>
            <a:off x="4507992" y="1792224"/>
            <a:ext cx="402336" cy="402336"/>
          </a:xfrm>
          <a:prstGeom prst="ellipse">
            <a:avLst/>
          </a:prstGeom>
          <a:solidFill>
            <a:srgbClr val="1C7293"/>
          </a:solidFill>
          <a:ln/>
        </p:spPr>
      </p:sp>
      <p:sp>
        <p:nvSpPr>
          <p:cNvPr id="11" name="Text 9"/>
          <p:cNvSpPr txBox="1"/>
          <p:nvPr/>
        </p:nvSpPr>
        <p:spPr>
          <a:xfrm>
            <a:off x="4507992" y="1792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5020056" y="175564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Ưu tiên sinh viên năm nhất</a:t>
            </a:r>
            <a:endParaRPr lang="en-US" sz="1300" dirty="0"/>
          </a:p>
        </p:txBody>
      </p:sp>
      <p:sp>
        <p:nvSpPr>
          <p:cNvPr id="13" name="Text 11"/>
          <p:cNvSpPr txBox="1"/>
          <p:nvPr/>
        </p:nvSpPr>
        <p:spPr>
          <a:xfrm>
            <a:off x="4507992" y="234086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Lồng ghép sàng lọc vào tuần sinh hoạt công dân đầu khóa — nhóm 18–20 tuổi có tỷ lệ cao nhất (72,3%).</a:t>
            </a:r>
            <a:endParaRPr lang="en-US" sz="1050" dirty="0"/>
          </a:p>
        </p:txBody>
      </p:sp>
      <p:sp>
        <p:nvSpPr>
          <p:cNvPr id="14" name="card_39"/>
          <p:cNvSpPr/>
          <p:nvPr/>
        </p:nvSpPr>
        <p:spPr>
          <a:xfrm>
            <a:off x="8010144" y="1591056"/>
            <a:ext cx="3520440" cy="2011680"/>
          </a:xfrm>
          <a:prstGeom prst="roundRect">
            <a:avLst>
              <a:gd name="adj" fmla="val 4545"/>
            </a:avLst>
          </a:prstGeom>
          <a:solidFill>
            <a:srgbClr val="EEF3F7"/>
          </a:solidFill>
          <a:ln/>
        </p:spPr>
      </p:sp>
      <p:sp>
        <p:nvSpPr>
          <p:cNvPr id="15" name="app_2"/>
          <p:cNvSpPr/>
          <p:nvPr/>
        </p:nvSpPr>
        <p:spPr>
          <a:xfrm>
            <a:off x="8229600" y="1792224"/>
            <a:ext cx="402336" cy="402336"/>
          </a:xfrm>
          <a:prstGeom prst="ellipse">
            <a:avLst/>
          </a:prstGeom>
          <a:solidFill>
            <a:srgbClr val="2A78D6"/>
          </a:solidFill>
          <a:ln/>
        </p:spPr>
      </p:sp>
      <p:sp>
        <p:nvSpPr>
          <p:cNvPr id="16" name="Text 14"/>
          <p:cNvSpPr txBox="1"/>
          <p:nvPr/>
        </p:nvSpPr>
        <p:spPr>
          <a:xfrm>
            <a:off x="8229600" y="1792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8741664" y="175564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Rà soát khối lượng học tập</a:t>
            </a:r>
            <a:endParaRPr lang="en-US" sz="1300" dirty="0"/>
          </a:p>
        </p:txBody>
      </p:sp>
      <p:sp>
        <p:nvSpPr>
          <p:cNvPr id="18" name="Text 16"/>
          <p:cNvSpPr txBox="1"/>
          <p:nvPr/>
        </p:nvSpPr>
        <p:spPr>
          <a:xfrm>
            <a:off x="8229600" y="234086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Nhóm học 10–12 giờ/ngày có tỷ lệ 69%. Khoa có thể rà soát lịch thi, hạn nộp bài dồn và số tín chỉ tối đa mỗi học kỳ.</a:t>
            </a:r>
            <a:endParaRPr lang="en-US" sz="1050" dirty="0"/>
          </a:p>
        </p:txBody>
      </p:sp>
      <p:sp>
        <p:nvSpPr>
          <p:cNvPr id="19" name="card_40"/>
          <p:cNvSpPr/>
          <p:nvPr/>
        </p:nvSpPr>
        <p:spPr>
          <a:xfrm>
            <a:off x="566928" y="3785616"/>
            <a:ext cx="3520440" cy="2011680"/>
          </a:xfrm>
          <a:prstGeom prst="roundRect">
            <a:avLst>
              <a:gd name="adj" fmla="val 4545"/>
            </a:avLst>
          </a:prstGeom>
          <a:solidFill>
            <a:srgbClr val="EEF3F7"/>
          </a:solidFill>
          <a:ln/>
        </p:spPr>
      </p:sp>
      <p:sp>
        <p:nvSpPr>
          <p:cNvPr id="20" name="app_3"/>
          <p:cNvSpPr/>
          <p:nvPr/>
        </p:nvSpPr>
        <p:spPr>
          <a:xfrm>
            <a:off x="786384" y="3986784"/>
            <a:ext cx="402336" cy="402336"/>
          </a:xfrm>
          <a:prstGeom prst="ellipse">
            <a:avLst/>
          </a:prstGeom>
          <a:solidFill>
            <a:srgbClr val="EDA100"/>
          </a:solidFill>
          <a:ln/>
        </p:spPr>
      </p:sp>
      <p:sp>
        <p:nvSpPr>
          <p:cNvPr id="21" name="Text 19"/>
          <p:cNvSpPr txBox="1"/>
          <p:nvPr/>
        </p:nvSpPr>
        <p:spPr>
          <a:xfrm>
            <a:off x="786384" y="3986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298448" y="395020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Hỗ trợ tài chính gắn với tâm lý</a:t>
            </a:r>
            <a:endParaRPr lang="en-US" sz="1300" dirty="0"/>
          </a:p>
        </p:txBody>
      </p:sp>
      <p:sp>
        <p:nvSpPr>
          <p:cNvPr id="23" name="Text 21"/>
          <p:cNvSpPr txBox="1"/>
          <p:nvPr/>
        </p:nvSpPr>
        <p:spPr>
          <a:xfrm>
            <a:off x="786384" y="453542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Áp lực tài chính xếp thứ ba (r = 0,364). Hồ sơ xin học bổng, vay vốn nên kèm lời mời tham vấn tâm lý.</a:t>
            </a:r>
            <a:endParaRPr lang="en-US" sz="1050" dirty="0"/>
          </a:p>
        </p:txBody>
      </p:sp>
      <p:sp>
        <p:nvSpPr>
          <p:cNvPr id="24" name="card_41"/>
          <p:cNvSpPr/>
          <p:nvPr/>
        </p:nvSpPr>
        <p:spPr>
          <a:xfrm>
            <a:off x="4288536" y="3785616"/>
            <a:ext cx="3520440" cy="2011680"/>
          </a:xfrm>
          <a:prstGeom prst="roundRect">
            <a:avLst>
              <a:gd name="adj" fmla="val 4545"/>
            </a:avLst>
          </a:prstGeom>
          <a:solidFill>
            <a:srgbClr val="EEF3F7"/>
          </a:solidFill>
          <a:ln/>
        </p:spPr>
      </p:sp>
      <p:sp>
        <p:nvSpPr>
          <p:cNvPr id="25" name="app_4"/>
          <p:cNvSpPr/>
          <p:nvPr/>
        </p:nvSpPr>
        <p:spPr>
          <a:xfrm>
            <a:off x="4507992" y="3986784"/>
            <a:ext cx="402336" cy="402336"/>
          </a:xfrm>
          <a:prstGeom prst="ellipse">
            <a:avLst/>
          </a:prstGeom>
          <a:solidFill>
            <a:srgbClr val="D03B3B"/>
          </a:solidFill>
          <a:ln/>
        </p:spPr>
      </p:sp>
      <p:sp>
        <p:nvSpPr>
          <p:cNvPr id="26" name="Text 24"/>
          <p:cNvSpPr txBox="1"/>
          <p:nvPr/>
        </p:nvSpPr>
        <p:spPr>
          <a:xfrm>
            <a:off x="4507992" y="3986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5020056" y="395020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Quy trình ứng phó riêng cho dấu hiệu nguy cấp</a:t>
            </a:r>
            <a:endParaRPr lang="en-US" sz="1300" dirty="0"/>
          </a:p>
        </p:txBody>
      </p:sp>
      <p:sp>
        <p:nvSpPr>
          <p:cNvPr id="28" name="Text 26"/>
          <p:cNvSpPr txBox="1"/>
          <p:nvPr/>
        </p:nvSpPr>
        <p:spPr>
          <a:xfrm>
            <a:off x="4507992" y="453542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Khi phát hiện ý định tự tử, cần chuyển ngay tới chuyên viên tâm lý — không xử lý như một mục khảo sát thông thường.</a:t>
            </a:r>
            <a:endParaRPr lang="en-US" sz="1050" dirty="0"/>
          </a:p>
        </p:txBody>
      </p:sp>
      <p:sp>
        <p:nvSpPr>
          <p:cNvPr id="29" name="card_42"/>
          <p:cNvSpPr/>
          <p:nvPr/>
        </p:nvSpPr>
        <p:spPr>
          <a:xfrm>
            <a:off x="8010144" y="3785616"/>
            <a:ext cx="3520440" cy="2011680"/>
          </a:xfrm>
          <a:prstGeom prst="roundRect">
            <a:avLst>
              <a:gd name="adj" fmla="val 4545"/>
            </a:avLst>
          </a:prstGeom>
          <a:solidFill>
            <a:srgbClr val="EEF3F7"/>
          </a:solidFill>
          <a:ln/>
        </p:spPr>
      </p:sp>
      <p:sp>
        <p:nvSpPr>
          <p:cNvPr id="30" name="app_5"/>
          <p:cNvSpPr/>
          <p:nvPr/>
        </p:nvSpPr>
        <p:spPr>
          <a:xfrm>
            <a:off x="8229600" y="3986784"/>
            <a:ext cx="402336" cy="402336"/>
          </a:xfrm>
          <a:prstGeom prst="ellipse">
            <a:avLst/>
          </a:prstGeom>
          <a:solidFill>
            <a:srgbClr val="1BAF7A"/>
          </a:solidFill>
          <a:ln/>
        </p:spPr>
      </p:sp>
      <p:sp>
        <p:nvSpPr>
          <p:cNvPr id="31" name="Text 29"/>
          <p:cNvSpPr txBox="1"/>
          <p:nvPr/>
        </p:nvSpPr>
        <p:spPr>
          <a:xfrm>
            <a:off x="8229600" y="3986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8741664" y="3950208"/>
            <a:ext cx="2606040" cy="512064"/>
          </a:xfrm>
          <a:prstGeom prst="rect">
            <a:avLst/>
          </a:prstGeom>
          <a:noFill/>
          <a:ln/>
        </p:spPr>
        <p:txBody>
          <a:bodyPr wrap="square" lIns="0" tIns="0" rIns="0" bIns="0" rtlCol="0" anchor="ctr"/>
          <a:lstStyle/>
          <a:p>
            <a:pPr indent="0" marL="0">
              <a:lnSpc>
                <a:spcPts val="1500"/>
              </a:lnSpc>
              <a:buNone/>
            </a:pPr>
            <a:r>
              <a:rPr lang="en-US" sz="1300" b="1" dirty="0">
                <a:solidFill>
                  <a:srgbClr val="16213A"/>
                </a:solidFill>
              </a:rPr>
              <a:t>Can thiệp lối sống chi phí thấp</a:t>
            </a:r>
            <a:endParaRPr lang="en-US" sz="1300" dirty="0"/>
          </a:p>
        </p:txBody>
      </p:sp>
      <p:sp>
        <p:nvSpPr>
          <p:cNvPr id="33" name="Text 31"/>
          <p:cNvSpPr txBox="1"/>
          <p:nvPr/>
        </p:nvSpPr>
        <p:spPr>
          <a:xfrm>
            <a:off x="8229600" y="4535424"/>
            <a:ext cx="3108960" cy="1097280"/>
          </a:xfrm>
          <a:prstGeom prst="rect">
            <a:avLst/>
          </a:prstGeom>
          <a:noFill/>
          <a:ln/>
        </p:spPr>
        <p:txBody>
          <a:bodyPr wrap="square" lIns="0" tIns="0" rIns="0" bIns="0" rtlCol="0" anchor="ctr"/>
          <a:lstStyle/>
          <a:p>
            <a:pPr indent="0" marL="0">
              <a:lnSpc>
                <a:spcPts val="1300"/>
              </a:lnSpc>
              <a:buNone/>
            </a:pPr>
            <a:r>
              <a:rPr lang="en-US" sz="1050" dirty="0">
                <a:solidFill>
                  <a:srgbClr val="6D7A8C"/>
                </a:solidFill>
              </a:rPr>
              <a:t>Ngủ đủ và ăn uống lành mạnh liên quan tới chênh lệch 13,6 và 25,3 điểm %. Đây là nhóm giải pháp rẻ, dễ triển khai ở ký túc xá và căng tin.</a:t>
            </a:r>
            <a:endParaRPr lang="en-US" sz="10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900" b="1" dirty="0">
                <a:solidFill>
                  <a:srgbClr val="16213A"/>
                </a:solidFill>
              </a:rPr>
              <a:t>Hạn chế và kết luận</a:t>
            </a:r>
            <a:endParaRPr lang="en-US" sz="29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indent="0" marL="0">
              <a:buNone/>
            </a:pPr>
            <a:r>
              <a:rPr lang="en-US" sz="1400" b="1" dirty="0">
                <a:solidFill>
                  <a:srgbClr val="1C7293"/>
                </a:solidFill>
              </a:rPr>
              <a:t>Những điều bộ dữ liệu này KHÔNG cho phép kết luận</a:t>
            </a:r>
            <a:endParaRPr lang="en-US" sz="1400" dirty="0"/>
          </a:p>
        </p:txBody>
      </p:sp>
      <p:sp>
        <p:nvSpPr>
          <p:cNvPr id="4" name="card_43"/>
          <p:cNvSpPr/>
          <p:nvPr/>
        </p:nvSpPr>
        <p:spPr>
          <a:xfrm>
            <a:off x="566928" y="1591056"/>
            <a:ext cx="6766560" cy="941832"/>
          </a:xfrm>
          <a:prstGeom prst="roundRect">
            <a:avLst>
              <a:gd name="adj" fmla="val 9709"/>
            </a:avLst>
          </a:prstGeom>
          <a:solidFill>
            <a:srgbClr val="EEF3F7"/>
          </a:solidFill>
          <a:ln/>
        </p:spPr>
      </p:sp>
      <p:sp>
        <p:nvSpPr>
          <p:cNvPr id="5" name="lim_0"/>
          <p:cNvSpPr/>
          <p:nvPr/>
        </p:nvSpPr>
        <p:spPr>
          <a:xfrm>
            <a:off x="786384" y="1975104"/>
            <a:ext cx="182880" cy="182880"/>
          </a:xfrm>
          <a:prstGeom prst="ellipse">
            <a:avLst/>
          </a:prstGeom>
          <a:solidFill>
            <a:srgbClr val="EDA100"/>
          </a:solidFill>
          <a:ln/>
        </p:spPr>
      </p:sp>
      <p:sp>
        <p:nvSpPr>
          <p:cNvPr id="6" name="Text 4"/>
          <p:cNvSpPr txBox="1"/>
          <p:nvPr/>
        </p:nvSpPr>
        <p:spPr>
          <a:xfrm>
            <a:off x="1115568" y="1719072"/>
            <a:ext cx="6035040" cy="274320"/>
          </a:xfrm>
          <a:prstGeom prst="rect">
            <a:avLst/>
          </a:prstGeom>
          <a:noFill/>
          <a:ln/>
        </p:spPr>
        <p:txBody>
          <a:bodyPr wrap="square" lIns="0" tIns="0" rIns="0" bIns="0" rtlCol="0" anchor="ctr"/>
          <a:lstStyle/>
          <a:p>
            <a:pPr indent="0" marL="0">
              <a:buNone/>
            </a:pPr>
            <a:r>
              <a:rPr lang="en-US" sz="1300" b="1" dirty="0">
                <a:solidFill>
                  <a:srgbClr val="16213A"/>
                </a:solidFill>
              </a:rPr>
              <a:t>Tương quan không phải nhân quả</a:t>
            </a:r>
            <a:endParaRPr lang="en-US" sz="1300" dirty="0"/>
          </a:p>
        </p:txBody>
      </p:sp>
      <p:sp>
        <p:nvSpPr>
          <p:cNvPr id="7" name="Text 5"/>
          <p:cNvSpPr txBox="1"/>
          <p:nvPr/>
        </p:nvSpPr>
        <p:spPr>
          <a:xfrm>
            <a:off x="1115568" y="2002536"/>
            <a:ext cx="6035040" cy="420624"/>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Dữ liệu cắt ngang tại một thời điểm. Không thể biết ăn uống kém gây trầm cảm hay trầm cảm dẫn tới ăn uống kém.</a:t>
            </a:r>
            <a:endParaRPr lang="en-US" sz="1050" dirty="0"/>
          </a:p>
        </p:txBody>
      </p:sp>
      <p:sp>
        <p:nvSpPr>
          <p:cNvPr id="8" name="card_44"/>
          <p:cNvSpPr/>
          <p:nvPr/>
        </p:nvSpPr>
        <p:spPr>
          <a:xfrm>
            <a:off x="566928" y="2697480"/>
            <a:ext cx="6766560" cy="941832"/>
          </a:xfrm>
          <a:prstGeom prst="roundRect">
            <a:avLst>
              <a:gd name="adj" fmla="val 9709"/>
            </a:avLst>
          </a:prstGeom>
          <a:solidFill>
            <a:srgbClr val="EEF3F7"/>
          </a:solidFill>
          <a:ln/>
        </p:spPr>
      </p:sp>
      <p:sp>
        <p:nvSpPr>
          <p:cNvPr id="9" name="lim_1"/>
          <p:cNvSpPr/>
          <p:nvPr/>
        </p:nvSpPr>
        <p:spPr>
          <a:xfrm>
            <a:off x="786384" y="3081528"/>
            <a:ext cx="182880" cy="182880"/>
          </a:xfrm>
          <a:prstGeom prst="ellipse">
            <a:avLst/>
          </a:prstGeom>
          <a:solidFill>
            <a:srgbClr val="EDA100"/>
          </a:solidFill>
          <a:ln/>
        </p:spPr>
      </p:sp>
      <p:sp>
        <p:nvSpPr>
          <p:cNvPr id="10" name="Text 8"/>
          <p:cNvSpPr txBox="1"/>
          <p:nvPr/>
        </p:nvSpPr>
        <p:spPr>
          <a:xfrm>
            <a:off x="1115568" y="2825496"/>
            <a:ext cx="6035040" cy="274320"/>
          </a:xfrm>
          <a:prstGeom prst="rect">
            <a:avLst/>
          </a:prstGeom>
          <a:noFill/>
          <a:ln/>
        </p:spPr>
        <p:txBody>
          <a:bodyPr wrap="square" lIns="0" tIns="0" rIns="0" bIns="0" rtlCol="0" anchor="ctr"/>
          <a:lstStyle/>
          <a:p>
            <a:pPr indent="0" marL="0">
              <a:buNone/>
            </a:pPr>
            <a:r>
              <a:rPr lang="en-US" sz="1300" b="1" dirty="0">
                <a:solidFill>
                  <a:srgbClr val="16213A"/>
                </a:solidFill>
              </a:rPr>
              <a:t>Biến mục tiêu là sàng lọc, không phải chẩn đoán</a:t>
            </a:r>
            <a:endParaRPr lang="en-US" sz="1300" dirty="0"/>
          </a:p>
        </p:txBody>
      </p:sp>
      <p:sp>
        <p:nvSpPr>
          <p:cNvPr id="11" name="Text 9"/>
          <p:cNvSpPr txBox="1"/>
          <p:nvPr/>
        </p:nvSpPr>
        <p:spPr>
          <a:xfrm>
            <a:off x="1115568" y="3108960"/>
            <a:ext cx="6035040" cy="420624"/>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Nhãn "Depression" đến từ tự báo cáo, không phải kết luận lâm sàng của bác sĩ.</a:t>
            </a:r>
            <a:endParaRPr lang="en-US" sz="1050" dirty="0"/>
          </a:p>
        </p:txBody>
      </p:sp>
      <p:sp>
        <p:nvSpPr>
          <p:cNvPr id="12" name="card_45"/>
          <p:cNvSpPr/>
          <p:nvPr/>
        </p:nvSpPr>
        <p:spPr>
          <a:xfrm>
            <a:off x="566928" y="3803904"/>
            <a:ext cx="6766560" cy="941832"/>
          </a:xfrm>
          <a:prstGeom prst="roundRect">
            <a:avLst>
              <a:gd name="adj" fmla="val 9709"/>
            </a:avLst>
          </a:prstGeom>
          <a:solidFill>
            <a:srgbClr val="EEF3F7"/>
          </a:solidFill>
          <a:ln/>
        </p:spPr>
      </p:sp>
      <p:sp>
        <p:nvSpPr>
          <p:cNvPr id="13" name="lim_2"/>
          <p:cNvSpPr/>
          <p:nvPr/>
        </p:nvSpPr>
        <p:spPr>
          <a:xfrm>
            <a:off x="786384" y="4187952"/>
            <a:ext cx="182880" cy="182880"/>
          </a:xfrm>
          <a:prstGeom prst="ellipse">
            <a:avLst/>
          </a:prstGeom>
          <a:solidFill>
            <a:srgbClr val="EDA100"/>
          </a:solidFill>
          <a:ln/>
        </p:spPr>
      </p:sp>
      <p:sp>
        <p:nvSpPr>
          <p:cNvPr id="14" name="Text 12"/>
          <p:cNvSpPr txBox="1"/>
          <p:nvPr/>
        </p:nvSpPr>
        <p:spPr>
          <a:xfrm>
            <a:off x="1115568" y="3931920"/>
            <a:ext cx="6035040" cy="274320"/>
          </a:xfrm>
          <a:prstGeom prst="rect">
            <a:avLst/>
          </a:prstGeom>
          <a:noFill/>
          <a:ln/>
        </p:spPr>
        <p:txBody>
          <a:bodyPr wrap="square" lIns="0" tIns="0" rIns="0" bIns="0" rtlCol="0" anchor="ctr"/>
          <a:lstStyle/>
          <a:p>
            <a:pPr indent="0" marL="0">
              <a:buNone/>
            </a:pPr>
            <a:r>
              <a:rPr lang="en-US" sz="1300" b="1" dirty="0">
                <a:solidFill>
                  <a:srgbClr val="16213A"/>
                </a:solidFill>
              </a:rPr>
              <a:t>Giới hạn bối cảnh</a:t>
            </a:r>
            <a:endParaRPr lang="en-US" sz="1300" dirty="0"/>
          </a:p>
        </p:txBody>
      </p:sp>
      <p:sp>
        <p:nvSpPr>
          <p:cNvPr id="15" name="Text 13"/>
          <p:cNvSpPr txBox="1"/>
          <p:nvPr/>
        </p:nvSpPr>
        <p:spPr>
          <a:xfrm>
            <a:off x="1115568" y="4215384"/>
            <a:ext cx="6035040" cy="420624"/>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Mẫu khảo sát tại Ấn Độ. Không thể suy rộng trực tiếp cho sinh viên Việt Nam nếu chưa khảo sát lại.</a:t>
            </a:r>
            <a:endParaRPr lang="en-US" sz="1050" dirty="0"/>
          </a:p>
        </p:txBody>
      </p:sp>
      <p:sp>
        <p:nvSpPr>
          <p:cNvPr id="16" name="card_46"/>
          <p:cNvSpPr/>
          <p:nvPr/>
        </p:nvSpPr>
        <p:spPr>
          <a:xfrm>
            <a:off x="566928" y="4910328"/>
            <a:ext cx="6766560" cy="941832"/>
          </a:xfrm>
          <a:prstGeom prst="roundRect">
            <a:avLst>
              <a:gd name="adj" fmla="val 9709"/>
            </a:avLst>
          </a:prstGeom>
          <a:solidFill>
            <a:srgbClr val="EEF3F7"/>
          </a:solidFill>
          <a:ln/>
        </p:spPr>
      </p:sp>
      <p:sp>
        <p:nvSpPr>
          <p:cNvPr id="17" name="lim_3"/>
          <p:cNvSpPr/>
          <p:nvPr/>
        </p:nvSpPr>
        <p:spPr>
          <a:xfrm>
            <a:off x="786384" y="5294376"/>
            <a:ext cx="182880" cy="182880"/>
          </a:xfrm>
          <a:prstGeom prst="ellipse">
            <a:avLst/>
          </a:prstGeom>
          <a:solidFill>
            <a:srgbClr val="EDA100"/>
          </a:solidFill>
          <a:ln/>
        </p:spPr>
      </p:sp>
      <p:sp>
        <p:nvSpPr>
          <p:cNvPr id="18" name="Text 16"/>
          <p:cNvSpPr txBox="1"/>
          <p:nvPr/>
        </p:nvSpPr>
        <p:spPr>
          <a:xfrm>
            <a:off x="1115568" y="5038344"/>
            <a:ext cx="6035040" cy="274320"/>
          </a:xfrm>
          <a:prstGeom prst="rect">
            <a:avLst/>
          </a:prstGeom>
          <a:noFill/>
          <a:ln/>
        </p:spPr>
        <p:txBody>
          <a:bodyPr wrap="square" lIns="0" tIns="0" rIns="0" bIns="0" rtlCol="0" anchor="ctr"/>
          <a:lstStyle/>
          <a:p>
            <a:pPr indent="0" marL="0">
              <a:buNone/>
            </a:pPr>
            <a:r>
              <a:rPr lang="en-US" sz="1300" b="1" dirty="0">
                <a:solidFill>
                  <a:srgbClr val="16213A"/>
                </a:solidFill>
              </a:rPr>
              <a:t>Tỷ lệ 58,5% cao bất thường</a:t>
            </a:r>
            <a:endParaRPr lang="en-US" sz="1300" dirty="0"/>
          </a:p>
        </p:txBody>
      </p:sp>
      <p:sp>
        <p:nvSpPr>
          <p:cNvPr id="19" name="Text 17"/>
          <p:cNvSpPr txBox="1"/>
          <p:nvPr/>
        </p:nvSpPr>
        <p:spPr>
          <a:xfrm>
            <a:off x="1115568" y="5321808"/>
            <a:ext cx="6035040" cy="420624"/>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Có thể do cách lấy mẫu hoặc ngưỡng sàng lọc rộng — cần thận trọng khi trích dẫn con số này.</a:t>
            </a:r>
            <a:endParaRPr lang="en-US" sz="1050" dirty="0"/>
          </a:p>
        </p:txBody>
      </p:sp>
      <p:sp>
        <p:nvSpPr>
          <p:cNvPr id="20" name="card_47"/>
          <p:cNvSpPr/>
          <p:nvPr/>
        </p:nvSpPr>
        <p:spPr>
          <a:xfrm>
            <a:off x="7607808" y="1591056"/>
            <a:ext cx="4005072" cy="3456432"/>
          </a:xfrm>
          <a:prstGeom prst="roundRect">
            <a:avLst>
              <a:gd name="adj" fmla="val 2646"/>
            </a:avLst>
          </a:prstGeom>
          <a:solidFill>
            <a:srgbClr val="16213A"/>
          </a:solidFill>
          <a:ln/>
        </p:spPr>
      </p:sp>
      <p:sp>
        <p:nvSpPr>
          <p:cNvPr id="21" name="Text 19"/>
          <p:cNvSpPr txBox="1"/>
          <p:nvPr/>
        </p:nvSpPr>
        <p:spPr>
          <a:xfrm>
            <a:off x="7882128" y="1828800"/>
            <a:ext cx="3474720" cy="274320"/>
          </a:xfrm>
          <a:prstGeom prst="rect">
            <a:avLst/>
          </a:prstGeom>
          <a:noFill/>
          <a:ln/>
        </p:spPr>
        <p:txBody>
          <a:bodyPr wrap="square" lIns="0" tIns="0" rIns="0" bIns="0" rtlCol="0" anchor="ctr"/>
          <a:lstStyle/>
          <a:p>
            <a:pPr indent="0" marL="0">
              <a:buNone/>
            </a:pPr>
            <a:r>
              <a:rPr lang="en-US" sz="1100" b="1" spc="200" kern="0" dirty="0">
                <a:solidFill>
                  <a:srgbClr val="8FB8D4"/>
                </a:solidFill>
              </a:rPr>
              <a:t>KẾT LUẬN</a:t>
            </a:r>
            <a:endParaRPr lang="en-US" sz="1100" dirty="0"/>
          </a:p>
        </p:txBody>
      </p:sp>
      <p:sp>
        <p:nvSpPr>
          <p:cNvPr id="22" name="Text 20"/>
          <p:cNvSpPr txBox="1"/>
          <p:nvPr/>
        </p:nvSpPr>
        <p:spPr>
          <a:xfrm>
            <a:off x="7882128" y="2194560"/>
            <a:ext cx="3474720" cy="2651760"/>
          </a:xfrm>
          <a:prstGeom prst="rect">
            <a:avLst/>
          </a:prstGeom>
          <a:noFill/>
          <a:ln/>
        </p:spPr>
        <p:txBody>
          <a:bodyPr wrap="square" lIns="0" tIns="0" rIns="0" bIns="0" rtlCol="0" anchor="t"/>
          <a:lstStyle/>
          <a:p>
            <a:pPr indent="0" marL="0">
              <a:lnSpc>
                <a:spcPts val="1700"/>
              </a:lnSpc>
              <a:buNone/>
            </a:pPr>
            <a:r>
              <a:rPr lang="en-US" sz="1250" dirty="0">
                <a:solidFill>
                  <a:srgbClr val="FFFFFF"/>
                </a:solidFill>
              </a:rPr>
              <a:t>Trầm cảm ở sinh viên trong bộ dữ liệu này gắn chặt với </a:t>
            </a:r>
            <a:pPr indent="0" marL="0">
              <a:lnSpc>
                <a:spcPts val="1700"/>
              </a:lnSpc>
              <a:buNone/>
            </a:pPr>
            <a:r>
              <a:rPr lang="en-US" sz="1250" b="1" dirty="0">
                <a:solidFill>
                  <a:srgbClr val="9FD2E8"/>
                </a:solidFill>
              </a:rPr>
              <a:t>hoàn cảnh học tập và tài chính</a:t>
            </a:r>
            <a:pPr indent="0" marL="0">
              <a:lnSpc>
                <a:spcPts val="1700"/>
              </a:lnSpc>
              <a:buNone/>
            </a:pPr>
            <a:r>
              <a:rPr lang="en-US" sz="1250" dirty="0">
                <a:solidFill>
                  <a:srgbClr val="FFFFFF"/>
                </a:solidFill>
              </a:rPr>
              <a:t> hơn là với đặc điểm cá nhân hay di truyền.</a:t>
            </a:r>
            <a:endParaRPr lang="en-US" sz="1250" dirty="0"/>
          </a:p>
          <a:p>
            <a:pPr indent="0" marL="0">
              <a:lnSpc>
                <a:spcPts val="1700"/>
              </a:lnSpc>
              <a:buNone/>
            </a:pPr>
            <a:r>
              <a:rPr lang="en-US" sz="700" dirty="0">
                <a:solidFill>
                  <a:srgbClr val="FFFFFF"/>
                </a:solidFill>
              </a:rPr>
              <a:t> </a:t>
            </a:r>
            <a:endParaRPr lang="en-US" sz="1250" dirty="0"/>
          </a:p>
          <a:p>
            <a:pPr indent="0" marL="0">
              <a:lnSpc>
                <a:spcPts val="1700"/>
              </a:lnSpc>
              <a:buNone/>
            </a:pPr>
            <a:r>
              <a:rPr lang="en-US" sz="1250" dirty="0">
                <a:solidFill>
                  <a:srgbClr val="FFFFFF"/>
                </a:solidFill>
              </a:rPr>
              <a:t>Vì vậy, phần lớn nguy cơ nằm trong phạm vi nhà trường có thể tác động — qua khối lượng học tập, hỗ trợ tài chính và tham vấn tâm lý.</a:t>
            </a:r>
            <a:endParaRPr lang="en-US" sz="1250" dirty="0"/>
          </a:p>
          <a:p>
            <a:pPr indent="0" marL="0">
              <a:lnSpc>
                <a:spcPts val="1700"/>
              </a:lnSpc>
              <a:buNone/>
            </a:pPr>
            <a:r>
              <a:rPr lang="en-US" sz="700" dirty="0">
                <a:solidFill>
                  <a:srgbClr val="FFFFFF"/>
                </a:solidFill>
              </a:rPr>
              <a:t> </a:t>
            </a:r>
            <a:endParaRPr lang="en-US" sz="1250" dirty="0"/>
          </a:p>
          <a:p>
            <a:pPr indent="0" marL="0">
              <a:lnSpc>
                <a:spcPts val="1700"/>
              </a:lnSpc>
              <a:buNone/>
            </a:pPr>
            <a:r>
              <a:rPr lang="en-US" sz="1250" i="1" dirty="0">
                <a:solidFill>
                  <a:srgbClr val="9FD2E8"/>
                </a:solidFill>
              </a:rPr>
              <a:t>Chỉ cần đếm số yếu tố nguy cơ đã phân tầng được sinh viên từ 4,5% tới 98,6%.</a:t>
            </a:r>
            <a:endParaRPr lang="en-US" sz="1250" dirty="0"/>
          </a:p>
        </p:txBody>
      </p:sp>
      <p:sp>
        <p:nvSpPr>
          <p:cNvPr id="23" name="card_48"/>
          <p:cNvSpPr/>
          <p:nvPr/>
        </p:nvSpPr>
        <p:spPr>
          <a:xfrm>
            <a:off x="7607808" y="5175504"/>
            <a:ext cx="4005072" cy="822960"/>
          </a:xfrm>
          <a:prstGeom prst="roundRect">
            <a:avLst>
              <a:gd name="adj" fmla="val 11111"/>
            </a:avLst>
          </a:prstGeom>
          <a:solidFill>
            <a:srgbClr val="EEF3F7"/>
          </a:solidFill>
          <a:ln/>
        </p:spPr>
      </p:sp>
      <p:sp>
        <p:nvSpPr>
          <p:cNvPr id="24" name="Text 22"/>
          <p:cNvSpPr txBox="1"/>
          <p:nvPr/>
        </p:nvSpPr>
        <p:spPr>
          <a:xfrm>
            <a:off x="7827264" y="5303520"/>
            <a:ext cx="3566160" cy="566928"/>
          </a:xfrm>
          <a:prstGeom prst="rect">
            <a:avLst/>
          </a:prstGeom>
          <a:noFill/>
          <a:ln/>
        </p:spPr>
        <p:txBody>
          <a:bodyPr wrap="square" lIns="0" tIns="0" rIns="0" bIns="0" rtlCol="0" anchor="ctr"/>
          <a:lstStyle/>
          <a:p>
            <a:pPr indent="0" marL="0">
              <a:lnSpc>
                <a:spcPts val="1250"/>
              </a:lnSpc>
              <a:buNone/>
            </a:pPr>
            <a:r>
              <a:rPr lang="en-US" sz="1050" dirty="0">
                <a:solidFill>
                  <a:srgbClr val="16213A"/>
                </a:solidFill>
              </a:rPr>
              <a:t>Hướng phát triển: khảo sát lại trên sinh viên Việt Nam và theo dõi theo thời gian để kiểm tra chiều nhân quả.</a:t>
            </a:r>
            <a:endParaRPr lang="en-US" sz="10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txBox="1"/>
          <p:nvPr>
            <p:ph idx="101" type="body" hasCustomPrompt="1"/>
          </p:nvPr>
        </p:nvSpPr>
        <p:spPr>
          <a:xfrm>
            <a:off x="841248" y="1325880"/>
            <a:ext cx="10424160" cy="384048"/>
          </a:xfrm>
          <a:prstGeom prst="rect">
            <a:avLst/>
          </a:prstGeom>
          <a:noFill/>
          <a:ln/>
        </p:spPr>
        <p:txBody>
          <a:bodyPr wrap="square" rtlCol="0"/>
          <a:lstStyle/>
          <a:p>
            <a:pPr indent="0" marL="0">
              <a:buNone/>
            </a:pPr>
            <a:r>
              <a:rPr lang="en-US" sz="1500" b="1" spc="300" kern="0" dirty="0">
                <a:solidFill>
                  <a:srgbClr val="8FB8D4"/>
                </a:solidFill>
              </a:rPr>
              <a:t>CẢM ƠN THẦY VÀ CÁC BẠN</a:t>
            </a:r>
            <a:endParaRPr lang="en-US" sz="1500" dirty="0"/>
          </a:p>
        </p:txBody>
      </p:sp>
      <p:sp>
        <p:nvSpPr>
          <p:cNvPr id="3" name="Text 1"/>
          <p:cNvSpPr txBox="1"/>
          <p:nvPr>
            <p:ph idx="102" type="title" hasCustomPrompt="1"/>
          </p:nvPr>
        </p:nvSpPr>
        <p:spPr>
          <a:xfrm>
            <a:off x="841248" y="1783080"/>
            <a:ext cx="10424160" cy="1783080"/>
          </a:xfrm>
          <a:prstGeom prst="rect">
            <a:avLst/>
          </a:prstGeom>
          <a:noFill/>
          <a:ln/>
        </p:spPr>
        <p:txBody>
          <a:bodyPr wrap="square" rtlCol="0" anchor="t"/>
          <a:lstStyle/>
          <a:p>
            <a:pPr algn="l" indent="0" marL="0">
              <a:buNone/>
            </a:pPr>
            <a:r>
              <a:rPr lang="en-US" sz="4200" b="1" dirty="0">
                <a:solidFill>
                  <a:srgbClr val="FFFFFF"/>
                </a:solidFill>
              </a:rPr>
              <a:t>Nhóm xin lắng nghe câu hỏi</a:t>
            </a:r>
            <a:endParaRPr lang="en-US" sz="4200" dirty="0"/>
          </a:p>
        </p:txBody>
      </p:sp>
      <p:sp>
        <p:nvSpPr>
          <p:cNvPr id="4" name="Text 1"/>
          <p:cNvSpPr txBox="1"/>
          <p:nvPr>
            <p:ph idx="103" type="body" hasCustomPrompt="1"/>
          </p:nvPr>
        </p:nvSpPr>
        <p:spPr>
          <a:xfrm>
            <a:off x="841248" y="3703320"/>
            <a:ext cx="10424160" cy="2194560"/>
          </a:xfrm>
          <a:prstGeom prst="rect">
            <a:avLst/>
          </a:prstGeom>
          <a:noFill/>
          <a:ln/>
        </p:spPr>
        <p:txBody>
          <a:bodyPr wrap="square" rtlCol="0" anchor="t"/>
          <a:lstStyle/>
          <a:p>
            <a:pPr indent="0" marL="0">
              <a:buNone/>
            </a:pPr>
            <a:r>
              <a:rPr lang="en-US" sz="1500" b="1" dirty="0">
                <a:solidFill>
                  <a:srgbClr val="FFFFFF"/>
                </a:solidFill>
              </a:rPr>
              <a:t>Sản phẩm nộp kèm</a:t>
            </a:r>
            <a:endParaRPr lang="en-US" sz="1500" dirty="0"/>
          </a:p>
          <a:p>
            <a:pPr indent="0" marL="0">
              <a:buNone/>
            </a:pPr>
            <a:r>
              <a:rPr lang="en-US" sz="1500" dirty="0">
                <a:solidFill>
                  <a:srgbClr val="C9DAE8"/>
                </a:solidFill>
              </a:rPr>
              <a:t>• student_depression_CLEANED.csv — tệp dữ liệu đã xử lý (27.901 dòng × 19 cột)</a:t>
            </a:r>
            <a:endParaRPr lang="en-US" sz="1500" dirty="0"/>
          </a:p>
          <a:p>
            <a:pPr indent="0" marL="0">
              <a:buNone/>
            </a:pPr>
            <a:r>
              <a:rPr lang="en-US" sz="1500" dirty="0">
                <a:solidFill>
                  <a:srgbClr val="C9DAE8"/>
                </a:solidFill>
              </a:rPr>
              <a:t>• Mã Python tiền xử lý, phân tích và vẽ biểu đồ</a:t>
            </a:r>
            <a:endParaRPr lang="en-US" sz="1500" dirty="0"/>
          </a:p>
          <a:p>
            <a:pPr indent="0" marL="0">
              <a:buNone/>
            </a:pPr>
            <a:r>
              <a:rPr lang="en-US" sz="1500" dirty="0">
                <a:solidFill>
                  <a:srgbClr val="C9DAE8"/>
                </a:solidFill>
              </a:rPr>
              <a:t>• Tệp trình bày này (.pptx)</a:t>
            </a:r>
            <a:endParaRPr lang="en-US" sz="1500" dirty="0"/>
          </a:p>
          <a:p>
            <a:pPr indent="0" marL="0">
              <a:buNone/>
            </a:pPr>
            <a:r>
              <a:rPr lang="en-US" sz="800" dirty="0">
                <a:solidFill>
                  <a:srgbClr val="C9DAE8"/>
                </a:solidFill>
              </a:rPr>
              <a:t> </a:t>
            </a:r>
            <a:endParaRPr lang="en-US" sz="1500" dirty="0"/>
          </a:p>
          <a:p>
            <a:pPr indent="0" marL="0">
              <a:buNone/>
            </a:pPr>
            <a:r>
              <a:rPr lang="en-US" sz="1200" dirty="0">
                <a:solidFill>
                  <a:srgbClr val="8FB8D4"/>
                </a:solidFill>
              </a:rPr>
              <a:t>Nguồn dữ liệu: Student Depression Dataset — Kaggle (hopesb)</a:t>
            </a:r>
            <a:endParaRPr lang="en-US" sz="1500" dirty="0"/>
          </a:p>
        </p:txBody>
      </p:sp>
    </p:spTree>
  </p:cSld>
  <p:clrMapOvr>
    <a:masterClrMapping/>
  </p:clrMapOvr>
</p:sld>
</file>

<file path=ppt/theme/theme1.xml><?xml version="1.0" encoding="utf-8"?>
<a:theme xmlns:a="http://schemas.openxmlformats.org/drawingml/2006/main" name="Tam ly hoc AI">
  <a:themeElements>
    <a:clrScheme name="Tam ly hoc AI">
      <a:dk1>
        <a:srgbClr val="16213A"/>
      </a:dk1>
      <a:lt1>
        <a:srgbClr val="FFFFFF"/>
      </a:lt1>
      <a:dk2>
        <a:srgbClr val="21295C"/>
      </a:dk2>
      <a:lt2>
        <a:srgbClr val="EEF3F7"/>
      </a:lt2>
      <a:accent1>
        <a:srgbClr val="065A82"/>
      </a:accent1>
      <a:accent2>
        <a:srgbClr val="1C7293"/>
      </a:accent2>
      <a:accent3>
        <a:srgbClr val="D03B3B"/>
      </a:accent3>
      <a:accent4>
        <a:srgbClr val="1BAF7A"/>
      </a:accent4>
      <a:accent5>
        <a:srgbClr val="2A78D6"/>
      </a:accent5>
      <a:accent6>
        <a:srgbClr val="EDA100"/>
      </a:accent6>
      <a:hlink>
        <a:srgbClr val="1C7293"/>
      </a:hlink>
      <a:folHlink>
        <a:srgbClr val="6D7A8C"/>
      </a:folHlink>
    </a:clrScheme>
    <a:fontScheme name="Tam ly hoc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du lieu tam ly hoc su dung AI</dc:title>
  <dc:subject>Student Depression Dataset</dc:subject>
  <dc:creator>Nhom phan tich du lieu tam ly hoc</dc:creator>
  <cp:lastModifiedBy>Nhom phan tich du lieu tam ly hoc</cp:lastModifiedBy>
  <cp:revision>1</cp:revision>
  <dcterms:created xsi:type="dcterms:W3CDTF">2026-10-09T14:42:44Z</dcterms:created>
  <dcterms:modified xsi:type="dcterms:W3CDTF">2026-10-09T14:42:44Z</dcterms:modified>
</cp:coreProperties>
</file>